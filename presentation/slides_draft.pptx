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F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1F3C"/>
                </a:solidFill>
                <a:latin typeface="Arial"/>
              </a:rPr>
              <a:t>Why the correction matters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t-statistic</c:v>
                </c:pt>
              </c:strCache>
            </c:strRef>
          </c:tx>
          <c:spPr>
            <a:solidFill>
              <a:srgbClr val="D9A4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Naive t (invalid)</c:v>
                  </c:pt>
                  <c:pt idx="1">
                    <c:v>Newey-West corrected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18.16</c:v>
                </c:pt>
                <c:pt idx="1">
                  <c:v>4.74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31F3C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31F3C"/>
                </a:solidFill>
                <a:latin typeface="Arial"/>
              </a:rPr>
              <a:t>Development-window Sharpe vs. bar 0.792 (N=7)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131F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024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1F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1F3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31F3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31F3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31F3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9A44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T1</c:v>
                  </c:pt>
                  <c:pt idx="1">
                    <c:v>T2</c:v>
                  </c:pt>
                  <c:pt idx="2">
                    <c:v>T3</c:v>
                  </c:pt>
                  <c:pt idx="3">
                    <c:v>T4
(deployed)</c:v>
                  </c:pt>
                  <c:pt idx="4">
                    <c:v>T5</c:v>
                  </c:pt>
                  <c:pt idx="5">
                    <c:v>T6</c:v>
                  </c:pt>
                  <c:pt idx="6">
                    <c:v>T7
(proposed)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1.071</c:v>
                </c:pt>
                <c:pt idx="1">
                  <c:v>1.392</c:v>
                </c:pt>
                <c:pt idx="2">
                  <c:v>0.949</c:v>
                </c:pt>
                <c:pt idx="3">
                  <c:v>1.201</c:v>
                </c:pt>
                <c:pt idx="4">
                  <c:v>1.515</c:v>
                </c:pt>
                <c:pt idx="5">
                  <c:v>1.614</c:v>
                </c:pt>
                <c:pt idx="6">
                  <c:v>1.697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024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024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AI TRADING AGENTS HACKATHON 2026  ·  TRACK 2: VOLATILITY &amp; EVENT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46888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options agent that</a:t>
            </a:r>
            <a:endParaRPr lang="en-US" sz="5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refuses to trade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709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Sells volatility on SPY only when it is measurably expensive. Every decision it makes — including every refusal — is a signed artifact you can verify yourself.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5989320"/>
            <a:ext cx="2743200" cy="0"/>
          </a:xfrm>
          <a:prstGeom prst="line">
            <a:avLst/>
          </a:prstGeom>
          <a:noFill/>
          <a:ln w="12700">
            <a:solidFill>
              <a:srgbClr val="3A487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61081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Nilay Toshniwal  —  Solo entry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868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FIRST LIVE RUN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0515600" cy="2286000"/>
          </a:xfrm>
          <a:prstGeom prst="roundRect">
            <a:avLst>
              <a:gd name="adj" fmla="val 4800"/>
            </a:avLst>
          </a:prstGeom>
          <a:solidFill>
            <a:srgbClr val="1C2B5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88720" y="18745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vol: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12.81</a:t>
            </a:r>
            <a:pPr algn="l" indent="0" marL="0">
              <a:buNone/>
            </a:pPr>
            <a:r>
              <a:rPr lang="en-US" sz="24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Trailing realised: </a:t>
            </a:r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13.28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606040"/>
            <a:ext cx="978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Volatility was cheap. So it refused.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trading agents are built to trade. This one measures whether the premium is actually worth selling — and says no when it isn’t.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749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bug. It is the product.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Options are priced richer than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move that actually follows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call that gap the volatility risk premium (VRP). It is a well-documented structural feature of index options — buyers of protection pay more than the realised outcome justifies, on average.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49040"/>
            <a:ext cx="5212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sells that gap with a defined-risk iron condor on SPY — and only enters when the premium is measurably rich enough, at the exact strikes it is about to sell, to be worth the risk.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21208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DEFINED-RISK CONDOR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675120" y="4023360"/>
            <a:ext cx="960120" cy="9144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0" y="4937760"/>
            <a:ext cx="2880360" cy="0"/>
          </a:xfrm>
          <a:prstGeom prst="line">
            <a:avLst/>
          </a:prstGeom>
          <a:noFill/>
          <a:ln w="38100">
            <a:solidFill>
              <a:srgbClr val="3F8F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515600" y="4023360"/>
            <a:ext cx="960120" cy="914400"/>
          </a:xfrm>
          <a:prstGeom prst="line">
            <a:avLst/>
          </a:prstGeom>
          <a:noFill/>
          <a:ln w="3175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50292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profit: the credit received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loss: capped by the long wings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53492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sold 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VRP clears a pre-registered threshold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refusal is the default, not the exception.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DISCIPLINE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Pre-registered before a single line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backtest code existed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02920" cy="50292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2768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 fixed first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679192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trials, one bar, committed to git before any result existed — provable from the commit timestamps.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630168"/>
            <a:ext cx="502920" cy="50292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36301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57530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Holdout sealed in code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9776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2023–2026 data cannot be loaded without an explicit, logged unseal call. One shot, only after a trial clears its development bar.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928616"/>
            <a:ext cx="502920" cy="50292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286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4873752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Multiple-testing corrected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5276088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pass bar accounts for every trial run, not just the one that happened to win.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732520" y="228600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131F3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006840" y="25603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EXISTS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97180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prior projects by the same author died of the same disease: too many trials against too short a window.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006840" y="4480560"/>
            <a:ext cx="2331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“Few trials, long window” is the fix — not a lower bar.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edge is real — and it clears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 decisively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+3.68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volatility risk premium,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annualised vol points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286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1,741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3127248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observations,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2016–2022 development window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2860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3F8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 = +4.74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3127248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Newey-West corrected significance,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one-sided p &lt; 0.0001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10698480" cy="0"/>
          </a:xfrm>
          <a:prstGeom prst="line">
            <a:avLst/>
          </a:prstGeom>
          <a:noFill/>
          <a:ln w="12700">
            <a:solidFill>
              <a:srgbClr val="E3E7F0"/>
            </a:solidFill>
            <a:prstDash val="solid"/>
          </a:ln>
        </p:spPr>
      </p:sp>
      <p:graphicFrame>
        <p:nvGraphicFramePr>
          <p:cNvPr id="12" name="Chart 0" descr=""/>
          <p:cNvGraphicFramePr/>
          <p:nvPr/>
        </p:nvGraphicFramePr>
        <p:xfrm>
          <a:off x="640080" y="4251960"/>
          <a:ext cx="58521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858000" y="443484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21-day forward windows sampled daily overlap by 20 of 21 days — the naive t-stat is invalid. The correction shrinks it ~4x. H1 still clears the bar with room to spare.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WITH EQUAL WEIGHT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research found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did NOT work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9572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Regime gate prediction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0" y="2395728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contango pays ≥1.0 pt more than backwardation. Measured: only +0.59. Recorded as WRONG, not dropped.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639312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374904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model, first pass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374904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its own pre-registered 15% error gate at 26.78%. VIX is a variance-swap rate, not ATM vol — fixed and re-gated at 10.75%.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992624"/>
            <a:ext cx="1088136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510235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backtested trial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5102352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transaction costs improved its Sharpe (+1.614 → +1.728) — impossible if the edge were clean. Disclosed as a fragility flag, not hidden.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submission that only reports its wins is a sales document.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3 · SEVEN TRIALS, ONE BAR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deployed tenor isn’t the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best-backtested one — on purpose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4884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18120" y="2286000"/>
            <a:ext cx="3794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gold bars clear the bar. T7 (5–10 DTE) is the newest, best result and does not show T6’s cost-anomaly. But T4 (7–14 DTE) is what’s live — chosen for the 4.5-day judging window, not the backtest leaderboard: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18120" y="3977640"/>
            <a:ext cx="3794760" cy="1920240"/>
          </a:xfrm>
          <a:prstGeom prst="roundRect">
            <a:avLst>
              <a:gd name="adj" fmla="val 4762"/>
            </a:avLst>
          </a:prstGeom>
          <a:solidFill>
            <a:srgbClr val="131F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92440" y="4206240"/>
            <a:ext cx="3246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42-day position captures only 7–9% of its credit in a 4.5-day hold. Tenor was chosen to fit the window the judges actually measure, not to maximise a backtest number.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data in, a decision out —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logged, win or refuse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3232" y="251460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(MCP)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25146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62072" y="25146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251460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(VRP, term structure)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28032" y="25146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084064" y="25146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57216" y="251460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risk gates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050024" y="25146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306056" y="25146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131F3C"/>
          </a:solidFill>
          <a:ln w="12700"/>
        </p:spPr>
      </p:sp>
      <p:sp>
        <p:nvSpPr>
          <p:cNvPr id="15" name="Text 13"/>
          <p:cNvSpPr txBox="1"/>
          <p:nvPr/>
        </p:nvSpPr>
        <p:spPr>
          <a:xfrm>
            <a:off x="7379208" y="251460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refuse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272016" y="2514600"/>
            <a:ext cx="2560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9528048" y="25146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D9A441"/>
          </a:solidFill>
          <a:ln w="12700"/>
        </p:spPr>
      </p:sp>
      <p:sp>
        <p:nvSpPr>
          <p:cNvPr id="18" name="Text 16"/>
          <p:cNvSpPr txBox="1"/>
          <p:nvPr/>
        </p:nvSpPr>
        <p:spPr>
          <a:xfrm>
            <a:off x="9601200" y="2514600"/>
            <a:ext cx="181965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Merkle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40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breakers can halt the whole pipeline at any gate — a halt is not the same decision as a refusal, and both are recorded differently.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27939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1C2B5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3525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MCP, not REST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61772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over stdio, verified against Alpaca MCP Server v3.4.7, 74 tools. Every request/response is logged so the claim is checkable, not asserted.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263640" y="4279392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1C2B5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92240" y="435254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forward via put-call parity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617720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feed carries no index greeks, so the hedge recovers VIX's own forward price from real quotes before pricing the tail-risk call.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40080" y="530352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1C2B5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53766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watchdog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68680" y="564184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runs in its own subprocess with a hard OS timeout — an in-process timer can't rescue a thread stuck inside a syscall, but killing the process can.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263640" y="5303520"/>
            <a:ext cx="5257800" cy="896112"/>
          </a:xfrm>
          <a:prstGeom prst="roundRect">
            <a:avLst>
              <a:gd name="adj" fmla="val 8163"/>
            </a:avLst>
          </a:prstGeom>
          <a:solidFill>
            <a:srgbClr val="1C2B5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92240" y="53766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Domain-separated Merkle tree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641848"/>
            <a:ext cx="4800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 and nodes hash with distinct prefixes (0x00 / 0x01), closing the classic second-preimage attack a naive tree leaves open.</a:t>
            </a:r>
            <a:endParaRPr lang="en-US" sz="9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correlated positions need more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 one line of defence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560320"/>
            <a:ext cx="411480" cy="41148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487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 breakers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loss limit, portfolio drawdown halt, consecutive-loss pause — distinguished in code from an ordinary refusal.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228600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560320"/>
            <a:ext cx="411480" cy="41148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37960" y="2560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248716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 hedge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0" y="3063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VIX calls, 1% of equity, following Cboe’s VXTH methodology. Recovered via put-call parity since the feed carries no index greeks.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38912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902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Sized on purpose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1663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concurrent @ 3% (15% cap), a deliberate, recorded deviation from 1% research sizing — hard-capped, never open-ended.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5257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37960" y="4663440"/>
            <a:ext cx="411480" cy="411480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37960" y="4663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459028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Staggered expiries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516636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positions share an expiry. Five positions on one date is one position at 15% wearing a costume.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ENGINEERING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strategies race live, in parallel,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risking a cent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6596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commit to one tenor and hope, three configurations run as fully isolated shadow agents — hourly, against the real live market, through the agent's own valid trading window. Each is a genuine decision, just never sent as an order.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99008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880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080260" y="39044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2519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C2B5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251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isolated artifact log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0" y="2880360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43400" y="299008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T6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2880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21–45 DTE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backtest-best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554980" y="39044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14800" y="42519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C2B5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4251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isolated artifact log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0" y="2880360"/>
            <a:ext cx="32461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818120" y="2990088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T7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823960" y="288036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DTE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proposed best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029700" y="390448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↓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89520" y="4251960"/>
            <a:ext cx="3246120" cy="502920"/>
          </a:xfrm>
          <a:prstGeom prst="roundRect">
            <a:avLst>
              <a:gd name="adj" fmla="val 10909"/>
            </a:avLst>
          </a:prstGeom>
          <a:solidFill>
            <a:srgbClr val="1C2B5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589520" y="425196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isolated artifact log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4892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converge nightly  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257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9A44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14400" y="525780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Bonus, not the goal: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3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this comparison harness found and fixed 4 real production bugs before the live week could hit them — a Merkle-root path collision, a UTC/ET timestamp mismatch, and two separate silent scheduling failures.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BUT VERIFY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decision is a signed artifact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1280160"/>
          </a:xfrm>
          <a:prstGeom prst="roundRect">
            <a:avLst>
              <a:gd name="adj" fmla="val 7143"/>
            </a:avLst>
          </a:prstGeom>
          <a:solidFill>
            <a:srgbClr val="0C1428"/>
          </a:solidFill>
          <a:ln w="12700">
            <a:solidFill>
              <a:srgbClr val="2A3A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33172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VERIFIED: 14 artifacts, root 1a338b5a09ea90bd...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EE7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 the seal written 2026-08-27T07:18:45Z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70332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SHA-256 Merkle tree over every decision — domain-separated leaves and nodes, root sealed before outcomes are known. Anyone can recompute it and confirm nothing was edited after the fact.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0749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doesn’t have to trust the operator — which is the whole point when the operator has an incentive to look good.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040880" y="3703320"/>
            <a:ext cx="4480560" cy="2331720"/>
          </a:xfrm>
          <a:prstGeom prst="roundRect">
            <a:avLst>
              <a:gd name="adj" fmla="val 4706"/>
            </a:avLst>
          </a:prstGeom>
          <a:solidFill>
            <a:srgbClr val="1C2B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60920" y="3931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 YOURSELF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github.com/nilaymastaadmi/alpaca-hackathon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48463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→ Streamlit Cloud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360920" y="53492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test  →  195 tests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 verify → recomputes the root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UNCOMFORTABLE SLIDE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Will it even trade this week?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3172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/ 14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729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logged so far have entered.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single one refused.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33172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~28–33%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3172968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chance of even ONE trade across the 4.5-day judged window, at the measured VRP distribution — and that’s the optimistic side.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2A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4434840"/>
            <a:ext cx="10881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bug. The pre-registered research always expected roughly one trade per week at this sizing — refusal is the strategy working, not failing. But P&amp;L Performance is a judged criterion, and an agent that refuses all week scores zero on it.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5778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hiding this number, and we won’t lower the threshold after a quiet Monday to manufacture a trade. If it changes, the reasoning gets written down BEFORE the number does.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 – 4 SEP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31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week results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108813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9050">
            <a:solidFill>
              <a:srgbClr val="D9A441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1005840" y="2514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— UPDATE DURING THE LIVE WEEK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3200400"/>
            <a:ext cx="384048" cy="384048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200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783080" y="3163824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screenshot: decisions, gates, artifact count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88720" y="3858768"/>
            <a:ext cx="384048" cy="384048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88720" y="3858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3822192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entered vs. refused, with the VRP reading that decided each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188720" y="4517136"/>
            <a:ext cx="384048" cy="384048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88720" y="4517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783080" y="4480560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Realised P&amp;L, and whether the NFP de-risk (Thu 3 Sep close) fired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88720" y="5175504"/>
            <a:ext cx="384048" cy="384048"/>
          </a:xfrm>
          <a:prstGeom prst="ellipse">
            <a:avLst/>
          </a:prstGeom>
          <a:solidFill>
            <a:srgbClr val="131F3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88720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5138928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Merkle root and “make verify” output at submission time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DIFFERENT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22960" y="149047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417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Refusal is the product, not a fallback — measured every cycle, logged every time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208483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0116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Pre-registered before results existed, and the misses are reported as loudly as the wins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822960" y="2679192"/>
            <a:ext cx="109728" cy="1097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606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verifiable, tamper-evident decision trail — not a claim, a recomputation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22960" y="3429000"/>
            <a:ext cx="10424160" cy="0"/>
          </a:xfrm>
          <a:prstGeom prst="line">
            <a:avLst/>
          </a:prstGeom>
          <a:noFill/>
          <a:ln w="12700">
            <a:solidFill>
              <a:srgbClr val="2A3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37033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solo. Every claim measured, not assumed.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2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github.com/nilaymastaadmi/alpaca-hackathon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dashboard: Streamlit Cloud (link in submission)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760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Alpaca AI Trading Agents Hackathon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options agent that refuses to trade</dc:title>
  <dc:subject>PptxGenJS Presentation</dc:subject>
  <dc:creator>Nilay Toshniwal</dc:creator>
  <cp:lastModifiedBy>Nilay Toshniwal</cp:lastModifiedBy>
  <cp:revision>1</cp:revision>
  <dcterms:created xsi:type="dcterms:W3CDTF">2026-08-28T05:43:03Z</dcterms:created>
  <dcterms:modified xsi:type="dcterms:W3CDTF">2026-08-28T05:43:03Z</dcterms:modified>
</cp:coreProperties>
</file>