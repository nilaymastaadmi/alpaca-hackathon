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31F3C"/>
                </a:solidFill>
                <a:latin typeface="Arial"/>
              </a:defRPr>
            </a:pPr>
            <a:r>
              <a:rPr sz="1300" b="0" i="0" u="none" strike="noStrike">
                <a:solidFill>
                  <a:srgbClr val="131F3C"/>
                </a:solidFill>
                <a:latin typeface="Arial"/>
              </a:rPr>
              <a:t>Why the correction matters</a:t>
            </a:r>
          </a:p>
        </c:rich>
      </c:tx>
      <c:layout/>
      <c:overlay val="0"/>
    </c:title>
    <c:autoTitleDeleted val="0"/>
    <c:plotArea>
      <c:layout/>
      <c:barChart>
        <c:barDir val="bar"/>
        <c:grouping val="clustered"/>
        <c:varyColors val="0"/>
        <c:ser>
          <c:idx val="0"/>
          <c:order val="0"/>
          <c:tx>
            <c:strRef>
              <c:f>Sheet1!$B$1</c:f>
              <c:strCache>
                <c:ptCount val="1"/>
                <c:pt idx="0">
                  <c:v>t-statistic</c:v>
                </c:pt>
              </c:strCache>
            </c:strRef>
          </c:tx>
          <c:spPr>
            <a:solidFill>
              <a:srgbClr val="D9A441"/>
            </a:solidFill>
            <a:effectLst/>
          </c:spPr>
          <c:invertIfNegative val="0"/>
          <c:dLbls>
            <c:numFmt formatCode="#,##0" sourceLinked="0"/>
            <c:txPr>
              <a:bodyPr/>
              <a:lstStyle/>
              <a:p>
                <a:pPr>
                  <a:defRPr b="0" i="0" strike="noStrike" sz="1200" u="none">
                    <a:solidFill>
                      <a:srgbClr val="20242E"/>
                    </a:solidFill>
                    <a:latin typeface="Arial"/>
                  </a:defRPr>
                </a:pPr>
              </a:p>
            </c:txPr>
            <c:showLegendKey val="0"/>
            <c:showVal val="1"/>
            <c:showCatName val="0"/>
            <c:showSerName val="0"/>
            <c:showPercent val="0"/>
            <c:showBubbleSize val="0"/>
            <c:showLeaderLines val="0"/>
          </c:dLbls>
          <c:cat>
            <c:multiLvlStrRef>
              <c:f>Sheet1!$A$2:$A$3</c:f>
              <c:multiLvlStrCache>
                <c:ptCount val="2"/>
                <c:lvl>
                  <c:pt idx="0">
                    <c:v>Naive t (invalid)</c:v>
                  </c:pt>
                  <c:pt idx="1">
                    <c:v>Newey-West corrected</c:v>
                  </c:pt>
                </c:lvl>
              </c:multiLvlStrCache>
            </c:multiLvlStrRef>
          </c:cat>
          <c:val>
            <c:numRef>
              <c:f>Sheet1!$B$2:$B$3</c:f>
              <c:numCache>
                <c:formatCode>General</c:formatCode>
                <c:ptCount val="2"/>
                <c:pt idx="0">
                  <c:v>18.16</c:v>
                </c:pt>
                <c:pt idx="1">
                  <c:v>4.74</c:v>
                </c:pt>
              </c:numCache>
            </c:numRef>
          </c:val>
        </c:ser>
        <c:dLbls>
          <c:numFmt formatCode="#,##0" sourceLinked="0"/>
          <c:txPr>
            <a:bodyPr/>
            <a:lstStyle/>
            <a:p>
              <a:pPr>
                <a:defRPr b="0" i="0" strike="noStrike" sz="1200" u="none">
                  <a:solidFill>
                    <a:srgbClr val="2024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20242E"/>
                </a:solidFill>
                <a:latin typeface="Arial"/>
              </a:defRPr>
            </a:pPr>
            <a:endParaRPr lang="en-US"/>
          </a:p>
        </c:txPr>
        <c:crossAx val="2094734552"/>
        <c:crosses val="autoZero"/>
        <c:auto val="1"/>
        <c:lblAlgn val="ctr"/>
        <c:noMultiLvlLbl val="1"/>
      </c:catAx>
      <c:valAx>
        <c:axId val="2094734552"/>
        <c:scaling>
          <c:orientation val="minMax"/>
        </c:scaling>
        <c:delete val="0"/>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31F3C"/>
                </a:solidFill>
                <a:latin typeface="Arial"/>
              </a:defRPr>
            </a:pPr>
            <a:r>
              <a:rPr sz="1300" b="0" i="0" u="none" strike="noStrike">
                <a:solidFill>
                  <a:srgbClr val="131F3C"/>
                </a:solidFill>
                <a:latin typeface="Arial"/>
              </a:rPr>
              <a:t>Development-window Sharpe vs. bar 0.792 (N=7)</a:t>
            </a:r>
          </a:p>
        </c:rich>
      </c:tx>
      <c:layout/>
      <c:overlay val="0"/>
    </c:title>
    <c:autoTitleDeleted val="0"/>
    <c:plotArea>
      <c:layout/>
      <c:barChart>
        <c:barDir val="col"/>
        <c:grouping val="clustered"/>
        <c:varyColors val="0"/>
        <c:ser>
          <c:idx val="0"/>
          <c:order val="0"/>
          <c:tx>
            <c:strRef>
              <c:f>Sheet1!$B$1</c:f>
              <c:strCache>
                <c:ptCount val="1"/>
                <c:pt idx="0">
                  <c:v>Sharpe</c:v>
                </c:pt>
              </c:strCache>
            </c:strRef>
          </c:tx>
          <c:spPr>
            <a:solidFill>
              <a:srgbClr val="131F3C"/>
            </a:solidFill>
            <a:effectLst/>
          </c:spPr>
          <c:invertIfNegative val="0"/>
          <c:dLbls>
            <c:numFmt formatCode="#,##0" sourceLinked="0"/>
            <c:txPr>
              <a:bodyPr/>
              <a:lstStyle/>
              <a:p>
                <a:pPr>
                  <a:defRPr b="0" i="0" strike="noStrike" sz="1100" u="none">
                    <a:solidFill>
                      <a:srgbClr val="20242E"/>
                    </a:solidFill>
                    <a:latin typeface="Arial"/>
                  </a:defRPr>
                </a:pPr>
              </a:p>
            </c:txPr>
            <c:showLegendKey val="0"/>
            <c:showVal val="1"/>
            <c:showCatName val="0"/>
            <c:showSerName val="0"/>
            <c:showPercent val="0"/>
            <c:showBubbleSize val="0"/>
            <c:showLeaderLines val="0"/>
          </c:dLbls>
          <c:dPt>
            <c:idx val="0"/>
            <c:invertIfNegative val="0"/>
            <c:bubble3D val="0"/>
            <c:spPr>
              <a:solidFill>
                <a:srgbClr val="131F3C"/>
              </a:solidFill>
              <a:effectLst/>
            </c:spPr>
          </c:dPt>
          <c:dPt>
            <c:idx val="1"/>
            <c:invertIfNegative val="0"/>
            <c:bubble3D val="0"/>
            <c:spPr>
              <a:solidFill>
                <a:srgbClr val="131F3C"/>
              </a:solidFill>
              <a:effectLst/>
            </c:spPr>
          </c:dPt>
          <c:dPt>
            <c:idx val="2"/>
            <c:invertIfNegative val="0"/>
            <c:bubble3D val="0"/>
            <c:spPr>
              <a:solidFill>
                <a:srgbClr val="131F3C"/>
              </a:solidFill>
              <a:effectLst/>
            </c:spPr>
          </c:dPt>
          <c:dPt>
            <c:idx val="3"/>
            <c:invertIfNegative val="0"/>
            <c:bubble3D val="0"/>
            <c:spPr>
              <a:solidFill>
                <a:srgbClr val="D9A441"/>
              </a:solidFill>
              <a:effectLst/>
            </c:spPr>
          </c:dPt>
          <c:dPt>
            <c:idx val="4"/>
            <c:invertIfNegative val="0"/>
            <c:bubble3D val="0"/>
            <c:spPr>
              <a:solidFill>
                <a:srgbClr val="131F3C"/>
              </a:solidFill>
              <a:effectLst/>
            </c:spPr>
          </c:dPt>
          <c:dPt>
            <c:idx val="5"/>
            <c:invertIfNegative val="0"/>
            <c:bubble3D val="0"/>
            <c:spPr>
              <a:solidFill>
                <a:srgbClr val="131F3C"/>
              </a:solidFill>
              <a:effectLst/>
            </c:spPr>
          </c:dPt>
          <c:dPt>
            <c:idx val="6"/>
            <c:invertIfNegative val="0"/>
            <c:bubble3D val="0"/>
            <c:spPr>
              <a:solidFill>
                <a:srgbClr val="D9A441"/>
              </a:solidFill>
              <a:effectLst/>
            </c:spPr>
          </c:dPt>
          <c:cat>
            <c:multiLvlStrRef>
              <c:f>Sheet1!$A$2:$A$8</c:f>
              <c:multiLvlStrCache>
                <c:ptCount val="7"/>
                <c:lvl>
                  <c:pt idx="0">
                    <c:v>T1</c:v>
                  </c:pt>
                  <c:pt idx="1">
                    <c:v>T2</c:v>
                  </c:pt>
                  <c:pt idx="2">
                    <c:v>T3</c:v>
                  </c:pt>
                  <c:pt idx="3">
                    <c:v>T4
(deployed)</c:v>
                  </c:pt>
                  <c:pt idx="4">
                    <c:v>T5</c:v>
                  </c:pt>
                  <c:pt idx="5">
                    <c:v>T6</c:v>
                  </c:pt>
                  <c:pt idx="6">
                    <c:v>T7
(proposed)</c:v>
                  </c:pt>
                </c:lvl>
              </c:multiLvlStrCache>
            </c:multiLvlStrRef>
          </c:cat>
          <c:val>
            <c:numRef>
              <c:f>Sheet1!$B$2:$B$8</c:f>
              <c:numCache>
                <c:formatCode>General</c:formatCode>
                <c:ptCount val="7"/>
                <c:pt idx="0">
                  <c:v>1.071</c:v>
                </c:pt>
                <c:pt idx="1">
                  <c:v>1.392</c:v>
                </c:pt>
                <c:pt idx="2">
                  <c:v>0.949</c:v>
                </c:pt>
                <c:pt idx="3">
                  <c:v>1.201</c:v>
                </c:pt>
                <c:pt idx="4">
                  <c:v>1.515</c:v>
                </c:pt>
                <c:pt idx="5">
                  <c:v>1.614</c:v>
                </c:pt>
                <c:pt idx="6">
                  <c:v>1.697</c:v>
                </c:pt>
              </c:numCache>
            </c:numRef>
          </c:val>
        </c:ser>
        <c:dLbls>
          <c:numFmt formatCode="#,##0" sourceLinked="0"/>
          <c:txPr>
            <a:bodyPr/>
            <a:lstStyle/>
            <a:p>
              <a:pPr>
                <a:defRPr b="0" i="0" strike="noStrike" sz="1100" u="none">
                  <a:solidFill>
                    <a:srgbClr val="2024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0242E"/>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3E7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1F3C"/>
        </a:solidFill>
      </p:bgPr>
    </p:bg>
    <p:spTree>
      <p:nvGrpSpPr>
        <p:cNvPr id="1" name=""/>
        <p:cNvGrpSpPr/>
        <p:nvPr/>
      </p:nvGrpSpPr>
      <p:grpSpPr>
        <a:xfrm>
          <a:off x="0" y="0"/>
          <a:ext cx="0" cy="0"/>
          <a:chOff x="0" y="0"/>
          <a:chExt cx="0" cy="0"/>
        </a:xfrm>
      </p:grpSpPr>
      <p:sp>
        <p:nvSpPr>
          <p:cNvPr id="2" name="Text 0"/>
          <p:cNvSpPr txBox="1"/>
          <p:nvPr/>
        </p:nvSpPr>
        <p:spPr>
          <a:xfrm>
            <a:off x="822960" y="1965960"/>
            <a:ext cx="10515600" cy="41148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ALPACA AI TRADING AGENTS HACKATHON 2026  ·  TRACK 2: VOLATILITY &amp; EVENT</a:t>
            </a:r>
            <a:endParaRPr lang="en-US" sz="1300" dirty="0"/>
          </a:p>
        </p:txBody>
      </p:sp>
      <p:sp>
        <p:nvSpPr>
          <p:cNvPr id="3" name="Text 1"/>
          <p:cNvSpPr txBox="1"/>
          <p:nvPr/>
        </p:nvSpPr>
        <p:spPr>
          <a:xfrm>
            <a:off x="777240" y="2468880"/>
            <a:ext cx="10607040" cy="2286000"/>
          </a:xfrm>
          <a:prstGeom prst="rect">
            <a:avLst/>
          </a:prstGeom>
          <a:noFill/>
          <a:ln/>
        </p:spPr>
        <p:txBody>
          <a:bodyPr wrap="square" lIns="0" tIns="0" rIns="0" bIns="0" rtlCol="0" anchor="ctr"/>
          <a:lstStyle/>
          <a:p>
            <a:pPr indent="0" marL="0">
              <a:lnSpc>
                <a:spcPct val="105000"/>
              </a:lnSpc>
              <a:buNone/>
            </a:pPr>
            <a:r>
              <a:rPr lang="en-US" sz="5400" b="1" dirty="0">
                <a:solidFill>
                  <a:srgbClr val="FFFFFF"/>
                </a:solidFill>
                <a:latin typeface="Cambria" pitchFamily="34" charset="0"/>
                <a:ea typeface="Cambria" pitchFamily="34" charset="-122"/>
                <a:cs typeface="Cambria" pitchFamily="34" charset="-120"/>
              </a:rPr>
              <a:t>An options agent that</a:t>
            </a:r>
            <a:endParaRPr lang="en-US" sz="5400" dirty="0"/>
          </a:p>
          <a:p>
            <a:pPr indent="0" marL="0">
              <a:lnSpc>
                <a:spcPct val="105000"/>
              </a:lnSpc>
              <a:buNone/>
            </a:pPr>
            <a:r>
              <a:rPr lang="en-US" sz="5400" b="1" dirty="0">
                <a:solidFill>
                  <a:srgbClr val="FFFFFF"/>
                </a:solidFill>
                <a:latin typeface="Cambria" pitchFamily="34" charset="0"/>
                <a:ea typeface="Cambria" pitchFamily="34" charset="-122"/>
                <a:cs typeface="Cambria" pitchFamily="34" charset="-120"/>
              </a:rPr>
              <a:t>refuses to trade</a:t>
            </a:r>
            <a:endParaRPr lang="en-US" sz="5400" dirty="0"/>
          </a:p>
        </p:txBody>
      </p:sp>
      <p:sp>
        <p:nvSpPr>
          <p:cNvPr id="4" name="Text 2"/>
          <p:cNvSpPr txBox="1"/>
          <p:nvPr/>
        </p:nvSpPr>
        <p:spPr>
          <a:xfrm>
            <a:off x="822960" y="4709160"/>
            <a:ext cx="8778240" cy="822960"/>
          </a:xfrm>
          <a:prstGeom prst="rect">
            <a:avLst/>
          </a:prstGeom>
          <a:noFill/>
          <a:ln/>
        </p:spPr>
        <p:txBody>
          <a:bodyPr wrap="square" lIns="0" tIns="0" rIns="0" bIns="0" rtlCol="0" anchor="ctr"/>
          <a:lstStyle/>
          <a:p>
            <a:pPr indent="0" marL="0">
              <a:lnSpc>
                <a:spcPct val="125000"/>
              </a:lnSpc>
              <a:buNone/>
            </a:pPr>
            <a:r>
              <a:rPr lang="en-US" sz="1550" dirty="0">
                <a:solidFill>
                  <a:srgbClr val="C7D2E8"/>
                </a:solidFill>
                <a:latin typeface="Calibri" pitchFamily="34" charset="0"/>
                <a:ea typeface="Calibri" pitchFamily="34" charset="-122"/>
                <a:cs typeface="Calibri" pitchFamily="34" charset="-120"/>
              </a:rPr>
              <a:t>Sells volatility on SPY only when it is measurably expensive. Every decision it makes, including every refusal, is a signed artifact you can verify yourself.</a:t>
            </a:r>
            <a:endParaRPr lang="en-US" sz="1550" dirty="0"/>
          </a:p>
        </p:txBody>
      </p:sp>
      <p:sp>
        <p:nvSpPr>
          <p:cNvPr id="5" name="Shape 3"/>
          <p:cNvSpPr/>
          <p:nvPr/>
        </p:nvSpPr>
        <p:spPr>
          <a:xfrm>
            <a:off x="822960" y="5989320"/>
            <a:ext cx="2743200" cy="0"/>
          </a:xfrm>
          <a:prstGeom prst="line">
            <a:avLst/>
          </a:prstGeom>
          <a:noFill/>
          <a:ln w="12700">
            <a:solidFill>
              <a:srgbClr val="3A4874"/>
            </a:solidFill>
            <a:prstDash val="solid"/>
          </a:ln>
        </p:spPr>
      </p:sp>
      <p:sp>
        <p:nvSpPr>
          <p:cNvPr id="6" name="Text 4"/>
          <p:cNvSpPr txBox="1"/>
          <p:nvPr/>
        </p:nvSpPr>
        <p:spPr>
          <a:xfrm>
            <a:off x="822960" y="6108192"/>
            <a:ext cx="5486400" cy="365760"/>
          </a:xfrm>
          <a:prstGeom prst="rect">
            <a:avLst/>
          </a:prstGeom>
          <a:noFill/>
          <a:ln/>
        </p:spPr>
        <p:txBody>
          <a:bodyPr wrap="square" lIns="0" tIns="0" rIns="0" bIns="0" rtlCol="0" anchor="ctr"/>
          <a:lstStyle/>
          <a:p>
            <a:pPr indent="0" marL="0">
              <a:buNone/>
            </a:pPr>
            <a:r>
              <a:rPr lang="en-US" sz="1250" dirty="0">
                <a:solidFill>
                  <a:srgbClr val="8C9BC4"/>
                </a:solidFill>
                <a:latin typeface="Calibri" pitchFamily="34" charset="0"/>
                <a:ea typeface="Calibri" pitchFamily="34" charset="-122"/>
                <a:cs typeface="Calibri" pitchFamily="34" charset="-120"/>
              </a:rPr>
              <a:t>Nilay Toshniwal  ·  Solo entry</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31F3C"/>
        </a:solidFill>
      </p:bgPr>
    </p:bg>
    <p:spTree>
      <p:nvGrpSpPr>
        <p:cNvPr id="1" name=""/>
        <p:cNvGrpSpPr/>
        <p:nvPr/>
      </p:nvGrpSpPr>
      <p:grpSpPr>
        <a:xfrm>
          <a:off x="0" y="0"/>
          <a:ext cx="0" cy="0"/>
          <a:chOff x="0" y="0"/>
          <a:chExt cx="0" cy="0"/>
        </a:xfrm>
      </p:grpSpPr>
      <p:sp>
        <p:nvSpPr>
          <p:cNvPr id="2" name="Text 0"/>
          <p:cNvSpPr txBox="1"/>
          <p:nvPr/>
        </p:nvSpPr>
        <p:spPr>
          <a:xfrm>
            <a:off x="11368735" y="6355080"/>
            <a:ext cx="548640" cy="320040"/>
          </a:xfrm>
          <a:prstGeom prst="rect">
            <a:avLst/>
          </a:prstGeom>
          <a:noFill/>
          <a:ln/>
        </p:spPr>
        <p:txBody>
          <a:bodyPr wrap="square" lIns="0" tIns="0" rIns="0" bIns="0" rtlCol="0" anchor="ctr"/>
          <a:lstStyle/>
          <a:p>
            <a:pPr algn="r" indent="0" marL="0">
              <a:buNone/>
            </a:pPr>
            <a:r>
              <a:rPr lang="en-US" sz="1000" dirty="0">
                <a:solidFill>
                  <a:srgbClr val="8C9BC4"/>
                </a:solidFill>
                <a:latin typeface="Calibri" pitchFamily="34" charset="0"/>
                <a:ea typeface="Calibri" pitchFamily="34" charset="-122"/>
                <a:cs typeface="Calibri" pitchFamily="34" charset="-120"/>
              </a:rPr>
              <a:t>02</a:t>
            </a:r>
            <a:endParaRPr lang="en-US" sz="1000" dirty="0"/>
          </a:p>
        </p:txBody>
      </p:sp>
      <p:sp>
        <p:nvSpPr>
          <p:cNvPr id="3" name="Text 1"/>
          <p:cNvSpPr txBox="1"/>
          <p:nvPr/>
        </p:nvSpPr>
        <p:spPr>
          <a:xfrm>
            <a:off x="822960" y="868680"/>
            <a:ext cx="7315200" cy="36576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ITS FIRST LIVE RUN</a:t>
            </a:r>
            <a:endParaRPr lang="en-US" sz="1300" dirty="0"/>
          </a:p>
        </p:txBody>
      </p:sp>
      <p:sp>
        <p:nvSpPr>
          <p:cNvPr id="4" name="Shape 2"/>
          <p:cNvSpPr/>
          <p:nvPr/>
        </p:nvSpPr>
        <p:spPr>
          <a:xfrm>
            <a:off x="822960" y="1508760"/>
            <a:ext cx="10515600" cy="2286000"/>
          </a:xfrm>
          <a:prstGeom prst="roundRect">
            <a:avLst>
              <a:gd name="adj" fmla="val 4800"/>
            </a:avLst>
          </a:prstGeom>
          <a:solidFill>
            <a:srgbClr val="1C2B52"/>
          </a:solidFill>
          <a:ln/>
        </p:spPr>
      </p:sp>
      <p:sp>
        <p:nvSpPr>
          <p:cNvPr id="5" name="Text 3"/>
          <p:cNvSpPr txBox="1"/>
          <p:nvPr/>
        </p:nvSpPr>
        <p:spPr>
          <a:xfrm>
            <a:off x="1188720" y="1874520"/>
            <a:ext cx="9784080" cy="548640"/>
          </a:xfrm>
          <a:prstGeom prst="rect">
            <a:avLst/>
          </a:prstGeom>
          <a:noFill/>
          <a:ln/>
        </p:spPr>
        <p:txBody>
          <a:bodyPr wrap="square" lIns="0" tIns="0" rIns="0" bIns="0" rtlCol="0" anchor="ctr"/>
          <a:lstStyle/>
          <a:p>
            <a:pPr algn="l" indent="0" marL="0">
              <a:buNone/>
            </a:pPr>
            <a:r>
              <a:rPr lang="en-US" sz="2400" dirty="0">
                <a:solidFill>
                  <a:srgbClr val="C7D2E8"/>
                </a:solidFill>
                <a:latin typeface="Calibri" pitchFamily="34" charset="0"/>
                <a:ea typeface="Calibri" pitchFamily="34" charset="-122"/>
                <a:cs typeface="Calibri" pitchFamily="34" charset="-120"/>
              </a:rPr>
              <a:t>Implied vol: </a:t>
            </a:r>
            <a:pPr algn="l" indent="0" marL="0">
              <a:buNone/>
            </a:pPr>
            <a:r>
              <a:rPr lang="en-US" sz="2400" b="1" dirty="0">
                <a:solidFill>
                  <a:srgbClr val="FFFFFF"/>
                </a:solidFill>
                <a:latin typeface="Calibri" pitchFamily="34" charset="0"/>
                <a:ea typeface="Calibri" pitchFamily="34" charset="-122"/>
                <a:cs typeface="Calibri" pitchFamily="34" charset="-120"/>
              </a:rPr>
              <a:t>12.81</a:t>
            </a:r>
            <a:pPr algn="l" indent="0" marL="0">
              <a:buNone/>
            </a:pPr>
            <a:r>
              <a:rPr lang="en-US" sz="2400" dirty="0">
                <a:solidFill>
                  <a:srgbClr val="C7D2E8"/>
                </a:solidFill>
                <a:latin typeface="Calibri" pitchFamily="34" charset="0"/>
                <a:ea typeface="Calibri" pitchFamily="34" charset="-122"/>
                <a:cs typeface="Calibri" pitchFamily="34" charset="-120"/>
              </a:rPr>
              <a:t>     Trailing realised: </a:t>
            </a:r>
            <a:pPr algn="l" indent="0" marL="0">
              <a:buNone/>
            </a:pPr>
            <a:r>
              <a:rPr lang="en-US" sz="2400" b="1" dirty="0">
                <a:solidFill>
                  <a:srgbClr val="FFFFFF"/>
                </a:solidFill>
                <a:latin typeface="Calibri" pitchFamily="34" charset="0"/>
                <a:ea typeface="Calibri" pitchFamily="34" charset="-122"/>
                <a:cs typeface="Calibri" pitchFamily="34" charset="-120"/>
              </a:rPr>
              <a:t>13.28</a:t>
            </a:r>
            <a:endParaRPr lang="en-US" sz="2400" dirty="0"/>
          </a:p>
        </p:txBody>
      </p:sp>
      <p:sp>
        <p:nvSpPr>
          <p:cNvPr id="6" name="Text 4"/>
          <p:cNvSpPr txBox="1"/>
          <p:nvPr/>
        </p:nvSpPr>
        <p:spPr>
          <a:xfrm>
            <a:off x="1188720" y="2606040"/>
            <a:ext cx="9784080" cy="914400"/>
          </a:xfrm>
          <a:prstGeom prst="rect">
            <a:avLst/>
          </a:prstGeom>
          <a:noFill/>
          <a:ln/>
        </p:spPr>
        <p:txBody>
          <a:bodyPr wrap="square" lIns="0" tIns="0" rIns="0" bIns="0" rtlCol="0" anchor="ctr"/>
          <a:lstStyle/>
          <a:p>
            <a:pPr indent="0" marL="0">
              <a:buNone/>
            </a:pPr>
            <a:r>
              <a:rPr lang="en-US" sz="3000" b="1" dirty="0">
                <a:solidFill>
                  <a:srgbClr val="D9A441"/>
                </a:solidFill>
                <a:latin typeface="Cambria" pitchFamily="34" charset="0"/>
                <a:ea typeface="Cambria" pitchFamily="34" charset="-122"/>
                <a:cs typeface="Cambria" pitchFamily="34" charset="-120"/>
              </a:rPr>
              <a:t>Volatility was cheap. So it refused.</a:t>
            </a:r>
            <a:endParaRPr lang="en-US" sz="3000" dirty="0"/>
          </a:p>
        </p:txBody>
      </p:sp>
      <p:sp>
        <p:nvSpPr>
          <p:cNvPr id="7" name="Text 5"/>
          <p:cNvSpPr txBox="1"/>
          <p:nvPr/>
        </p:nvSpPr>
        <p:spPr>
          <a:xfrm>
            <a:off x="822960" y="4160520"/>
            <a:ext cx="8686800" cy="640080"/>
          </a:xfrm>
          <a:prstGeom prst="rect">
            <a:avLst/>
          </a:prstGeom>
          <a:noFill/>
          <a:ln/>
        </p:spPr>
        <p:txBody>
          <a:bodyPr wrap="square" lIns="0" tIns="0" rIns="0" bIns="0" rtlCol="0" anchor="ctr"/>
          <a:lstStyle/>
          <a:p>
            <a:pPr indent="0" marL="0">
              <a:lnSpc>
                <a:spcPct val="120000"/>
              </a:lnSpc>
              <a:buNone/>
            </a:pPr>
            <a:r>
              <a:rPr lang="en-US" sz="1600" dirty="0">
                <a:solidFill>
                  <a:srgbClr val="C7D2E8"/>
                </a:solidFill>
                <a:latin typeface="Calibri" pitchFamily="34" charset="0"/>
                <a:ea typeface="Calibri" pitchFamily="34" charset="-122"/>
                <a:cs typeface="Calibri" pitchFamily="34" charset="-120"/>
              </a:rPr>
              <a:t>Most trading agents are built to trade. This one measures whether the premium is actually worth selling, and says no when it isn’t.</a:t>
            </a:r>
            <a:endParaRPr lang="en-US" sz="1600" dirty="0"/>
          </a:p>
        </p:txBody>
      </p:sp>
      <p:sp>
        <p:nvSpPr>
          <p:cNvPr id="8" name="Text 6"/>
          <p:cNvSpPr txBox="1"/>
          <p:nvPr/>
        </p:nvSpPr>
        <p:spPr>
          <a:xfrm>
            <a:off x="822960" y="5074920"/>
            <a:ext cx="8686800" cy="548640"/>
          </a:xfrm>
          <a:prstGeom prst="rect">
            <a:avLst/>
          </a:prstGeom>
          <a:noFill/>
          <a:ln/>
        </p:spPr>
        <p:txBody>
          <a:bodyPr wrap="square" lIns="0" tIns="0" rIns="0" bIns="0" rtlCol="0" anchor="ctr"/>
          <a:lstStyle/>
          <a:p>
            <a:pPr indent="0" marL="0">
              <a:buNone/>
            </a:pPr>
            <a:r>
              <a:rPr lang="en-US" sz="1700" i="1" dirty="0">
                <a:solidFill>
                  <a:srgbClr val="FFFFFF"/>
                </a:solidFill>
                <a:latin typeface="Calibri" pitchFamily="34" charset="0"/>
                <a:ea typeface="Calibri" pitchFamily="34" charset="-122"/>
                <a:cs typeface="Calibri" pitchFamily="34" charset="-120"/>
              </a:rPr>
              <a:t>This is not a bug. It is the product.</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640080" y="502920"/>
            <a:ext cx="9144000" cy="36576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THE THESIS</a:t>
            </a:r>
            <a:endParaRPr lang="en-US" sz="1300" dirty="0"/>
          </a:p>
        </p:txBody>
      </p:sp>
      <p:sp>
        <p:nvSpPr>
          <p:cNvPr id="3" name="Text 1"/>
          <p:cNvSpPr txBox="1"/>
          <p:nvPr/>
        </p:nvSpPr>
        <p:spPr>
          <a:xfrm>
            <a:off x="640080" y="914400"/>
            <a:ext cx="10789920" cy="1005840"/>
          </a:xfrm>
          <a:prstGeom prst="rect">
            <a:avLst/>
          </a:prstGeom>
          <a:noFill/>
          <a:ln/>
        </p:spPr>
        <p:txBody>
          <a:bodyPr wrap="square" lIns="0" tIns="0" rIns="0" bIns="0" rtlCol="0" anchor="ctr"/>
          <a:lstStyle/>
          <a:p>
            <a:pPr indent="0" marL="0">
              <a:lnSpc>
                <a:spcPct val="105000"/>
              </a:lnSpc>
              <a:buNone/>
            </a:pPr>
            <a:r>
              <a:rPr lang="en-US" sz="3200" b="1" dirty="0">
                <a:solidFill>
                  <a:srgbClr val="131F3C"/>
                </a:solidFill>
                <a:latin typeface="Cambria" pitchFamily="34" charset="0"/>
                <a:ea typeface="Cambria" pitchFamily="34" charset="-122"/>
                <a:cs typeface="Cambria" pitchFamily="34" charset="-120"/>
              </a:rPr>
              <a:t>Options are priced richer than</a:t>
            </a:r>
            <a:endParaRPr lang="en-US" sz="3200" dirty="0"/>
          </a:p>
          <a:p>
            <a:pPr indent="0" marL="0">
              <a:lnSpc>
                <a:spcPct val="105000"/>
              </a:lnSpc>
              <a:buNone/>
            </a:pPr>
            <a:r>
              <a:rPr lang="en-US" sz="3200" b="1" dirty="0">
                <a:solidFill>
                  <a:srgbClr val="131F3C"/>
                </a:solidFill>
                <a:latin typeface="Cambria" pitchFamily="34" charset="0"/>
                <a:ea typeface="Cambria" pitchFamily="34" charset="-122"/>
                <a:cs typeface="Cambria" pitchFamily="34" charset="-120"/>
              </a:rPr>
              <a:t>the move that actually follows</a:t>
            </a:r>
            <a:endParaRPr lang="en-US" sz="3200" dirty="0"/>
          </a:p>
        </p:txBody>
      </p:sp>
      <p:sp>
        <p:nvSpPr>
          <p:cNvPr id="4" name="Text 2"/>
          <p:cNvSpPr txBox="1"/>
          <p:nvPr/>
        </p:nvSpPr>
        <p:spPr>
          <a:xfrm>
            <a:off x="11368735" y="6355080"/>
            <a:ext cx="548640" cy="32004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03</a:t>
            </a:r>
            <a:endParaRPr lang="en-US" sz="1000" dirty="0"/>
          </a:p>
        </p:txBody>
      </p:sp>
      <p:sp>
        <p:nvSpPr>
          <p:cNvPr id="5" name="Text 3"/>
          <p:cNvSpPr txBox="1"/>
          <p:nvPr/>
        </p:nvSpPr>
        <p:spPr>
          <a:xfrm>
            <a:off x="640080" y="2148840"/>
            <a:ext cx="5212080" cy="1463040"/>
          </a:xfrm>
          <a:prstGeom prst="rect">
            <a:avLst/>
          </a:prstGeom>
          <a:noFill/>
          <a:ln/>
        </p:spPr>
        <p:txBody>
          <a:bodyPr wrap="square" lIns="0" tIns="0" rIns="0" bIns="0" rtlCol="0" anchor="ctr"/>
          <a:lstStyle/>
          <a:p>
            <a:pPr indent="0" marL="0">
              <a:lnSpc>
                <a:spcPct val="130000"/>
              </a:lnSpc>
              <a:buNone/>
            </a:pPr>
            <a:r>
              <a:rPr lang="en-US" sz="1500" dirty="0">
                <a:solidFill>
                  <a:srgbClr val="20242E"/>
                </a:solidFill>
                <a:latin typeface="Calibri" pitchFamily="34" charset="0"/>
                <a:ea typeface="Calibri" pitchFamily="34" charset="-122"/>
                <a:cs typeface="Calibri" pitchFamily="34" charset="-120"/>
              </a:rPr>
              <a:t>We call that gap the volatility risk premium (VRP). It is a well-documented structural feature of index options: buyers of protection pay more than the realised outcome justifies, on average.</a:t>
            </a:r>
            <a:endParaRPr lang="en-US" sz="1500" dirty="0"/>
          </a:p>
        </p:txBody>
      </p:sp>
      <p:sp>
        <p:nvSpPr>
          <p:cNvPr id="6" name="Text 4"/>
          <p:cNvSpPr txBox="1"/>
          <p:nvPr/>
        </p:nvSpPr>
        <p:spPr>
          <a:xfrm>
            <a:off x="640080" y="3749040"/>
            <a:ext cx="5212080" cy="1463040"/>
          </a:xfrm>
          <a:prstGeom prst="rect">
            <a:avLst/>
          </a:prstGeom>
          <a:noFill/>
          <a:ln/>
        </p:spPr>
        <p:txBody>
          <a:bodyPr wrap="square" lIns="0" tIns="0" rIns="0" bIns="0" rtlCol="0" anchor="ctr"/>
          <a:lstStyle/>
          <a:p>
            <a:pPr indent="0" marL="0">
              <a:lnSpc>
                <a:spcPct val="130000"/>
              </a:lnSpc>
              <a:buNone/>
            </a:pPr>
            <a:r>
              <a:rPr lang="en-US" sz="1500" dirty="0">
                <a:solidFill>
                  <a:srgbClr val="20242E"/>
                </a:solidFill>
                <a:latin typeface="Calibri" pitchFamily="34" charset="0"/>
                <a:ea typeface="Calibri" pitchFamily="34" charset="-122"/>
                <a:cs typeface="Calibri" pitchFamily="34" charset="-120"/>
              </a:rPr>
              <a:t>The agent sells that gap with a defined-risk iron condor on SPY, and only enters when the premium is measurably rich enough, at the exact strikes it is about to sell, to be worth the risk.</a:t>
            </a:r>
            <a:endParaRPr lang="en-US" sz="1500" dirty="0"/>
          </a:p>
        </p:txBody>
      </p:sp>
      <p:sp>
        <p:nvSpPr>
          <p:cNvPr id="7" name="Shape 5"/>
          <p:cNvSpPr/>
          <p:nvPr/>
        </p:nvSpPr>
        <p:spPr>
          <a:xfrm>
            <a:off x="6309360" y="2103120"/>
            <a:ext cx="5212080" cy="3931920"/>
          </a:xfrm>
          <a:prstGeom prst="roundRect">
            <a:avLst>
              <a:gd name="adj" fmla="val 2791"/>
            </a:avLst>
          </a:prstGeom>
          <a:solidFill>
            <a:srgbClr val="FFFFFF"/>
          </a:solidFill>
          <a:ln w="12700">
            <a:solidFill>
              <a:srgbClr val="E3E7F0"/>
            </a:solidFill>
            <a:prstDash val="solid"/>
          </a:ln>
        </p:spPr>
      </p:sp>
      <p:sp>
        <p:nvSpPr>
          <p:cNvPr id="8" name="Text 6"/>
          <p:cNvSpPr txBox="1"/>
          <p:nvPr/>
        </p:nvSpPr>
        <p:spPr>
          <a:xfrm>
            <a:off x="6629400" y="2331720"/>
            <a:ext cx="4572000" cy="320040"/>
          </a:xfrm>
          <a:prstGeom prst="rect">
            <a:avLst/>
          </a:prstGeom>
          <a:noFill/>
          <a:ln/>
        </p:spPr>
        <p:txBody>
          <a:bodyPr wrap="square" lIns="0" tIns="0" rIns="0" bIns="0" rtlCol="0" anchor="ctr"/>
          <a:lstStyle/>
          <a:p>
            <a:pPr indent="0" marL="0">
              <a:buNone/>
            </a:pPr>
            <a:r>
              <a:rPr lang="en-US" sz="1150" b="1" spc="150" kern="0" dirty="0">
                <a:solidFill>
                  <a:srgbClr val="6B7280"/>
                </a:solidFill>
                <a:latin typeface="Calibri" pitchFamily="34" charset="0"/>
                <a:ea typeface="Calibri" pitchFamily="34" charset="-122"/>
                <a:cs typeface="Calibri" pitchFamily="34" charset="-120"/>
              </a:rPr>
              <a:t>DEFINED-RISK CONDOR</a:t>
            </a:r>
            <a:endParaRPr lang="en-US" sz="1150" dirty="0"/>
          </a:p>
        </p:txBody>
      </p:sp>
      <p:sp>
        <p:nvSpPr>
          <p:cNvPr id="9" name="Shape 7"/>
          <p:cNvSpPr/>
          <p:nvPr/>
        </p:nvSpPr>
        <p:spPr>
          <a:xfrm>
            <a:off x="6675120" y="4023360"/>
            <a:ext cx="960120" cy="914400"/>
          </a:xfrm>
          <a:prstGeom prst="line">
            <a:avLst/>
          </a:prstGeom>
          <a:noFill/>
          <a:ln w="31750">
            <a:solidFill>
              <a:srgbClr val="C0392B"/>
            </a:solidFill>
            <a:prstDash val="solid"/>
          </a:ln>
        </p:spPr>
      </p:sp>
      <p:sp>
        <p:nvSpPr>
          <p:cNvPr id="10" name="Shape 8"/>
          <p:cNvSpPr/>
          <p:nvPr/>
        </p:nvSpPr>
        <p:spPr>
          <a:xfrm>
            <a:off x="7635240" y="4937760"/>
            <a:ext cx="2880360" cy="0"/>
          </a:xfrm>
          <a:prstGeom prst="line">
            <a:avLst/>
          </a:prstGeom>
          <a:noFill/>
          <a:ln w="38100">
            <a:solidFill>
              <a:srgbClr val="3F8F6B"/>
            </a:solidFill>
            <a:prstDash val="solid"/>
          </a:ln>
        </p:spPr>
      </p:sp>
      <p:sp>
        <p:nvSpPr>
          <p:cNvPr id="11" name="Shape 9"/>
          <p:cNvSpPr/>
          <p:nvPr/>
        </p:nvSpPr>
        <p:spPr>
          <a:xfrm>
            <a:off x="10515600" y="4023360"/>
            <a:ext cx="960120" cy="914400"/>
          </a:xfrm>
          <a:prstGeom prst="line">
            <a:avLst/>
          </a:prstGeom>
          <a:noFill/>
          <a:ln w="31750">
            <a:solidFill>
              <a:srgbClr val="C0392B"/>
            </a:solidFill>
            <a:prstDash val="solid"/>
          </a:ln>
        </p:spPr>
      </p:sp>
      <p:sp>
        <p:nvSpPr>
          <p:cNvPr id="12" name="Text 10"/>
          <p:cNvSpPr txBox="1"/>
          <p:nvPr/>
        </p:nvSpPr>
        <p:spPr>
          <a:xfrm>
            <a:off x="7498080" y="5029200"/>
            <a:ext cx="310896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max profit: the credit received</a:t>
            </a:r>
            <a:endParaRPr lang="en-US" sz="1000" dirty="0"/>
          </a:p>
        </p:txBody>
      </p:sp>
      <p:sp>
        <p:nvSpPr>
          <p:cNvPr id="13" name="Text 11"/>
          <p:cNvSpPr txBox="1"/>
          <p:nvPr/>
        </p:nvSpPr>
        <p:spPr>
          <a:xfrm>
            <a:off x="6537960" y="2834640"/>
            <a:ext cx="329184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max loss: capped by the long wings</a:t>
            </a:r>
            <a:endParaRPr lang="en-US" sz="1000" dirty="0"/>
          </a:p>
        </p:txBody>
      </p:sp>
      <p:sp>
        <p:nvSpPr>
          <p:cNvPr id="14" name="Text 12"/>
          <p:cNvSpPr txBox="1"/>
          <p:nvPr/>
        </p:nvSpPr>
        <p:spPr>
          <a:xfrm>
            <a:off x="6629400" y="5349240"/>
            <a:ext cx="4617720" cy="548640"/>
          </a:xfrm>
          <a:prstGeom prst="rect">
            <a:avLst/>
          </a:prstGeom>
          <a:noFill/>
          <a:ln/>
        </p:spPr>
        <p:txBody>
          <a:bodyPr wrap="square" lIns="0" tIns="0" rIns="0" bIns="0" rtlCol="0" anchor="ctr"/>
          <a:lstStyle/>
          <a:p>
            <a:pPr indent="0" marL="0">
              <a:lnSpc>
                <a:spcPct val="120000"/>
              </a:lnSpc>
              <a:buNone/>
            </a:pPr>
            <a:r>
              <a:rPr lang="en-US" sz="1200" dirty="0">
                <a:solidFill>
                  <a:srgbClr val="20242E"/>
                </a:solidFill>
                <a:latin typeface="Calibri" pitchFamily="34" charset="0"/>
                <a:ea typeface="Calibri" pitchFamily="34" charset="-122"/>
                <a:cs typeface="Calibri" pitchFamily="34" charset="-120"/>
              </a:rPr>
              <a:t>Only sold </a:t>
            </a:r>
            <a:pPr indent="0" marL="0">
              <a:lnSpc>
                <a:spcPct val="120000"/>
              </a:lnSpc>
              <a:buNone/>
            </a:pPr>
            <a:r>
              <a:rPr lang="en-US" sz="1200" b="1" dirty="0">
                <a:solidFill>
                  <a:srgbClr val="131F3C"/>
                </a:solidFill>
                <a:latin typeface="Calibri" pitchFamily="34" charset="0"/>
                <a:ea typeface="Calibri" pitchFamily="34" charset="-122"/>
                <a:cs typeface="Calibri" pitchFamily="34" charset="-120"/>
              </a:rPr>
              <a:t>when VRP clears a pre-registered threshold</a:t>
            </a:r>
            <a:pPr indent="0" marL="0">
              <a:lnSpc>
                <a:spcPct val="120000"/>
              </a:lnSpc>
              <a:buNone/>
            </a:pPr>
            <a:r>
              <a:rPr lang="en-US" sz="1200" dirty="0">
                <a:solidFill>
                  <a:srgbClr val="20242E"/>
                </a:solidFill>
                <a:latin typeface="Calibri" pitchFamily="34" charset="0"/>
                <a:ea typeface="Calibri" pitchFamily="34" charset="-122"/>
                <a:cs typeface="Calibri" pitchFamily="34" charset="-120"/>
              </a:rPr>
              <a:t>, refusal is the default, not the exception.</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640080" y="502920"/>
            <a:ext cx="9144000" cy="36576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RESEARCH DISCIPLINE</a:t>
            </a:r>
            <a:endParaRPr lang="en-US" sz="1300" dirty="0"/>
          </a:p>
        </p:txBody>
      </p:sp>
      <p:sp>
        <p:nvSpPr>
          <p:cNvPr id="3" name="Text 1"/>
          <p:cNvSpPr txBox="1"/>
          <p:nvPr/>
        </p:nvSpPr>
        <p:spPr>
          <a:xfrm>
            <a:off x="640080" y="914400"/>
            <a:ext cx="10789920" cy="1005840"/>
          </a:xfrm>
          <a:prstGeom prst="rect">
            <a:avLst/>
          </a:prstGeom>
          <a:noFill/>
          <a:ln/>
        </p:spPr>
        <p:txBody>
          <a:bodyPr wrap="square" lIns="0" tIns="0" rIns="0" bIns="0" rtlCol="0" anchor="ctr"/>
          <a:lstStyle/>
          <a:p>
            <a:pPr indent="0" marL="0">
              <a:lnSpc>
                <a:spcPct val="105000"/>
              </a:lnSpc>
              <a:buNone/>
            </a:pPr>
            <a:r>
              <a:rPr lang="en-US" sz="3200" b="1" dirty="0">
                <a:solidFill>
                  <a:srgbClr val="131F3C"/>
                </a:solidFill>
                <a:latin typeface="Cambria" pitchFamily="34" charset="0"/>
                <a:ea typeface="Cambria" pitchFamily="34" charset="-122"/>
                <a:cs typeface="Cambria" pitchFamily="34" charset="-120"/>
              </a:rPr>
              <a:t>Pre-registered before a single line</a:t>
            </a:r>
            <a:endParaRPr lang="en-US" sz="3200" dirty="0"/>
          </a:p>
          <a:p>
            <a:pPr indent="0" marL="0">
              <a:lnSpc>
                <a:spcPct val="105000"/>
              </a:lnSpc>
              <a:buNone/>
            </a:pPr>
            <a:r>
              <a:rPr lang="en-US" sz="3200" b="1" dirty="0">
                <a:solidFill>
                  <a:srgbClr val="131F3C"/>
                </a:solidFill>
                <a:latin typeface="Cambria" pitchFamily="34" charset="0"/>
                <a:ea typeface="Cambria" pitchFamily="34" charset="-122"/>
                <a:cs typeface="Cambria" pitchFamily="34" charset="-120"/>
              </a:rPr>
              <a:t>of backtest code existed</a:t>
            </a:r>
            <a:endParaRPr lang="en-US" sz="3200" dirty="0"/>
          </a:p>
        </p:txBody>
      </p:sp>
      <p:sp>
        <p:nvSpPr>
          <p:cNvPr id="4" name="Text 2"/>
          <p:cNvSpPr txBox="1"/>
          <p:nvPr/>
        </p:nvSpPr>
        <p:spPr>
          <a:xfrm>
            <a:off x="11368735" y="6355080"/>
            <a:ext cx="548640" cy="32004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04</a:t>
            </a:r>
            <a:endParaRPr lang="en-US" sz="1000" dirty="0"/>
          </a:p>
        </p:txBody>
      </p:sp>
      <p:sp>
        <p:nvSpPr>
          <p:cNvPr id="5" name="Shape 3"/>
          <p:cNvSpPr/>
          <p:nvPr/>
        </p:nvSpPr>
        <p:spPr>
          <a:xfrm>
            <a:off x="640080" y="2331720"/>
            <a:ext cx="502920" cy="502920"/>
          </a:xfrm>
          <a:prstGeom prst="ellipse">
            <a:avLst/>
          </a:prstGeom>
          <a:solidFill>
            <a:srgbClr val="131F3C"/>
          </a:solidFill>
          <a:ln/>
        </p:spPr>
      </p:sp>
      <p:sp>
        <p:nvSpPr>
          <p:cNvPr id="6" name="Text 4"/>
          <p:cNvSpPr txBox="1"/>
          <p:nvPr/>
        </p:nvSpPr>
        <p:spPr>
          <a:xfrm>
            <a:off x="640080" y="233172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txBox="1"/>
          <p:nvPr/>
        </p:nvSpPr>
        <p:spPr>
          <a:xfrm>
            <a:off x="1371600" y="2276856"/>
            <a:ext cx="6949440" cy="365760"/>
          </a:xfrm>
          <a:prstGeom prst="rect">
            <a:avLst/>
          </a:prstGeom>
          <a:noFill/>
          <a:ln/>
        </p:spPr>
        <p:txBody>
          <a:bodyPr wrap="square" lIns="0" tIns="0" rIns="0" bIns="0" rtlCol="0" anchor="ctr"/>
          <a:lstStyle/>
          <a:p>
            <a:pPr indent="0" marL="0">
              <a:buNone/>
            </a:pPr>
            <a:r>
              <a:rPr lang="en-US" sz="1800" b="1" dirty="0">
                <a:solidFill>
                  <a:srgbClr val="131F3C"/>
                </a:solidFill>
                <a:latin typeface="Cambria" pitchFamily="34" charset="0"/>
                <a:ea typeface="Cambria" pitchFamily="34" charset="-122"/>
                <a:cs typeface="Cambria" pitchFamily="34" charset="-120"/>
              </a:rPr>
              <a:t>Hypotheses fixed first</a:t>
            </a:r>
            <a:endParaRPr lang="en-US" sz="1800" dirty="0"/>
          </a:p>
        </p:txBody>
      </p:sp>
      <p:sp>
        <p:nvSpPr>
          <p:cNvPr id="8" name="Text 6"/>
          <p:cNvSpPr txBox="1"/>
          <p:nvPr/>
        </p:nvSpPr>
        <p:spPr>
          <a:xfrm>
            <a:off x="1371600" y="2679192"/>
            <a:ext cx="7040880" cy="777240"/>
          </a:xfrm>
          <a:prstGeom prst="rect">
            <a:avLst/>
          </a:prstGeom>
          <a:noFill/>
          <a:ln/>
        </p:spPr>
        <p:txBody>
          <a:bodyPr wrap="square" lIns="0" tIns="0" rIns="0" bIns="0" rtlCol="0" anchor="ctr"/>
          <a:lstStyle/>
          <a:p>
            <a:pPr indent="0" marL="0">
              <a:lnSpc>
                <a:spcPct val="120000"/>
              </a:lnSpc>
              <a:buNone/>
            </a:pPr>
            <a:r>
              <a:rPr lang="en-US" sz="1350" dirty="0">
                <a:solidFill>
                  <a:srgbClr val="20242E"/>
                </a:solidFill>
                <a:latin typeface="Calibri" pitchFamily="34" charset="0"/>
                <a:ea typeface="Calibri" pitchFamily="34" charset="-122"/>
                <a:cs typeface="Calibri" pitchFamily="34" charset="-120"/>
              </a:rPr>
              <a:t>Six trials, one bar, committed to git before any result existed, provable from the commit timestamps.</a:t>
            </a:r>
            <a:endParaRPr lang="en-US" sz="1350" dirty="0"/>
          </a:p>
        </p:txBody>
      </p:sp>
      <p:sp>
        <p:nvSpPr>
          <p:cNvPr id="9" name="Shape 7"/>
          <p:cNvSpPr/>
          <p:nvPr/>
        </p:nvSpPr>
        <p:spPr>
          <a:xfrm>
            <a:off x="640080" y="3630168"/>
            <a:ext cx="502920" cy="502920"/>
          </a:xfrm>
          <a:prstGeom prst="ellipse">
            <a:avLst/>
          </a:prstGeom>
          <a:solidFill>
            <a:srgbClr val="131F3C"/>
          </a:solidFill>
          <a:ln/>
        </p:spPr>
      </p:sp>
      <p:sp>
        <p:nvSpPr>
          <p:cNvPr id="10" name="Text 8"/>
          <p:cNvSpPr txBox="1"/>
          <p:nvPr/>
        </p:nvSpPr>
        <p:spPr>
          <a:xfrm>
            <a:off x="640080" y="36301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1" name="Text 9"/>
          <p:cNvSpPr txBox="1"/>
          <p:nvPr/>
        </p:nvSpPr>
        <p:spPr>
          <a:xfrm>
            <a:off x="1371600" y="3575304"/>
            <a:ext cx="6949440" cy="365760"/>
          </a:xfrm>
          <a:prstGeom prst="rect">
            <a:avLst/>
          </a:prstGeom>
          <a:noFill/>
          <a:ln/>
        </p:spPr>
        <p:txBody>
          <a:bodyPr wrap="square" lIns="0" tIns="0" rIns="0" bIns="0" rtlCol="0" anchor="ctr"/>
          <a:lstStyle/>
          <a:p>
            <a:pPr indent="0" marL="0">
              <a:buNone/>
            </a:pPr>
            <a:r>
              <a:rPr lang="en-US" sz="1800" b="1" dirty="0">
                <a:solidFill>
                  <a:srgbClr val="131F3C"/>
                </a:solidFill>
                <a:latin typeface="Cambria" pitchFamily="34" charset="0"/>
                <a:ea typeface="Cambria" pitchFamily="34" charset="-122"/>
                <a:cs typeface="Cambria" pitchFamily="34" charset="-120"/>
              </a:rPr>
              <a:t>Holdout sealed in code</a:t>
            </a:r>
            <a:endParaRPr lang="en-US" sz="1800" dirty="0"/>
          </a:p>
        </p:txBody>
      </p:sp>
      <p:sp>
        <p:nvSpPr>
          <p:cNvPr id="12" name="Text 10"/>
          <p:cNvSpPr txBox="1"/>
          <p:nvPr/>
        </p:nvSpPr>
        <p:spPr>
          <a:xfrm>
            <a:off x="1371600" y="3977640"/>
            <a:ext cx="7040880" cy="777240"/>
          </a:xfrm>
          <a:prstGeom prst="rect">
            <a:avLst/>
          </a:prstGeom>
          <a:noFill/>
          <a:ln/>
        </p:spPr>
        <p:txBody>
          <a:bodyPr wrap="square" lIns="0" tIns="0" rIns="0" bIns="0" rtlCol="0" anchor="ctr"/>
          <a:lstStyle/>
          <a:p>
            <a:pPr indent="0" marL="0">
              <a:lnSpc>
                <a:spcPct val="120000"/>
              </a:lnSpc>
              <a:buNone/>
            </a:pPr>
            <a:r>
              <a:rPr lang="en-US" sz="1350" dirty="0">
                <a:solidFill>
                  <a:srgbClr val="20242E"/>
                </a:solidFill>
                <a:latin typeface="Calibri" pitchFamily="34" charset="0"/>
                <a:ea typeface="Calibri" pitchFamily="34" charset="-122"/>
                <a:cs typeface="Calibri" pitchFamily="34" charset="-120"/>
              </a:rPr>
              <a:t>2023–2026 data cannot be loaded without an explicit, logged unseal call. One shot, only after a trial clears its development bar.</a:t>
            </a:r>
            <a:endParaRPr lang="en-US" sz="1350" dirty="0"/>
          </a:p>
        </p:txBody>
      </p:sp>
      <p:sp>
        <p:nvSpPr>
          <p:cNvPr id="13" name="Shape 11"/>
          <p:cNvSpPr/>
          <p:nvPr/>
        </p:nvSpPr>
        <p:spPr>
          <a:xfrm>
            <a:off x="640080" y="4928616"/>
            <a:ext cx="502920" cy="502920"/>
          </a:xfrm>
          <a:prstGeom prst="ellipse">
            <a:avLst/>
          </a:prstGeom>
          <a:solidFill>
            <a:srgbClr val="131F3C"/>
          </a:solidFill>
          <a:ln/>
        </p:spPr>
      </p:sp>
      <p:sp>
        <p:nvSpPr>
          <p:cNvPr id="14" name="Text 12"/>
          <p:cNvSpPr txBox="1"/>
          <p:nvPr/>
        </p:nvSpPr>
        <p:spPr>
          <a:xfrm>
            <a:off x="640080" y="4928616"/>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5" name="Text 13"/>
          <p:cNvSpPr txBox="1"/>
          <p:nvPr/>
        </p:nvSpPr>
        <p:spPr>
          <a:xfrm>
            <a:off x="1371600" y="4873752"/>
            <a:ext cx="6949440" cy="365760"/>
          </a:xfrm>
          <a:prstGeom prst="rect">
            <a:avLst/>
          </a:prstGeom>
          <a:noFill/>
          <a:ln/>
        </p:spPr>
        <p:txBody>
          <a:bodyPr wrap="square" lIns="0" tIns="0" rIns="0" bIns="0" rtlCol="0" anchor="ctr"/>
          <a:lstStyle/>
          <a:p>
            <a:pPr indent="0" marL="0">
              <a:buNone/>
            </a:pPr>
            <a:r>
              <a:rPr lang="en-US" sz="1800" b="1" dirty="0">
                <a:solidFill>
                  <a:srgbClr val="131F3C"/>
                </a:solidFill>
                <a:latin typeface="Cambria" pitchFamily="34" charset="0"/>
                <a:ea typeface="Cambria" pitchFamily="34" charset="-122"/>
                <a:cs typeface="Cambria" pitchFamily="34" charset="-120"/>
              </a:rPr>
              <a:t>Multiple-testing corrected</a:t>
            </a:r>
            <a:endParaRPr lang="en-US" sz="1800" dirty="0"/>
          </a:p>
        </p:txBody>
      </p:sp>
      <p:sp>
        <p:nvSpPr>
          <p:cNvPr id="16" name="Text 14"/>
          <p:cNvSpPr txBox="1"/>
          <p:nvPr/>
        </p:nvSpPr>
        <p:spPr>
          <a:xfrm>
            <a:off x="1371600" y="5276088"/>
            <a:ext cx="7040880" cy="777240"/>
          </a:xfrm>
          <a:prstGeom prst="rect">
            <a:avLst/>
          </a:prstGeom>
          <a:noFill/>
          <a:ln/>
        </p:spPr>
        <p:txBody>
          <a:bodyPr wrap="square" lIns="0" tIns="0" rIns="0" bIns="0" rtlCol="0" anchor="ctr"/>
          <a:lstStyle/>
          <a:p>
            <a:pPr indent="0" marL="0">
              <a:lnSpc>
                <a:spcPct val="120000"/>
              </a:lnSpc>
              <a:buNone/>
            </a:pPr>
            <a:r>
              <a:rPr lang="en-US" sz="1350" dirty="0">
                <a:solidFill>
                  <a:srgbClr val="20242E"/>
                </a:solidFill>
                <a:latin typeface="Calibri" pitchFamily="34" charset="0"/>
                <a:ea typeface="Calibri" pitchFamily="34" charset="-122"/>
                <a:cs typeface="Calibri" pitchFamily="34" charset="-120"/>
              </a:rPr>
              <a:t>The pass bar accounts for every trial run, not just the one that happened to win.</a:t>
            </a:r>
            <a:endParaRPr lang="en-US" sz="1350" dirty="0"/>
          </a:p>
        </p:txBody>
      </p:sp>
      <p:sp>
        <p:nvSpPr>
          <p:cNvPr id="17" name="Shape 15"/>
          <p:cNvSpPr/>
          <p:nvPr/>
        </p:nvSpPr>
        <p:spPr>
          <a:xfrm>
            <a:off x="8732520" y="2286000"/>
            <a:ext cx="2834640" cy="3657600"/>
          </a:xfrm>
          <a:prstGeom prst="roundRect">
            <a:avLst>
              <a:gd name="adj" fmla="val 3871"/>
            </a:avLst>
          </a:prstGeom>
          <a:solidFill>
            <a:srgbClr val="131F3C"/>
          </a:solidFill>
          <a:ln/>
        </p:spPr>
      </p:sp>
      <p:sp>
        <p:nvSpPr>
          <p:cNvPr id="18" name="Text 16"/>
          <p:cNvSpPr txBox="1"/>
          <p:nvPr/>
        </p:nvSpPr>
        <p:spPr>
          <a:xfrm>
            <a:off x="9006840" y="2560320"/>
            <a:ext cx="2331720" cy="320040"/>
          </a:xfrm>
          <a:prstGeom prst="rect">
            <a:avLst/>
          </a:prstGeom>
          <a:noFill/>
          <a:ln/>
        </p:spPr>
        <p:txBody>
          <a:bodyPr wrap="square" lIns="0" tIns="0" rIns="0" bIns="0" rtlCol="0" anchor="ctr"/>
          <a:lstStyle/>
          <a:p>
            <a:pPr indent="0" marL="0">
              <a:buNone/>
            </a:pPr>
            <a:r>
              <a:rPr lang="en-US" sz="1100" b="1" spc="150" kern="0" dirty="0">
                <a:solidFill>
                  <a:srgbClr val="D9A441"/>
                </a:solidFill>
                <a:latin typeface="Calibri" pitchFamily="34" charset="0"/>
                <a:ea typeface="Calibri" pitchFamily="34" charset="-122"/>
                <a:cs typeface="Calibri" pitchFamily="34" charset="-120"/>
              </a:rPr>
              <a:t>WHY THIS EXISTS</a:t>
            </a:r>
            <a:endParaRPr lang="en-US" sz="1100" dirty="0"/>
          </a:p>
        </p:txBody>
      </p:sp>
      <p:sp>
        <p:nvSpPr>
          <p:cNvPr id="19" name="Text 17"/>
          <p:cNvSpPr txBox="1"/>
          <p:nvPr/>
        </p:nvSpPr>
        <p:spPr>
          <a:xfrm>
            <a:off x="9006840" y="2971800"/>
            <a:ext cx="2331720" cy="1280160"/>
          </a:xfrm>
          <a:prstGeom prst="rect">
            <a:avLst/>
          </a:prstGeom>
          <a:noFill/>
          <a:ln/>
        </p:spPr>
        <p:txBody>
          <a:bodyPr wrap="square" lIns="0" tIns="0" rIns="0" bIns="0" rtlCol="0" anchor="ctr"/>
          <a:lstStyle/>
          <a:p>
            <a:pPr indent="0" marL="0">
              <a:lnSpc>
                <a:spcPct val="125000"/>
              </a:lnSpc>
              <a:buNone/>
            </a:pPr>
            <a:r>
              <a:rPr lang="en-US" sz="1300" dirty="0">
                <a:solidFill>
                  <a:srgbClr val="C7D2E8"/>
                </a:solidFill>
                <a:latin typeface="Calibri" pitchFamily="34" charset="0"/>
                <a:ea typeface="Calibri" pitchFamily="34" charset="-122"/>
                <a:cs typeface="Calibri" pitchFamily="34" charset="-120"/>
              </a:rPr>
              <a:t>Two prior projects by the same author died of the same disease: too many trials against too short a window.</a:t>
            </a:r>
            <a:endParaRPr lang="en-US" sz="1300" dirty="0"/>
          </a:p>
        </p:txBody>
      </p:sp>
      <p:sp>
        <p:nvSpPr>
          <p:cNvPr id="20" name="Text 18"/>
          <p:cNvSpPr txBox="1"/>
          <p:nvPr/>
        </p:nvSpPr>
        <p:spPr>
          <a:xfrm>
            <a:off x="9006840" y="4480560"/>
            <a:ext cx="2331720" cy="1280160"/>
          </a:xfrm>
          <a:prstGeom prst="rect">
            <a:avLst/>
          </a:prstGeom>
          <a:noFill/>
          <a:ln/>
        </p:spPr>
        <p:txBody>
          <a:bodyPr wrap="square" lIns="0" tIns="0" rIns="0" bIns="0" rtlCol="0" anchor="ctr"/>
          <a:lstStyle/>
          <a:p>
            <a:pPr indent="0" marL="0">
              <a:lnSpc>
                <a:spcPct val="125000"/>
              </a:lnSpc>
              <a:buNone/>
            </a:pPr>
            <a:r>
              <a:rPr lang="en-US" sz="1350" b="1" i="1" dirty="0">
                <a:solidFill>
                  <a:srgbClr val="FFFFFF"/>
                </a:solidFill>
                <a:latin typeface="Calibri" pitchFamily="34" charset="0"/>
                <a:ea typeface="Calibri" pitchFamily="34" charset="-122"/>
                <a:cs typeface="Calibri" pitchFamily="34" charset="-120"/>
              </a:rPr>
              <a:t>“Few trials, long window” is the fix, not a lower bar.</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640080" y="502920"/>
            <a:ext cx="9144000" cy="36576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HYPOTHESIS 1</a:t>
            </a:r>
            <a:endParaRPr lang="en-US" sz="1300" dirty="0"/>
          </a:p>
        </p:txBody>
      </p:sp>
      <p:sp>
        <p:nvSpPr>
          <p:cNvPr id="3" name="Text 1"/>
          <p:cNvSpPr txBox="1"/>
          <p:nvPr/>
        </p:nvSpPr>
        <p:spPr>
          <a:xfrm>
            <a:off x="640080" y="914400"/>
            <a:ext cx="10789920" cy="1005840"/>
          </a:xfrm>
          <a:prstGeom prst="rect">
            <a:avLst/>
          </a:prstGeom>
          <a:noFill/>
          <a:ln/>
        </p:spPr>
        <p:txBody>
          <a:bodyPr wrap="square" lIns="0" tIns="0" rIns="0" bIns="0" rtlCol="0" anchor="ctr"/>
          <a:lstStyle/>
          <a:p>
            <a:pPr indent="0" marL="0">
              <a:lnSpc>
                <a:spcPct val="105000"/>
              </a:lnSpc>
              <a:buNone/>
            </a:pPr>
            <a:r>
              <a:rPr lang="en-US" sz="3200" b="1" dirty="0">
                <a:solidFill>
                  <a:srgbClr val="131F3C"/>
                </a:solidFill>
                <a:latin typeface="Cambria" pitchFamily="34" charset="0"/>
                <a:ea typeface="Cambria" pitchFamily="34" charset="-122"/>
                <a:cs typeface="Cambria" pitchFamily="34" charset="-120"/>
              </a:rPr>
              <a:t>The edge is real, and it clears</a:t>
            </a:r>
            <a:endParaRPr lang="en-US" sz="3200" dirty="0"/>
          </a:p>
          <a:p>
            <a:pPr indent="0" marL="0">
              <a:lnSpc>
                <a:spcPct val="105000"/>
              </a:lnSpc>
              <a:buNone/>
            </a:pPr>
            <a:r>
              <a:rPr lang="en-US" sz="3200" b="1" dirty="0">
                <a:solidFill>
                  <a:srgbClr val="131F3C"/>
                </a:solidFill>
                <a:latin typeface="Cambria" pitchFamily="34" charset="0"/>
                <a:ea typeface="Cambria" pitchFamily="34" charset="-122"/>
                <a:cs typeface="Cambria" pitchFamily="34" charset="-120"/>
              </a:rPr>
              <a:t>the bar decisively</a:t>
            </a:r>
            <a:endParaRPr lang="en-US" sz="3200" dirty="0"/>
          </a:p>
        </p:txBody>
      </p:sp>
      <p:sp>
        <p:nvSpPr>
          <p:cNvPr id="4" name="Text 2"/>
          <p:cNvSpPr txBox="1"/>
          <p:nvPr/>
        </p:nvSpPr>
        <p:spPr>
          <a:xfrm>
            <a:off x="11368735" y="6355080"/>
            <a:ext cx="548640" cy="32004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05</a:t>
            </a:r>
            <a:endParaRPr lang="en-US" sz="1000" dirty="0"/>
          </a:p>
        </p:txBody>
      </p:sp>
      <p:sp>
        <p:nvSpPr>
          <p:cNvPr id="5" name="Text 3"/>
          <p:cNvSpPr txBox="1"/>
          <p:nvPr/>
        </p:nvSpPr>
        <p:spPr>
          <a:xfrm>
            <a:off x="640080" y="2286000"/>
            <a:ext cx="3200400" cy="868680"/>
          </a:xfrm>
          <a:prstGeom prst="rect">
            <a:avLst/>
          </a:prstGeom>
          <a:noFill/>
          <a:ln/>
        </p:spPr>
        <p:txBody>
          <a:bodyPr wrap="square" lIns="0" tIns="0" rIns="0" bIns="0" rtlCol="0" anchor="ctr"/>
          <a:lstStyle/>
          <a:p>
            <a:pPr algn="l" indent="0" marL="0">
              <a:buNone/>
            </a:pPr>
            <a:r>
              <a:rPr lang="en-US" sz="4400" b="1" dirty="0">
                <a:solidFill>
                  <a:srgbClr val="131F3C"/>
                </a:solidFill>
                <a:latin typeface="Cambria" pitchFamily="34" charset="0"/>
                <a:ea typeface="Cambria" pitchFamily="34" charset="-122"/>
                <a:cs typeface="Cambria" pitchFamily="34" charset="-120"/>
              </a:rPr>
              <a:t>+3.68</a:t>
            </a:r>
            <a:endParaRPr lang="en-US" sz="4400" dirty="0"/>
          </a:p>
        </p:txBody>
      </p:sp>
      <p:sp>
        <p:nvSpPr>
          <p:cNvPr id="6" name="Text 4"/>
          <p:cNvSpPr txBox="1"/>
          <p:nvPr/>
        </p:nvSpPr>
        <p:spPr>
          <a:xfrm>
            <a:off x="640080" y="3127248"/>
            <a:ext cx="3200400" cy="640080"/>
          </a:xfrm>
          <a:prstGeom prst="rect">
            <a:avLst/>
          </a:prstGeom>
          <a:noFill/>
          <a:ln/>
        </p:spPr>
        <p:txBody>
          <a:bodyPr wrap="square" lIns="0" tIns="0" rIns="0" bIns="0" rtlCol="0" anchor="ctr"/>
          <a:lstStyle/>
          <a:p>
            <a:pPr algn="l" indent="0" marL="0">
              <a:lnSpc>
                <a:spcPct val="115000"/>
              </a:lnSpc>
              <a:buNone/>
            </a:pPr>
            <a:r>
              <a:rPr lang="en-US" sz="1250" dirty="0">
                <a:solidFill>
                  <a:srgbClr val="6B7280"/>
                </a:solidFill>
                <a:latin typeface="Calibri" pitchFamily="34" charset="0"/>
                <a:ea typeface="Calibri" pitchFamily="34" charset="-122"/>
                <a:cs typeface="Calibri" pitchFamily="34" charset="-120"/>
              </a:rPr>
              <a:t>mean volatility risk premium,</a:t>
            </a:r>
            <a:endParaRPr lang="en-US" sz="1250" dirty="0"/>
          </a:p>
          <a:p>
            <a:pPr algn="l" indent="0" marL="0">
              <a:lnSpc>
                <a:spcPct val="115000"/>
              </a:lnSpc>
              <a:buNone/>
            </a:pPr>
            <a:r>
              <a:rPr lang="en-US" sz="1250" dirty="0">
                <a:solidFill>
                  <a:srgbClr val="6B7280"/>
                </a:solidFill>
                <a:latin typeface="Calibri" pitchFamily="34" charset="0"/>
                <a:ea typeface="Calibri" pitchFamily="34" charset="-122"/>
                <a:cs typeface="Calibri" pitchFamily="34" charset="-120"/>
              </a:rPr>
              <a:t>in annualised vol points</a:t>
            </a:r>
            <a:endParaRPr lang="en-US" sz="1250" dirty="0"/>
          </a:p>
        </p:txBody>
      </p:sp>
      <p:sp>
        <p:nvSpPr>
          <p:cNvPr id="7" name="Text 5"/>
          <p:cNvSpPr txBox="1"/>
          <p:nvPr/>
        </p:nvSpPr>
        <p:spPr>
          <a:xfrm>
            <a:off x="3931920" y="2286000"/>
            <a:ext cx="3200400" cy="868680"/>
          </a:xfrm>
          <a:prstGeom prst="rect">
            <a:avLst/>
          </a:prstGeom>
          <a:noFill/>
          <a:ln/>
        </p:spPr>
        <p:txBody>
          <a:bodyPr wrap="square" lIns="0" tIns="0" rIns="0" bIns="0" rtlCol="0" anchor="ctr"/>
          <a:lstStyle/>
          <a:p>
            <a:pPr algn="l" indent="0" marL="0">
              <a:buNone/>
            </a:pPr>
            <a:r>
              <a:rPr lang="en-US" sz="4400" b="1" dirty="0">
                <a:solidFill>
                  <a:srgbClr val="131F3C"/>
                </a:solidFill>
                <a:latin typeface="Cambria" pitchFamily="34" charset="0"/>
                <a:ea typeface="Cambria" pitchFamily="34" charset="-122"/>
                <a:cs typeface="Cambria" pitchFamily="34" charset="-120"/>
              </a:rPr>
              <a:t>1,741</a:t>
            </a:r>
            <a:endParaRPr lang="en-US" sz="4400" dirty="0"/>
          </a:p>
        </p:txBody>
      </p:sp>
      <p:sp>
        <p:nvSpPr>
          <p:cNvPr id="8" name="Text 6"/>
          <p:cNvSpPr txBox="1"/>
          <p:nvPr/>
        </p:nvSpPr>
        <p:spPr>
          <a:xfrm>
            <a:off x="3931920" y="3127248"/>
            <a:ext cx="3200400" cy="640080"/>
          </a:xfrm>
          <a:prstGeom prst="rect">
            <a:avLst/>
          </a:prstGeom>
          <a:noFill/>
          <a:ln/>
        </p:spPr>
        <p:txBody>
          <a:bodyPr wrap="square" lIns="0" tIns="0" rIns="0" bIns="0" rtlCol="0" anchor="ctr"/>
          <a:lstStyle/>
          <a:p>
            <a:pPr algn="l" indent="0" marL="0">
              <a:lnSpc>
                <a:spcPct val="115000"/>
              </a:lnSpc>
              <a:buNone/>
            </a:pPr>
            <a:r>
              <a:rPr lang="en-US" sz="1250" dirty="0">
                <a:solidFill>
                  <a:srgbClr val="6B7280"/>
                </a:solidFill>
                <a:latin typeface="Calibri" pitchFamily="34" charset="0"/>
                <a:ea typeface="Calibri" pitchFamily="34" charset="-122"/>
                <a:cs typeface="Calibri" pitchFamily="34" charset="-120"/>
              </a:rPr>
              <a:t>daily observations,</a:t>
            </a:r>
            <a:endParaRPr lang="en-US" sz="1250" dirty="0"/>
          </a:p>
          <a:p>
            <a:pPr algn="l" indent="0" marL="0">
              <a:lnSpc>
                <a:spcPct val="115000"/>
              </a:lnSpc>
              <a:buNone/>
            </a:pPr>
            <a:r>
              <a:rPr lang="en-US" sz="1250" dirty="0">
                <a:solidFill>
                  <a:srgbClr val="6B7280"/>
                </a:solidFill>
                <a:latin typeface="Calibri" pitchFamily="34" charset="0"/>
                <a:ea typeface="Calibri" pitchFamily="34" charset="-122"/>
                <a:cs typeface="Calibri" pitchFamily="34" charset="-120"/>
              </a:rPr>
              <a:t>2016–2022 development window</a:t>
            </a:r>
            <a:endParaRPr lang="en-US" sz="1250" dirty="0"/>
          </a:p>
        </p:txBody>
      </p:sp>
      <p:sp>
        <p:nvSpPr>
          <p:cNvPr id="9" name="Text 7"/>
          <p:cNvSpPr txBox="1"/>
          <p:nvPr/>
        </p:nvSpPr>
        <p:spPr>
          <a:xfrm>
            <a:off x="7223760" y="2286000"/>
            <a:ext cx="4114800" cy="868680"/>
          </a:xfrm>
          <a:prstGeom prst="rect">
            <a:avLst/>
          </a:prstGeom>
          <a:noFill/>
          <a:ln/>
        </p:spPr>
        <p:txBody>
          <a:bodyPr wrap="square" lIns="0" tIns="0" rIns="0" bIns="0" rtlCol="0" anchor="ctr"/>
          <a:lstStyle/>
          <a:p>
            <a:pPr algn="l" indent="0" marL="0">
              <a:buNone/>
            </a:pPr>
            <a:r>
              <a:rPr lang="en-US" sz="4400" b="1" dirty="0">
                <a:solidFill>
                  <a:srgbClr val="3F8F6B"/>
                </a:solidFill>
                <a:latin typeface="Cambria" pitchFamily="34" charset="0"/>
                <a:ea typeface="Cambria" pitchFamily="34" charset="-122"/>
                <a:cs typeface="Cambria" pitchFamily="34" charset="-120"/>
              </a:rPr>
              <a:t>t = +4.74</a:t>
            </a:r>
            <a:endParaRPr lang="en-US" sz="4400" dirty="0"/>
          </a:p>
        </p:txBody>
      </p:sp>
      <p:sp>
        <p:nvSpPr>
          <p:cNvPr id="10" name="Text 8"/>
          <p:cNvSpPr txBox="1"/>
          <p:nvPr/>
        </p:nvSpPr>
        <p:spPr>
          <a:xfrm>
            <a:off x="7223760" y="3127248"/>
            <a:ext cx="4114800" cy="640080"/>
          </a:xfrm>
          <a:prstGeom prst="rect">
            <a:avLst/>
          </a:prstGeom>
          <a:noFill/>
          <a:ln/>
        </p:spPr>
        <p:txBody>
          <a:bodyPr wrap="square" lIns="0" tIns="0" rIns="0" bIns="0" rtlCol="0" anchor="ctr"/>
          <a:lstStyle/>
          <a:p>
            <a:pPr algn="l" indent="0" marL="0">
              <a:lnSpc>
                <a:spcPct val="115000"/>
              </a:lnSpc>
              <a:buNone/>
            </a:pPr>
            <a:r>
              <a:rPr lang="en-US" sz="1250" dirty="0">
                <a:solidFill>
                  <a:srgbClr val="6B7280"/>
                </a:solidFill>
                <a:latin typeface="Calibri" pitchFamily="34" charset="0"/>
                <a:ea typeface="Calibri" pitchFamily="34" charset="-122"/>
                <a:cs typeface="Calibri" pitchFamily="34" charset="-120"/>
              </a:rPr>
              <a:t>Newey-West corrected significance,</a:t>
            </a:r>
            <a:endParaRPr lang="en-US" sz="1250" dirty="0"/>
          </a:p>
          <a:p>
            <a:pPr algn="l" indent="0" marL="0">
              <a:lnSpc>
                <a:spcPct val="115000"/>
              </a:lnSpc>
              <a:buNone/>
            </a:pPr>
            <a:r>
              <a:rPr lang="en-US" sz="1250" dirty="0">
                <a:solidFill>
                  <a:srgbClr val="6B7280"/>
                </a:solidFill>
                <a:latin typeface="Calibri" pitchFamily="34" charset="0"/>
                <a:ea typeface="Calibri" pitchFamily="34" charset="-122"/>
                <a:cs typeface="Calibri" pitchFamily="34" charset="-120"/>
              </a:rPr>
              <a:t>one-sided p &lt; 0.0001</a:t>
            </a:r>
            <a:endParaRPr lang="en-US" sz="1250" dirty="0"/>
          </a:p>
        </p:txBody>
      </p:sp>
      <p:sp>
        <p:nvSpPr>
          <p:cNvPr id="11" name="Shape 9"/>
          <p:cNvSpPr/>
          <p:nvPr/>
        </p:nvSpPr>
        <p:spPr>
          <a:xfrm>
            <a:off x="640080" y="3977640"/>
            <a:ext cx="10698480" cy="0"/>
          </a:xfrm>
          <a:prstGeom prst="line">
            <a:avLst/>
          </a:prstGeom>
          <a:noFill/>
          <a:ln w="12700">
            <a:solidFill>
              <a:srgbClr val="E3E7F0"/>
            </a:solidFill>
            <a:prstDash val="solid"/>
          </a:ln>
        </p:spPr>
      </p:sp>
      <p:graphicFrame>
        <p:nvGraphicFramePr>
          <p:cNvPr id="12" name="Chart 0" descr=""/>
          <p:cNvGraphicFramePr/>
          <p:nvPr/>
        </p:nvGraphicFramePr>
        <p:xfrm>
          <a:off x="640080" y="4251960"/>
          <a:ext cx="5852160" cy="228600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6858000" y="4434840"/>
            <a:ext cx="4480560" cy="1920240"/>
          </a:xfrm>
          <a:prstGeom prst="rect">
            <a:avLst/>
          </a:prstGeom>
          <a:noFill/>
          <a:ln/>
        </p:spPr>
        <p:txBody>
          <a:bodyPr wrap="square" lIns="0" tIns="0" rIns="0" bIns="0" rtlCol="0" anchor="ctr"/>
          <a:lstStyle/>
          <a:p>
            <a:pPr indent="0" marL="0">
              <a:lnSpc>
                <a:spcPct val="130000"/>
              </a:lnSpc>
              <a:buNone/>
            </a:pPr>
            <a:r>
              <a:rPr lang="en-US" sz="1350" dirty="0">
                <a:solidFill>
                  <a:srgbClr val="20242E"/>
                </a:solidFill>
                <a:latin typeface="Calibri" pitchFamily="34" charset="0"/>
                <a:ea typeface="Calibri" pitchFamily="34" charset="-122"/>
                <a:cs typeface="Calibri" pitchFamily="34" charset="-120"/>
              </a:rPr>
              <a:t>21-day forward windows sampled daily overlap by 20 of 21 days, so the naive t-stat is invalid. The correction shrinks it ~4x. H1 still clears the bar with room to spare.</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640080" y="502920"/>
            <a:ext cx="9144000" cy="36576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REPORTED WITH EQUAL WEIGHT</a:t>
            </a:r>
            <a:endParaRPr lang="en-US" sz="1300" dirty="0"/>
          </a:p>
        </p:txBody>
      </p:sp>
      <p:sp>
        <p:nvSpPr>
          <p:cNvPr id="3" name="Text 1"/>
          <p:cNvSpPr txBox="1"/>
          <p:nvPr/>
        </p:nvSpPr>
        <p:spPr>
          <a:xfrm>
            <a:off x="640080" y="914400"/>
            <a:ext cx="10789920" cy="1005840"/>
          </a:xfrm>
          <a:prstGeom prst="rect">
            <a:avLst/>
          </a:prstGeom>
          <a:noFill/>
          <a:ln/>
        </p:spPr>
        <p:txBody>
          <a:bodyPr wrap="square" lIns="0" tIns="0" rIns="0" bIns="0" rtlCol="0" anchor="ctr"/>
          <a:lstStyle/>
          <a:p>
            <a:pPr indent="0" marL="0">
              <a:lnSpc>
                <a:spcPct val="105000"/>
              </a:lnSpc>
              <a:buNone/>
            </a:pPr>
            <a:r>
              <a:rPr lang="en-US" sz="3200" b="1" dirty="0">
                <a:solidFill>
                  <a:srgbClr val="131F3C"/>
                </a:solidFill>
                <a:latin typeface="Cambria" pitchFamily="34" charset="0"/>
                <a:ea typeface="Cambria" pitchFamily="34" charset="-122"/>
                <a:cs typeface="Cambria" pitchFamily="34" charset="-120"/>
              </a:rPr>
              <a:t>What the research found</a:t>
            </a:r>
            <a:endParaRPr lang="en-US" sz="3200" dirty="0"/>
          </a:p>
          <a:p>
            <a:pPr indent="0" marL="0">
              <a:lnSpc>
                <a:spcPct val="105000"/>
              </a:lnSpc>
              <a:buNone/>
            </a:pPr>
            <a:r>
              <a:rPr lang="en-US" sz="3200" b="1" dirty="0">
                <a:solidFill>
                  <a:srgbClr val="131F3C"/>
                </a:solidFill>
                <a:latin typeface="Cambria" pitchFamily="34" charset="0"/>
                <a:ea typeface="Cambria" pitchFamily="34" charset="-122"/>
                <a:cs typeface="Cambria" pitchFamily="34" charset="-120"/>
              </a:rPr>
              <a:t>that did NOT work</a:t>
            </a:r>
            <a:endParaRPr lang="en-US" sz="3200" dirty="0"/>
          </a:p>
        </p:txBody>
      </p:sp>
      <p:sp>
        <p:nvSpPr>
          <p:cNvPr id="4" name="Text 2"/>
          <p:cNvSpPr txBox="1"/>
          <p:nvPr/>
        </p:nvSpPr>
        <p:spPr>
          <a:xfrm>
            <a:off x="11368735" y="6355080"/>
            <a:ext cx="548640" cy="32004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06</a:t>
            </a:r>
            <a:endParaRPr lang="en-US" sz="1000" dirty="0"/>
          </a:p>
        </p:txBody>
      </p:sp>
      <p:sp>
        <p:nvSpPr>
          <p:cNvPr id="5" name="Shape 3"/>
          <p:cNvSpPr/>
          <p:nvPr/>
        </p:nvSpPr>
        <p:spPr>
          <a:xfrm>
            <a:off x="640080" y="2286000"/>
            <a:ext cx="10881360" cy="1170432"/>
          </a:xfrm>
          <a:prstGeom prst="roundRect">
            <a:avLst>
              <a:gd name="adj" fmla="val 7813"/>
            </a:avLst>
          </a:prstGeom>
          <a:solidFill>
            <a:srgbClr val="FFFFFF"/>
          </a:solidFill>
          <a:ln w="12700">
            <a:solidFill>
              <a:srgbClr val="E3E7F0"/>
            </a:solidFill>
            <a:prstDash val="solid"/>
          </a:ln>
        </p:spPr>
      </p:sp>
      <p:sp>
        <p:nvSpPr>
          <p:cNvPr id="6" name="Text 4"/>
          <p:cNvSpPr txBox="1"/>
          <p:nvPr/>
        </p:nvSpPr>
        <p:spPr>
          <a:xfrm>
            <a:off x="960120" y="2395728"/>
            <a:ext cx="2926080" cy="914400"/>
          </a:xfrm>
          <a:prstGeom prst="rect">
            <a:avLst/>
          </a:prstGeom>
          <a:noFill/>
          <a:ln/>
        </p:spPr>
        <p:txBody>
          <a:bodyPr wrap="square" lIns="0" tIns="0" rIns="0" bIns="0" rtlCol="0" anchor="ctr"/>
          <a:lstStyle/>
          <a:p>
            <a:pPr indent="0" marL="0">
              <a:buNone/>
            </a:pPr>
            <a:r>
              <a:rPr lang="en-US" sz="1500" b="1" dirty="0">
                <a:solidFill>
                  <a:srgbClr val="131F3C"/>
                </a:solidFill>
                <a:latin typeface="Cambria" pitchFamily="34" charset="0"/>
                <a:ea typeface="Cambria" pitchFamily="34" charset="-122"/>
                <a:cs typeface="Cambria" pitchFamily="34" charset="-120"/>
              </a:rPr>
              <a:t>Regime gate prediction</a:t>
            </a:r>
            <a:endParaRPr lang="en-US" sz="1500" dirty="0"/>
          </a:p>
        </p:txBody>
      </p:sp>
      <p:sp>
        <p:nvSpPr>
          <p:cNvPr id="7" name="Text 5"/>
          <p:cNvSpPr txBox="1"/>
          <p:nvPr/>
        </p:nvSpPr>
        <p:spPr>
          <a:xfrm>
            <a:off x="4023360" y="2395728"/>
            <a:ext cx="7223760" cy="914400"/>
          </a:xfrm>
          <a:prstGeom prst="rect">
            <a:avLst/>
          </a:prstGeom>
          <a:noFill/>
          <a:ln/>
        </p:spPr>
        <p:txBody>
          <a:bodyPr wrap="square" lIns="0" tIns="0" rIns="0" bIns="0" rtlCol="0" anchor="ctr"/>
          <a:lstStyle/>
          <a:p>
            <a:pPr indent="0" marL="0">
              <a:lnSpc>
                <a:spcPct val="120000"/>
              </a:lnSpc>
              <a:buNone/>
            </a:pPr>
            <a:r>
              <a:rPr lang="en-US" sz="1300" dirty="0">
                <a:solidFill>
                  <a:srgbClr val="20242E"/>
                </a:solidFill>
                <a:latin typeface="Calibri" pitchFamily="34" charset="0"/>
                <a:ea typeface="Calibri" pitchFamily="34" charset="-122"/>
                <a:cs typeface="Calibri" pitchFamily="34" charset="-120"/>
              </a:rPr>
              <a:t>Predicted contango pays ≥1.0 pt more than backwardation. Measured: only +0.59. Recorded as WRONG, not dropped.</a:t>
            </a:r>
            <a:endParaRPr lang="en-US" sz="1300" dirty="0"/>
          </a:p>
        </p:txBody>
      </p:sp>
      <p:sp>
        <p:nvSpPr>
          <p:cNvPr id="8" name="Shape 6"/>
          <p:cNvSpPr/>
          <p:nvPr/>
        </p:nvSpPr>
        <p:spPr>
          <a:xfrm>
            <a:off x="640080" y="3639312"/>
            <a:ext cx="10881360" cy="1170432"/>
          </a:xfrm>
          <a:prstGeom prst="roundRect">
            <a:avLst>
              <a:gd name="adj" fmla="val 7813"/>
            </a:avLst>
          </a:prstGeom>
          <a:solidFill>
            <a:srgbClr val="FFFFFF"/>
          </a:solidFill>
          <a:ln w="12700">
            <a:solidFill>
              <a:srgbClr val="E3E7F0"/>
            </a:solidFill>
            <a:prstDash val="solid"/>
          </a:ln>
        </p:spPr>
      </p:sp>
      <p:sp>
        <p:nvSpPr>
          <p:cNvPr id="9" name="Text 7"/>
          <p:cNvSpPr txBox="1"/>
          <p:nvPr/>
        </p:nvSpPr>
        <p:spPr>
          <a:xfrm>
            <a:off x="960120" y="3749040"/>
            <a:ext cx="2926080" cy="914400"/>
          </a:xfrm>
          <a:prstGeom prst="rect">
            <a:avLst/>
          </a:prstGeom>
          <a:noFill/>
          <a:ln/>
        </p:spPr>
        <p:txBody>
          <a:bodyPr wrap="square" lIns="0" tIns="0" rIns="0" bIns="0" rtlCol="0" anchor="ctr"/>
          <a:lstStyle/>
          <a:p>
            <a:pPr indent="0" marL="0">
              <a:buNone/>
            </a:pPr>
            <a:r>
              <a:rPr lang="en-US" sz="1500" b="1" dirty="0">
                <a:solidFill>
                  <a:srgbClr val="131F3C"/>
                </a:solidFill>
                <a:latin typeface="Cambria" pitchFamily="34" charset="0"/>
                <a:ea typeface="Cambria" pitchFamily="34" charset="-122"/>
                <a:cs typeface="Cambria" pitchFamily="34" charset="-120"/>
              </a:rPr>
              <a:t>Pricing model, first pass</a:t>
            </a:r>
            <a:endParaRPr lang="en-US" sz="1500" dirty="0"/>
          </a:p>
        </p:txBody>
      </p:sp>
      <p:sp>
        <p:nvSpPr>
          <p:cNvPr id="10" name="Text 8"/>
          <p:cNvSpPr txBox="1"/>
          <p:nvPr/>
        </p:nvSpPr>
        <p:spPr>
          <a:xfrm>
            <a:off x="4023360" y="3749040"/>
            <a:ext cx="7223760" cy="914400"/>
          </a:xfrm>
          <a:prstGeom prst="rect">
            <a:avLst/>
          </a:prstGeom>
          <a:noFill/>
          <a:ln/>
        </p:spPr>
        <p:txBody>
          <a:bodyPr wrap="square" lIns="0" tIns="0" rIns="0" bIns="0" rtlCol="0" anchor="ctr"/>
          <a:lstStyle/>
          <a:p>
            <a:pPr indent="0" marL="0">
              <a:lnSpc>
                <a:spcPct val="120000"/>
              </a:lnSpc>
              <a:buNone/>
            </a:pPr>
            <a:r>
              <a:rPr lang="en-US" sz="1300" dirty="0">
                <a:solidFill>
                  <a:srgbClr val="20242E"/>
                </a:solidFill>
                <a:latin typeface="Calibri" pitchFamily="34" charset="0"/>
                <a:ea typeface="Calibri" pitchFamily="34" charset="-122"/>
                <a:cs typeface="Calibri" pitchFamily="34" charset="-120"/>
              </a:rPr>
              <a:t>Failed its own pre-registered 15% error gate at 26.78%. VIX is a variance-swap rate, not ATM vol. Fixed and re-gated at 10.75%.</a:t>
            </a:r>
            <a:endParaRPr lang="en-US" sz="1300" dirty="0"/>
          </a:p>
        </p:txBody>
      </p:sp>
      <p:sp>
        <p:nvSpPr>
          <p:cNvPr id="11" name="Shape 9"/>
          <p:cNvSpPr/>
          <p:nvPr/>
        </p:nvSpPr>
        <p:spPr>
          <a:xfrm>
            <a:off x="640080" y="4992624"/>
            <a:ext cx="10881360" cy="1170432"/>
          </a:xfrm>
          <a:prstGeom prst="roundRect">
            <a:avLst>
              <a:gd name="adj" fmla="val 7813"/>
            </a:avLst>
          </a:prstGeom>
          <a:solidFill>
            <a:srgbClr val="FFFFFF"/>
          </a:solidFill>
          <a:ln w="12700">
            <a:solidFill>
              <a:srgbClr val="E3E7F0"/>
            </a:solidFill>
            <a:prstDash val="solid"/>
          </a:ln>
        </p:spPr>
      </p:sp>
      <p:sp>
        <p:nvSpPr>
          <p:cNvPr id="12" name="Text 10"/>
          <p:cNvSpPr txBox="1"/>
          <p:nvPr/>
        </p:nvSpPr>
        <p:spPr>
          <a:xfrm>
            <a:off x="960120" y="5102352"/>
            <a:ext cx="2926080" cy="914400"/>
          </a:xfrm>
          <a:prstGeom prst="rect">
            <a:avLst/>
          </a:prstGeom>
          <a:noFill/>
          <a:ln/>
        </p:spPr>
        <p:txBody>
          <a:bodyPr wrap="square" lIns="0" tIns="0" rIns="0" bIns="0" rtlCol="0" anchor="ctr"/>
          <a:lstStyle/>
          <a:p>
            <a:pPr indent="0" marL="0">
              <a:buNone/>
            </a:pPr>
            <a:r>
              <a:rPr lang="en-US" sz="1500" b="1" dirty="0">
                <a:solidFill>
                  <a:srgbClr val="131F3C"/>
                </a:solidFill>
                <a:latin typeface="Cambria" pitchFamily="34" charset="0"/>
                <a:ea typeface="Cambria" pitchFamily="34" charset="-122"/>
                <a:cs typeface="Cambria" pitchFamily="34" charset="-120"/>
              </a:rPr>
              <a:t>Best backtested trial</a:t>
            </a:r>
            <a:endParaRPr lang="en-US" sz="1500" dirty="0"/>
          </a:p>
        </p:txBody>
      </p:sp>
      <p:sp>
        <p:nvSpPr>
          <p:cNvPr id="13" name="Text 11"/>
          <p:cNvSpPr txBox="1"/>
          <p:nvPr/>
        </p:nvSpPr>
        <p:spPr>
          <a:xfrm>
            <a:off x="4023360" y="5102352"/>
            <a:ext cx="7223760" cy="914400"/>
          </a:xfrm>
          <a:prstGeom prst="rect">
            <a:avLst/>
          </a:prstGeom>
          <a:noFill/>
          <a:ln/>
        </p:spPr>
        <p:txBody>
          <a:bodyPr wrap="square" lIns="0" tIns="0" rIns="0" bIns="0" rtlCol="0" anchor="ctr"/>
          <a:lstStyle/>
          <a:p>
            <a:pPr indent="0" marL="0">
              <a:lnSpc>
                <a:spcPct val="120000"/>
              </a:lnSpc>
              <a:buNone/>
            </a:pPr>
            <a:r>
              <a:rPr lang="en-US" sz="1300" dirty="0">
                <a:solidFill>
                  <a:srgbClr val="20242E"/>
                </a:solidFill>
                <a:latin typeface="Calibri" pitchFamily="34" charset="0"/>
                <a:ea typeface="Calibri" pitchFamily="34" charset="-122"/>
                <a:cs typeface="Calibri" pitchFamily="34" charset="-120"/>
              </a:rPr>
              <a:t>Doubling transaction costs improved its Sharpe (+1.614 to +1.728), impossible if the edge were clean. Disclosed as a fragility flag, not hidden.</a:t>
            </a:r>
            <a:endParaRPr lang="en-US" sz="1300" dirty="0"/>
          </a:p>
        </p:txBody>
      </p:sp>
      <p:sp>
        <p:nvSpPr>
          <p:cNvPr id="14" name="Text 12"/>
          <p:cNvSpPr txBox="1"/>
          <p:nvPr/>
        </p:nvSpPr>
        <p:spPr>
          <a:xfrm>
            <a:off x="640080" y="6355080"/>
            <a:ext cx="9144000" cy="365760"/>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A submission that only reports its wins is a sales document.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640080" y="502920"/>
            <a:ext cx="9144000" cy="36576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HYPOTHESIS 3 · SEVEN TRIALS, ONE BAR</a:t>
            </a:r>
            <a:endParaRPr lang="en-US" sz="1300" dirty="0"/>
          </a:p>
        </p:txBody>
      </p:sp>
      <p:sp>
        <p:nvSpPr>
          <p:cNvPr id="3" name="Text 1"/>
          <p:cNvSpPr txBox="1"/>
          <p:nvPr/>
        </p:nvSpPr>
        <p:spPr>
          <a:xfrm>
            <a:off x="640080" y="914400"/>
            <a:ext cx="10789920" cy="1005840"/>
          </a:xfrm>
          <a:prstGeom prst="rect">
            <a:avLst/>
          </a:prstGeom>
          <a:noFill/>
          <a:ln/>
        </p:spPr>
        <p:txBody>
          <a:bodyPr wrap="square" lIns="0" tIns="0" rIns="0" bIns="0" rtlCol="0" anchor="ctr"/>
          <a:lstStyle/>
          <a:p>
            <a:pPr indent="0" marL="0">
              <a:lnSpc>
                <a:spcPct val="105000"/>
              </a:lnSpc>
              <a:buNone/>
            </a:pPr>
            <a:r>
              <a:rPr lang="en-US" sz="3200" b="1" dirty="0">
                <a:solidFill>
                  <a:srgbClr val="131F3C"/>
                </a:solidFill>
                <a:latin typeface="Cambria" pitchFamily="34" charset="0"/>
                <a:ea typeface="Cambria" pitchFamily="34" charset="-122"/>
                <a:cs typeface="Cambria" pitchFamily="34" charset="-120"/>
              </a:rPr>
              <a:t>The deployed tenor isn’t the</a:t>
            </a:r>
            <a:endParaRPr lang="en-US" sz="3200" dirty="0"/>
          </a:p>
          <a:p>
            <a:pPr indent="0" marL="0">
              <a:lnSpc>
                <a:spcPct val="105000"/>
              </a:lnSpc>
              <a:buNone/>
            </a:pPr>
            <a:r>
              <a:rPr lang="en-US" sz="3200" b="1" dirty="0">
                <a:solidFill>
                  <a:srgbClr val="131F3C"/>
                </a:solidFill>
                <a:latin typeface="Cambria" pitchFamily="34" charset="0"/>
                <a:ea typeface="Cambria" pitchFamily="34" charset="-122"/>
                <a:cs typeface="Cambria" pitchFamily="34" charset="-120"/>
              </a:rPr>
              <a:t>best-backtested one, on purpose</a:t>
            </a:r>
            <a:endParaRPr lang="en-US" sz="3200" dirty="0"/>
          </a:p>
        </p:txBody>
      </p:sp>
      <p:sp>
        <p:nvSpPr>
          <p:cNvPr id="4" name="Text 2"/>
          <p:cNvSpPr txBox="1"/>
          <p:nvPr/>
        </p:nvSpPr>
        <p:spPr>
          <a:xfrm>
            <a:off x="11368735" y="6355080"/>
            <a:ext cx="548640" cy="32004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07</a:t>
            </a:r>
            <a:endParaRPr lang="en-US" sz="1000" dirty="0"/>
          </a:p>
        </p:txBody>
      </p:sp>
      <p:graphicFrame>
        <p:nvGraphicFramePr>
          <p:cNvPr id="5" name="Chart 0" descr=""/>
          <p:cNvGraphicFramePr/>
          <p:nvPr/>
        </p:nvGraphicFramePr>
        <p:xfrm>
          <a:off x="640080" y="2148840"/>
          <a:ext cx="6949440" cy="37490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7818120" y="2286000"/>
            <a:ext cx="3794760" cy="1554480"/>
          </a:xfrm>
          <a:prstGeom prst="rect">
            <a:avLst/>
          </a:prstGeom>
          <a:noFill/>
          <a:ln/>
        </p:spPr>
        <p:txBody>
          <a:bodyPr wrap="square" lIns="0" tIns="0" rIns="0" bIns="0" rtlCol="0" anchor="ctr"/>
          <a:lstStyle/>
          <a:p>
            <a:pPr indent="0" marL="0">
              <a:lnSpc>
                <a:spcPct val="125000"/>
              </a:lnSpc>
              <a:buNone/>
            </a:pPr>
            <a:r>
              <a:rPr lang="en-US" sz="1250" dirty="0">
                <a:solidFill>
                  <a:srgbClr val="20242E"/>
                </a:solidFill>
                <a:latin typeface="Calibri" pitchFamily="34" charset="0"/>
                <a:ea typeface="Calibri" pitchFamily="34" charset="-122"/>
                <a:cs typeface="Calibri" pitchFamily="34" charset="-120"/>
              </a:rPr>
              <a:t>Both gold bars clear the bar. T7 (5–10 DTE) is the newest, best result and does not show T6’s cost-anomaly. But T4 (7–14 DTE) is what’s live, chosen for the 4.5-day judging window, not the backtest leaderboard:</a:t>
            </a:r>
            <a:endParaRPr lang="en-US" sz="1250" dirty="0"/>
          </a:p>
        </p:txBody>
      </p:sp>
      <p:sp>
        <p:nvSpPr>
          <p:cNvPr id="7" name="Shape 4"/>
          <p:cNvSpPr/>
          <p:nvPr/>
        </p:nvSpPr>
        <p:spPr>
          <a:xfrm>
            <a:off x="7818120" y="3977640"/>
            <a:ext cx="3794760" cy="1920240"/>
          </a:xfrm>
          <a:prstGeom prst="roundRect">
            <a:avLst>
              <a:gd name="adj" fmla="val 4762"/>
            </a:avLst>
          </a:prstGeom>
          <a:solidFill>
            <a:srgbClr val="131F3C"/>
          </a:solidFill>
          <a:ln/>
        </p:spPr>
      </p:sp>
      <p:sp>
        <p:nvSpPr>
          <p:cNvPr id="8" name="Text 5"/>
          <p:cNvSpPr txBox="1"/>
          <p:nvPr/>
        </p:nvSpPr>
        <p:spPr>
          <a:xfrm>
            <a:off x="8092440" y="4206240"/>
            <a:ext cx="3246120" cy="1463040"/>
          </a:xfrm>
          <a:prstGeom prst="rect">
            <a:avLst/>
          </a:prstGeom>
          <a:noFill/>
          <a:ln/>
        </p:spPr>
        <p:txBody>
          <a:bodyPr wrap="square" lIns="0" tIns="0" rIns="0" bIns="0" rtlCol="0" anchor="ctr"/>
          <a:lstStyle/>
          <a:p>
            <a:pPr indent="0" marL="0">
              <a:lnSpc>
                <a:spcPct val="130000"/>
              </a:lnSpc>
              <a:buNone/>
            </a:pPr>
            <a:r>
              <a:rPr lang="en-US" sz="1250" dirty="0">
                <a:solidFill>
                  <a:srgbClr val="C7D2E8"/>
                </a:solidFill>
                <a:latin typeface="Calibri" pitchFamily="34" charset="0"/>
                <a:ea typeface="Calibri" pitchFamily="34" charset="-122"/>
                <a:cs typeface="Calibri" pitchFamily="34" charset="-120"/>
              </a:rPr>
              <a:t>A 42-day position captures only 7–9% of its credit in a 4.5-day hold. Tenor was chosen to fit the window the judges actually measure, not to maximise a backtest number.</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640080" y="502920"/>
            <a:ext cx="9144000" cy="36576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ARCHITECTURE</a:t>
            </a:r>
            <a:endParaRPr lang="en-US" sz="1300" dirty="0"/>
          </a:p>
        </p:txBody>
      </p:sp>
      <p:sp>
        <p:nvSpPr>
          <p:cNvPr id="3" name="Text 1"/>
          <p:cNvSpPr txBox="1"/>
          <p:nvPr/>
        </p:nvSpPr>
        <p:spPr>
          <a:xfrm>
            <a:off x="640080" y="914400"/>
            <a:ext cx="10789920" cy="1005840"/>
          </a:xfrm>
          <a:prstGeom prst="rect">
            <a:avLst/>
          </a:prstGeom>
          <a:noFill/>
          <a:ln/>
        </p:spPr>
        <p:txBody>
          <a:bodyPr wrap="square" lIns="0" tIns="0" rIns="0" bIns="0" rtlCol="0" anchor="ctr"/>
          <a:lstStyle/>
          <a:p>
            <a:pPr indent="0" marL="0">
              <a:lnSpc>
                <a:spcPct val="105000"/>
              </a:lnSpc>
              <a:buNone/>
            </a:pPr>
            <a:r>
              <a:rPr lang="en-US" sz="3200" b="1" dirty="0">
                <a:solidFill>
                  <a:srgbClr val="131F3C"/>
                </a:solidFill>
                <a:latin typeface="Cambria" pitchFamily="34" charset="0"/>
                <a:ea typeface="Cambria" pitchFamily="34" charset="-122"/>
                <a:cs typeface="Cambria" pitchFamily="34" charset="-120"/>
              </a:rPr>
              <a:t>Market data in, a decision out:</a:t>
            </a:r>
            <a:endParaRPr lang="en-US" sz="3200" dirty="0"/>
          </a:p>
          <a:p>
            <a:pPr indent="0" marL="0">
              <a:lnSpc>
                <a:spcPct val="105000"/>
              </a:lnSpc>
              <a:buNone/>
            </a:pPr>
            <a:r>
              <a:rPr lang="en-US" sz="3200" b="1" dirty="0">
                <a:solidFill>
                  <a:srgbClr val="131F3C"/>
                </a:solidFill>
                <a:latin typeface="Cambria" pitchFamily="34" charset="0"/>
                <a:ea typeface="Cambria" pitchFamily="34" charset="-122"/>
                <a:cs typeface="Cambria" pitchFamily="34" charset="-120"/>
              </a:rPr>
              <a:t>always logged, win or refuse</a:t>
            </a:r>
            <a:endParaRPr lang="en-US" sz="3200" dirty="0"/>
          </a:p>
        </p:txBody>
      </p:sp>
      <p:sp>
        <p:nvSpPr>
          <p:cNvPr id="4" name="Text 2"/>
          <p:cNvSpPr txBox="1"/>
          <p:nvPr/>
        </p:nvSpPr>
        <p:spPr>
          <a:xfrm>
            <a:off x="11368735" y="6355080"/>
            <a:ext cx="548640" cy="32004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08</a:t>
            </a:r>
            <a:endParaRPr lang="en-US" sz="1000" dirty="0"/>
          </a:p>
        </p:txBody>
      </p:sp>
      <p:sp>
        <p:nvSpPr>
          <p:cNvPr id="5" name="Shape 3"/>
          <p:cNvSpPr/>
          <p:nvPr/>
        </p:nvSpPr>
        <p:spPr>
          <a:xfrm>
            <a:off x="640080" y="2514600"/>
            <a:ext cx="1965960" cy="1188720"/>
          </a:xfrm>
          <a:prstGeom prst="roundRect">
            <a:avLst>
              <a:gd name="adj" fmla="val 7692"/>
            </a:avLst>
          </a:prstGeom>
          <a:solidFill>
            <a:srgbClr val="FFFFFF"/>
          </a:solidFill>
          <a:ln w="12700">
            <a:solidFill>
              <a:srgbClr val="E3E7F0"/>
            </a:solidFill>
            <a:prstDash val="solid"/>
          </a:ln>
        </p:spPr>
      </p:sp>
      <p:sp>
        <p:nvSpPr>
          <p:cNvPr id="6" name="Text 4"/>
          <p:cNvSpPr txBox="1"/>
          <p:nvPr/>
        </p:nvSpPr>
        <p:spPr>
          <a:xfrm>
            <a:off x="713232" y="2514600"/>
            <a:ext cx="1819656" cy="1188720"/>
          </a:xfrm>
          <a:prstGeom prst="rect">
            <a:avLst/>
          </a:prstGeom>
          <a:noFill/>
          <a:ln/>
        </p:spPr>
        <p:txBody>
          <a:bodyPr wrap="square" lIns="0" tIns="0" rIns="0" bIns="0" rtlCol="0" anchor="ctr"/>
          <a:lstStyle/>
          <a:p>
            <a:pPr algn="ctr" indent="0" marL="0">
              <a:lnSpc>
                <a:spcPct val="115000"/>
              </a:lnSpc>
              <a:buNone/>
            </a:pPr>
            <a:r>
              <a:rPr lang="en-US" sz="1300" b="1" dirty="0">
                <a:solidFill>
                  <a:srgbClr val="131F3C"/>
                </a:solidFill>
                <a:latin typeface="Calibri" pitchFamily="34" charset="0"/>
                <a:ea typeface="Calibri" pitchFamily="34" charset="-122"/>
                <a:cs typeface="Calibri" pitchFamily="34" charset="-120"/>
              </a:rPr>
              <a:t>Market data</a:t>
            </a:r>
            <a:endParaRPr lang="en-US" sz="1300" dirty="0"/>
          </a:p>
          <a:p>
            <a:pPr algn="ctr" indent="0" marL="0">
              <a:lnSpc>
                <a:spcPct val="115000"/>
              </a:lnSpc>
              <a:buNone/>
            </a:pPr>
            <a:r>
              <a:rPr lang="en-US" sz="1300" b="1" dirty="0">
                <a:solidFill>
                  <a:srgbClr val="131F3C"/>
                </a:solidFill>
                <a:latin typeface="Calibri" pitchFamily="34" charset="0"/>
                <a:ea typeface="Calibri" pitchFamily="34" charset="-122"/>
                <a:cs typeface="Calibri" pitchFamily="34" charset="-120"/>
              </a:rPr>
              <a:t>(MCP)</a:t>
            </a:r>
            <a:endParaRPr lang="en-US" sz="1300" dirty="0"/>
          </a:p>
        </p:txBody>
      </p:sp>
      <p:sp>
        <p:nvSpPr>
          <p:cNvPr id="7" name="Text 5"/>
          <p:cNvSpPr txBox="1"/>
          <p:nvPr/>
        </p:nvSpPr>
        <p:spPr>
          <a:xfrm>
            <a:off x="2606040" y="2514600"/>
            <a:ext cx="256032" cy="1188720"/>
          </a:xfrm>
          <a:prstGeom prst="rect">
            <a:avLst/>
          </a:prstGeom>
          <a:noFill/>
          <a:ln/>
        </p:spPr>
        <p:txBody>
          <a:bodyPr wrap="square" lIns="0" tIns="0" rIns="0" bIns="0" rtlCol="0" anchor="ctr"/>
          <a:lstStyle/>
          <a:p>
            <a:pPr algn="ctr" indent="0" marL="0">
              <a:buNone/>
            </a:pPr>
            <a:r>
              <a:rPr lang="en-US" sz="2000" b="1" dirty="0">
                <a:solidFill>
                  <a:srgbClr val="6B7280"/>
                </a:solidFill>
                <a:latin typeface="Calibri" pitchFamily="34" charset="0"/>
                <a:ea typeface="Calibri" pitchFamily="34" charset="-122"/>
                <a:cs typeface="Calibri" pitchFamily="34" charset="-120"/>
              </a:rPr>
              <a:t>→</a:t>
            </a:r>
            <a:endParaRPr lang="en-US" sz="2000" dirty="0"/>
          </a:p>
        </p:txBody>
      </p:sp>
      <p:sp>
        <p:nvSpPr>
          <p:cNvPr id="8" name="Shape 6"/>
          <p:cNvSpPr/>
          <p:nvPr/>
        </p:nvSpPr>
        <p:spPr>
          <a:xfrm>
            <a:off x="2862072" y="2514600"/>
            <a:ext cx="1965960" cy="1188720"/>
          </a:xfrm>
          <a:prstGeom prst="roundRect">
            <a:avLst>
              <a:gd name="adj" fmla="val 7692"/>
            </a:avLst>
          </a:prstGeom>
          <a:solidFill>
            <a:srgbClr val="FFFFFF"/>
          </a:solidFill>
          <a:ln w="12700">
            <a:solidFill>
              <a:srgbClr val="E3E7F0"/>
            </a:solidFill>
            <a:prstDash val="solid"/>
          </a:ln>
        </p:spPr>
      </p:sp>
      <p:sp>
        <p:nvSpPr>
          <p:cNvPr id="9" name="Text 7"/>
          <p:cNvSpPr txBox="1"/>
          <p:nvPr/>
        </p:nvSpPr>
        <p:spPr>
          <a:xfrm>
            <a:off x="2935224" y="2514600"/>
            <a:ext cx="1819656" cy="1188720"/>
          </a:xfrm>
          <a:prstGeom prst="rect">
            <a:avLst/>
          </a:prstGeom>
          <a:noFill/>
          <a:ln/>
        </p:spPr>
        <p:txBody>
          <a:bodyPr wrap="square" lIns="0" tIns="0" rIns="0" bIns="0" rtlCol="0" anchor="ctr"/>
          <a:lstStyle/>
          <a:p>
            <a:pPr algn="ctr" indent="0" marL="0">
              <a:lnSpc>
                <a:spcPct val="115000"/>
              </a:lnSpc>
              <a:buNone/>
            </a:pPr>
            <a:r>
              <a:rPr lang="en-US" sz="1300" b="1" dirty="0">
                <a:solidFill>
                  <a:srgbClr val="131F3C"/>
                </a:solidFill>
                <a:latin typeface="Calibri" pitchFamily="34" charset="0"/>
                <a:ea typeface="Calibri" pitchFamily="34" charset="-122"/>
                <a:cs typeface="Calibri" pitchFamily="34" charset="-120"/>
              </a:rPr>
              <a:t>Signals</a:t>
            </a:r>
            <a:endParaRPr lang="en-US" sz="1300" dirty="0"/>
          </a:p>
          <a:p>
            <a:pPr algn="ctr" indent="0" marL="0">
              <a:lnSpc>
                <a:spcPct val="115000"/>
              </a:lnSpc>
              <a:buNone/>
            </a:pPr>
            <a:r>
              <a:rPr lang="en-US" sz="1300" b="1" dirty="0">
                <a:solidFill>
                  <a:srgbClr val="131F3C"/>
                </a:solidFill>
                <a:latin typeface="Calibri" pitchFamily="34" charset="0"/>
                <a:ea typeface="Calibri" pitchFamily="34" charset="-122"/>
                <a:cs typeface="Calibri" pitchFamily="34" charset="-120"/>
              </a:rPr>
              <a:t>(VRP, term structure)</a:t>
            </a:r>
            <a:endParaRPr lang="en-US" sz="1300" dirty="0"/>
          </a:p>
        </p:txBody>
      </p:sp>
      <p:sp>
        <p:nvSpPr>
          <p:cNvPr id="10" name="Text 8"/>
          <p:cNvSpPr txBox="1"/>
          <p:nvPr/>
        </p:nvSpPr>
        <p:spPr>
          <a:xfrm>
            <a:off x="4828032" y="2514600"/>
            <a:ext cx="256032" cy="1188720"/>
          </a:xfrm>
          <a:prstGeom prst="rect">
            <a:avLst/>
          </a:prstGeom>
          <a:noFill/>
          <a:ln/>
        </p:spPr>
        <p:txBody>
          <a:bodyPr wrap="square" lIns="0" tIns="0" rIns="0" bIns="0" rtlCol="0" anchor="ctr"/>
          <a:lstStyle/>
          <a:p>
            <a:pPr algn="ctr" indent="0" marL="0">
              <a:buNone/>
            </a:pPr>
            <a:r>
              <a:rPr lang="en-US" sz="2000" b="1" dirty="0">
                <a:solidFill>
                  <a:srgbClr val="6B7280"/>
                </a:solidFill>
                <a:latin typeface="Calibri" pitchFamily="34" charset="0"/>
                <a:ea typeface="Calibri" pitchFamily="34" charset="-122"/>
                <a:cs typeface="Calibri" pitchFamily="34" charset="-120"/>
              </a:rPr>
              <a:t>→</a:t>
            </a:r>
            <a:endParaRPr lang="en-US" sz="2000" dirty="0"/>
          </a:p>
        </p:txBody>
      </p:sp>
      <p:sp>
        <p:nvSpPr>
          <p:cNvPr id="11" name="Shape 9"/>
          <p:cNvSpPr/>
          <p:nvPr/>
        </p:nvSpPr>
        <p:spPr>
          <a:xfrm>
            <a:off x="5084064" y="2514600"/>
            <a:ext cx="1965960" cy="1188720"/>
          </a:xfrm>
          <a:prstGeom prst="roundRect">
            <a:avLst>
              <a:gd name="adj" fmla="val 7692"/>
            </a:avLst>
          </a:prstGeom>
          <a:solidFill>
            <a:srgbClr val="FFFFFF"/>
          </a:solidFill>
          <a:ln w="12700">
            <a:solidFill>
              <a:srgbClr val="E3E7F0"/>
            </a:solidFill>
            <a:prstDash val="solid"/>
          </a:ln>
        </p:spPr>
      </p:sp>
      <p:sp>
        <p:nvSpPr>
          <p:cNvPr id="12" name="Text 10"/>
          <p:cNvSpPr txBox="1"/>
          <p:nvPr/>
        </p:nvSpPr>
        <p:spPr>
          <a:xfrm>
            <a:off x="5157216" y="2514600"/>
            <a:ext cx="1819656" cy="1188720"/>
          </a:xfrm>
          <a:prstGeom prst="rect">
            <a:avLst/>
          </a:prstGeom>
          <a:noFill/>
          <a:ln/>
        </p:spPr>
        <p:txBody>
          <a:bodyPr wrap="square" lIns="0" tIns="0" rIns="0" bIns="0" rtlCol="0" anchor="ctr"/>
          <a:lstStyle/>
          <a:p>
            <a:pPr algn="ctr" indent="0" marL="0">
              <a:lnSpc>
                <a:spcPct val="115000"/>
              </a:lnSpc>
              <a:buNone/>
            </a:pPr>
            <a:r>
              <a:rPr lang="en-US" sz="1300" b="1" dirty="0">
                <a:solidFill>
                  <a:srgbClr val="131F3C"/>
                </a:solidFill>
                <a:latin typeface="Calibri" pitchFamily="34" charset="0"/>
                <a:ea typeface="Calibri" pitchFamily="34" charset="-122"/>
                <a:cs typeface="Calibri" pitchFamily="34" charset="-120"/>
              </a:rPr>
              <a:t>10 risk gates</a:t>
            </a:r>
            <a:endParaRPr lang="en-US" sz="1300" dirty="0"/>
          </a:p>
        </p:txBody>
      </p:sp>
      <p:sp>
        <p:nvSpPr>
          <p:cNvPr id="13" name="Text 11"/>
          <p:cNvSpPr txBox="1"/>
          <p:nvPr/>
        </p:nvSpPr>
        <p:spPr>
          <a:xfrm>
            <a:off x="7050024" y="2514600"/>
            <a:ext cx="256032" cy="1188720"/>
          </a:xfrm>
          <a:prstGeom prst="rect">
            <a:avLst/>
          </a:prstGeom>
          <a:noFill/>
          <a:ln/>
        </p:spPr>
        <p:txBody>
          <a:bodyPr wrap="square" lIns="0" tIns="0" rIns="0" bIns="0" rtlCol="0" anchor="ctr"/>
          <a:lstStyle/>
          <a:p>
            <a:pPr algn="ctr" indent="0" marL="0">
              <a:buNone/>
            </a:pPr>
            <a:r>
              <a:rPr lang="en-US" sz="2000" b="1" dirty="0">
                <a:solidFill>
                  <a:srgbClr val="6B7280"/>
                </a:solidFill>
                <a:latin typeface="Calibri" pitchFamily="34" charset="0"/>
                <a:ea typeface="Calibri" pitchFamily="34" charset="-122"/>
                <a:cs typeface="Calibri" pitchFamily="34" charset="-120"/>
              </a:rPr>
              <a:t>→</a:t>
            </a:r>
            <a:endParaRPr lang="en-US" sz="2000" dirty="0"/>
          </a:p>
        </p:txBody>
      </p:sp>
      <p:sp>
        <p:nvSpPr>
          <p:cNvPr id="14" name="Shape 12"/>
          <p:cNvSpPr/>
          <p:nvPr/>
        </p:nvSpPr>
        <p:spPr>
          <a:xfrm>
            <a:off x="7306056" y="2514600"/>
            <a:ext cx="1965960" cy="1188720"/>
          </a:xfrm>
          <a:prstGeom prst="roundRect">
            <a:avLst>
              <a:gd name="adj" fmla="val 7692"/>
            </a:avLst>
          </a:prstGeom>
          <a:solidFill>
            <a:srgbClr val="131F3C"/>
          </a:solidFill>
          <a:ln w="12700"/>
        </p:spPr>
      </p:sp>
      <p:sp>
        <p:nvSpPr>
          <p:cNvPr id="15" name="Text 13"/>
          <p:cNvSpPr txBox="1"/>
          <p:nvPr/>
        </p:nvSpPr>
        <p:spPr>
          <a:xfrm>
            <a:off x="7379208" y="2514600"/>
            <a:ext cx="1819656" cy="1188720"/>
          </a:xfrm>
          <a:prstGeom prst="rect">
            <a:avLst/>
          </a:prstGeom>
          <a:noFill/>
          <a:ln/>
        </p:spPr>
        <p:txBody>
          <a:bodyPr wrap="square" lIns="0" tIns="0" rIns="0" bIns="0" rtlCol="0" anchor="ctr"/>
          <a:lstStyle/>
          <a:p>
            <a:pPr algn="ctr" indent="0" marL="0">
              <a:lnSpc>
                <a:spcPct val="115000"/>
              </a:lnSpc>
              <a:buNone/>
            </a:pPr>
            <a:r>
              <a:rPr lang="en-US" sz="1300" b="1" dirty="0">
                <a:solidFill>
                  <a:srgbClr val="FFFFFF"/>
                </a:solidFill>
                <a:latin typeface="Calibri" pitchFamily="34" charset="0"/>
                <a:ea typeface="Calibri" pitchFamily="34" charset="-122"/>
                <a:cs typeface="Calibri" pitchFamily="34" charset="-120"/>
              </a:rPr>
              <a:t>Execute</a:t>
            </a:r>
            <a:endParaRPr lang="en-US" sz="1300" dirty="0"/>
          </a:p>
          <a:p>
            <a:pPr algn="ctr" indent="0" marL="0">
              <a:lnSpc>
                <a:spcPct val="115000"/>
              </a:lnSpc>
              <a:buNone/>
            </a:pPr>
            <a:r>
              <a:rPr lang="en-US" sz="1300" b="1" dirty="0">
                <a:solidFill>
                  <a:srgbClr val="FFFFFF"/>
                </a:solidFill>
                <a:latin typeface="Calibri" pitchFamily="34" charset="0"/>
                <a:ea typeface="Calibri" pitchFamily="34" charset="-122"/>
                <a:cs typeface="Calibri" pitchFamily="34" charset="-120"/>
              </a:rPr>
              <a:t>or refuse</a:t>
            </a:r>
            <a:endParaRPr lang="en-US" sz="1300" dirty="0"/>
          </a:p>
        </p:txBody>
      </p:sp>
      <p:sp>
        <p:nvSpPr>
          <p:cNvPr id="16" name="Text 14"/>
          <p:cNvSpPr txBox="1"/>
          <p:nvPr/>
        </p:nvSpPr>
        <p:spPr>
          <a:xfrm>
            <a:off x="9272016" y="2514600"/>
            <a:ext cx="256032" cy="1188720"/>
          </a:xfrm>
          <a:prstGeom prst="rect">
            <a:avLst/>
          </a:prstGeom>
          <a:noFill/>
          <a:ln/>
        </p:spPr>
        <p:txBody>
          <a:bodyPr wrap="square" lIns="0" tIns="0" rIns="0" bIns="0" rtlCol="0" anchor="ctr"/>
          <a:lstStyle/>
          <a:p>
            <a:pPr algn="ctr" indent="0" marL="0">
              <a:buNone/>
            </a:pPr>
            <a:r>
              <a:rPr lang="en-US" sz="2000" b="1" dirty="0">
                <a:solidFill>
                  <a:srgbClr val="6B7280"/>
                </a:solidFill>
                <a:latin typeface="Calibri" pitchFamily="34" charset="0"/>
                <a:ea typeface="Calibri" pitchFamily="34" charset="-122"/>
                <a:cs typeface="Calibri" pitchFamily="34" charset="-120"/>
              </a:rPr>
              <a:t>→</a:t>
            </a:r>
            <a:endParaRPr lang="en-US" sz="2000" dirty="0"/>
          </a:p>
        </p:txBody>
      </p:sp>
      <p:sp>
        <p:nvSpPr>
          <p:cNvPr id="17" name="Shape 15"/>
          <p:cNvSpPr/>
          <p:nvPr/>
        </p:nvSpPr>
        <p:spPr>
          <a:xfrm>
            <a:off x="9528048" y="2514600"/>
            <a:ext cx="1965960" cy="1188720"/>
          </a:xfrm>
          <a:prstGeom prst="roundRect">
            <a:avLst>
              <a:gd name="adj" fmla="val 7692"/>
            </a:avLst>
          </a:prstGeom>
          <a:solidFill>
            <a:srgbClr val="D9A441"/>
          </a:solidFill>
          <a:ln w="12700"/>
        </p:spPr>
      </p:sp>
      <p:sp>
        <p:nvSpPr>
          <p:cNvPr id="18" name="Text 16"/>
          <p:cNvSpPr txBox="1"/>
          <p:nvPr/>
        </p:nvSpPr>
        <p:spPr>
          <a:xfrm>
            <a:off x="9601200" y="2514600"/>
            <a:ext cx="1819656" cy="1188720"/>
          </a:xfrm>
          <a:prstGeom prst="rect">
            <a:avLst/>
          </a:prstGeom>
          <a:noFill/>
          <a:ln/>
        </p:spPr>
        <p:txBody>
          <a:bodyPr wrap="square" lIns="0" tIns="0" rIns="0" bIns="0" rtlCol="0" anchor="ctr"/>
          <a:lstStyle/>
          <a:p>
            <a:pPr algn="ctr" indent="0" marL="0">
              <a:lnSpc>
                <a:spcPct val="115000"/>
              </a:lnSpc>
              <a:buNone/>
            </a:pPr>
            <a:r>
              <a:rPr lang="en-US" sz="1300" b="1" dirty="0">
                <a:solidFill>
                  <a:srgbClr val="131F3C"/>
                </a:solidFill>
                <a:latin typeface="Calibri" pitchFamily="34" charset="0"/>
                <a:ea typeface="Calibri" pitchFamily="34" charset="-122"/>
                <a:cs typeface="Calibri" pitchFamily="34" charset="-120"/>
              </a:rPr>
              <a:t>Merkle</a:t>
            </a:r>
            <a:endParaRPr lang="en-US" sz="1300" dirty="0"/>
          </a:p>
          <a:p>
            <a:pPr algn="ctr" indent="0" marL="0">
              <a:lnSpc>
                <a:spcPct val="115000"/>
              </a:lnSpc>
              <a:buNone/>
            </a:pPr>
            <a:r>
              <a:rPr lang="en-US" sz="1300" b="1" dirty="0">
                <a:solidFill>
                  <a:srgbClr val="131F3C"/>
                </a:solidFill>
                <a:latin typeface="Calibri" pitchFamily="34" charset="0"/>
                <a:ea typeface="Calibri" pitchFamily="34" charset="-122"/>
                <a:cs typeface="Calibri" pitchFamily="34" charset="-120"/>
              </a:rPr>
              <a:t>artifact</a:t>
            </a:r>
            <a:endParaRPr lang="en-US" sz="1300" dirty="0"/>
          </a:p>
        </p:txBody>
      </p:sp>
      <p:sp>
        <p:nvSpPr>
          <p:cNvPr id="19" name="Text 17"/>
          <p:cNvSpPr txBox="1"/>
          <p:nvPr/>
        </p:nvSpPr>
        <p:spPr>
          <a:xfrm>
            <a:off x="640080" y="3840480"/>
            <a:ext cx="10058400" cy="320040"/>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Circuit breakers can halt the whole pipeline at any gate. A halt is not the same decision as a refusal, and both are recorded differently.</a:t>
            </a:r>
            <a:endParaRPr lang="en-US" sz="1150" dirty="0"/>
          </a:p>
        </p:txBody>
      </p:sp>
      <p:sp>
        <p:nvSpPr>
          <p:cNvPr id="20" name="Shape 18"/>
          <p:cNvSpPr/>
          <p:nvPr/>
        </p:nvSpPr>
        <p:spPr>
          <a:xfrm>
            <a:off x="640080" y="4279392"/>
            <a:ext cx="5257800" cy="896112"/>
          </a:xfrm>
          <a:prstGeom prst="roundRect">
            <a:avLst>
              <a:gd name="adj" fmla="val 8163"/>
            </a:avLst>
          </a:prstGeom>
          <a:solidFill>
            <a:srgbClr val="1C2B52"/>
          </a:solidFill>
          <a:ln/>
        </p:spPr>
      </p:sp>
      <p:sp>
        <p:nvSpPr>
          <p:cNvPr id="21" name="Text 19"/>
          <p:cNvSpPr txBox="1"/>
          <p:nvPr/>
        </p:nvSpPr>
        <p:spPr>
          <a:xfrm>
            <a:off x="868680" y="4352544"/>
            <a:ext cx="4800600" cy="274320"/>
          </a:xfrm>
          <a:prstGeom prst="rect">
            <a:avLst/>
          </a:prstGeom>
          <a:noFill/>
          <a:ln/>
        </p:spPr>
        <p:txBody>
          <a:bodyPr wrap="square" lIns="0" tIns="0" rIns="0" bIns="0" rtlCol="0" anchor="ctr"/>
          <a:lstStyle/>
          <a:p>
            <a:pPr indent="0" marL="0">
              <a:buNone/>
            </a:pPr>
            <a:r>
              <a:rPr lang="en-US" sz="1200" b="1" dirty="0">
                <a:solidFill>
                  <a:srgbClr val="D9A441"/>
                </a:solidFill>
                <a:latin typeface="Calibri" pitchFamily="34" charset="0"/>
                <a:ea typeface="Calibri" pitchFamily="34" charset="-122"/>
                <a:cs typeface="Calibri" pitchFamily="34" charset="-120"/>
              </a:rPr>
              <a:t>Real MCP, not REST</a:t>
            </a:r>
            <a:endParaRPr lang="en-US" sz="1200" dirty="0"/>
          </a:p>
        </p:txBody>
      </p:sp>
      <p:sp>
        <p:nvSpPr>
          <p:cNvPr id="22" name="Text 20"/>
          <p:cNvSpPr txBox="1"/>
          <p:nvPr/>
        </p:nvSpPr>
        <p:spPr>
          <a:xfrm>
            <a:off x="868680" y="4617720"/>
            <a:ext cx="4800600" cy="530352"/>
          </a:xfrm>
          <a:prstGeom prst="rect">
            <a:avLst/>
          </a:prstGeom>
          <a:noFill/>
          <a:ln/>
        </p:spPr>
        <p:txBody>
          <a:bodyPr wrap="square" lIns="0" tIns="0" rIns="0" bIns="0" rtlCol="0" anchor="ctr"/>
          <a:lstStyle/>
          <a:p>
            <a:pPr indent="0" marL="0">
              <a:lnSpc>
                <a:spcPct val="112000"/>
              </a:lnSpc>
              <a:buNone/>
            </a:pPr>
            <a:r>
              <a:rPr lang="en-US" sz="980" dirty="0">
                <a:solidFill>
                  <a:srgbClr val="C7D2E8"/>
                </a:solidFill>
                <a:latin typeface="Calibri" pitchFamily="34" charset="0"/>
                <a:ea typeface="Calibri" pitchFamily="34" charset="-122"/>
                <a:cs typeface="Calibri" pitchFamily="34" charset="-120"/>
              </a:rPr>
              <a:t>JSON-RPC over stdio, verified against Alpaca MCP Server v3.4.7, 74 tools. Every request/response is logged so the claim is checkable, not asserted.</a:t>
            </a:r>
            <a:endParaRPr lang="en-US" sz="980" dirty="0"/>
          </a:p>
        </p:txBody>
      </p:sp>
      <p:sp>
        <p:nvSpPr>
          <p:cNvPr id="23" name="Shape 21"/>
          <p:cNvSpPr/>
          <p:nvPr/>
        </p:nvSpPr>
        <p:spPr>
          <a:xfrm>
            <a:off x="6263640" y="4279392"/>
            <a:ext cx="5257800" cy="896112"/>
          </a:xfrm>
          <a:prstGeom prst="roundRect">
            <a:avLst>
              <a:gd name="adj" fmla="val 8163"/>
            </a:avLst>
          </a:prstGeom>
          <a:solidFill>
            <a:srgbClr val="1C2B52"/>
          </a:solidFill>
          <a:ln/>
        </p:spPr>
      </p:sp>
      <p:sp>
        <p:nvSpPr>
          <p:cNvPr id="24" name="Text 22"/>
          <p:cNvSpPr txBox="1"/>
          <p:nvPr/>
        </p:nvSpPr>
        <p:spPr>
          <a:xfrm>
            <a:off x="6492240" y="4352544"/>
            <a:ext cx="4800600" cy="274320"/>
          </a:xfrm>
          <a:prstGeom prst="rect">
            <a:avLst/>
          </a:prstGeom>
          <a:noFill/>
          <a:ln/>
        </p:spPr>
        <p:txBody>
          <a:bodyPr wrap="square" lIns="0" tIns="0" rIns="0" bIns="0" rtlCol="0" anchor="ctr"/>
          <a:lstStyle/>
          <a:p>
            <a:pPr indent="0" marL="0">
              <a:buNone/>
            </a:pPr>
            <a:r>
              <a:rPr lang="en-US" sz="1200" b="1" dirty="0">
                <a:solidFill>
                  <a:srgbClr val="D9A441"/>
                </a:solidFill>
                <a:latin typeface="Calibri" pitchFamily="34" charset="0"/>
                <a:ea typeface="Calibri" pitchFamily="34" charset="-122"/>
                <a:cs typeface="Calibri" pitchFamily="34" charset="-120"/>
              </a:rPr>
              <a:t>VIX forward via put-call parity</a:t>
            </a:r>
            <a:endParaRPr lang="en-US" sz="1200" dirty="0"/>
          </a:p>
        </p:txBody>
      </p:sp>
      <p:sp>
        <p:nvSpPr>
          <p:cNvPr id="25" name="Text 23"/>
          <p:cNvSpPr txBox="1"/>
          <p:nvPr/>
        </p:nvSpPr>
        <p:spPr>
          <a:xfrm>
            <a:off x="6492240" y="4617720"/>
            <a:ext cx="4800600" cy="530352"/>
          </a:xfrm>
          <a:prstGeom prst="rect">
            <a:avLst/>
          </a:prstGeom>
          <a:noFill/>
          <a:ln/>
        </p:spPr>
        <p:txBody>
          <a:bodyPr wrap="square" lIns="0" tIns="0" rIns="0" bIns="0" rtlCol="0" anchor="ctr"/>
          <a:lstStyle/>
          <a:p>
            <a:pPr indent="0" marL="0">
              <a:lnSpc>
                <a:spcPct val="112000"/>
              </a:lnSpc>
              <a:buNone/>
            </a:pPr>
            <a:r>
              <a:rPr lang="en-US" sz="980" dirty="0">
                <a:solidFill>
                  <a:srgbClr val="C7D2E8"/>
                </a:solidFill>
                <a:latin typeface="Calibri" pitchFamily="34" charset="0"/>
                <a:ea typeface="Calibri" pitchFamily="34" charset="-122"/>
                <a:cs typeface="Calibri" pitchFamily="34" charset="-120"/>
              </a:rPr>
              <a:t>The feed carries no index greeks, so the hedge recovers VIX's own forward price from real quotes before pricing the tail-risk call.</a:t>
            </a:r>
            <a:endParaRPr lang="en-US" sz="980" dirty="0"/>
          </a:p>
        </p:txBody>
      </p:sp>
      <p:sp>
        <p:nvSpPr>
          <p:cNvPr id="26" name="Shape 24"/>
          <p:cNvSpPr/>
          <p:nvPr/>
        </p:nvSpPr>
        <p:spPr>
          <a:xfrm>
            <a:off x="640080" y="5303520"/>
            <a:ext cx="5257800" cy="896112"/>
          </a:xfrm>
          <a:prstGeom prst="roundRect">
            <a:avLst>
              <a:gd name="adj" fmla="val 8163"/>
            </a:avLst>
          </a:prstGeom>
          <a:solidFill>
            <a:srgbClr val="1C2B52"/>
          </a:solidFill>
          <a:ln/>
        </p:spPr>
      </p:sp>
      <p:sp>
        <p:nvSpPr>
          <p:cNvPr id="27" name="Text 25"/>
          <p:cNvSpPr txBox="1"/>
          <p:nvPr/>
        </p:nvSpPr>
        <p:spPr>
          <a:xfrm>
            <a:off x="868680" y="5376672"/>
            <a:ext cx="4800600" cy="274320"/>
          </a:xfrm>
          <a:prstGeom prst="rect">
            <a:avLst/>
          </a:prstGeom>
          <a:noFill/>
          <a:ln/>
        </p:spPr>
        <p:txBody>
          <a:bodyPr wrap="square" lIns="0" tIns="0" rIns="0" bIns="0" rtlCol="0" anchor="ctr"/>
          <a:lstStyle/>
          <a:p>
            <a:pPr indent="0" marL="0">
              <a:buNone/>
            </a:pPr>
            <a:r>
              <a:rPr lang="en-US" sz="1200" b="1" dirty="0">
                <a:solidFill>
                  <a:srgbClr val="D9A441"/>
                </a:solidFill>
                <a:latin typeface="Calibri" pitchFamily="34" charset="0"/>
                <a:ea typeface="Calibri" pitchFamily="34" charset="-122"/>
                <a:cs typeface="Calibri" pitchFamily="34" charset="-120"/>
              </a:rPr>
              <a:t>OS-level watchdog</a:t>
            </a:r>
            <a:endParaRPr lang="en-US" sz="1200" dirty="0"/>
          </a:p>
        </p:txBody>
      </p:sp>
      <p:sp>
        <p:nvSpPr>
          <p:cNvPr id="28" name="Text 26"/>
          <p:cNvSpPr txBox="1"/>
          <p:nvPr/>
        </p:nvSpPr>
        <p:spPr>
          <a:xfrm>
            <a:off x="868680" y="5641848"/>
            <a:ext cx="4800600" cy="530352"/>
          </a:xfrm>
          <a:prstGeom prst="rect">
            <a:avLst/>
          </a:prstGeom>
          <a:noFill/>
          <a:ln/>
        </p:spPr>
        <p:txBody>
          <a:bodyPr wrap="square" lIns="0" tIns="0" rIns="0" bIns="0" rtlCol="0" anchor="ctr"/>
          <a:lstStyle/>
          <a:p>
            <a:pPr indent="0" marL="0">
              <a:lnSpc>
                <a:spcPct val="112000"/>
              </a:lnSpc>
              <a:buNone/>
            </a:pPr>
            <a:r>
              <a:rPr lang="en-US" sz="980" dirty="0">
                <a:solidFill>
                  <a:srgbClr val="C7D2E8"/>
                </a:solidFill>
                <a:latin typeface="Calibri" pitchFamily="34" charset="0"/>
                <a:ea typeface="Calibri" pitchFamily="34" charset="-122"/>
                <a:cs typeface="Calibri" pitchFamily="34" charset="-120"/>
              </a:rPr>
              <a:t>Each cycle runs in its own subprocess with a hard OS timeout: an in-process timer can't rescue a thread stuck inside a syscall, but killing the process can.</a:t>
            </a:r>
            <a:endParaRPr lang="en-US" sz="980" dirty="0"/>
          </a:p>
        </p:txBody>
      </p:sp>
      <p:sp>
        <p:nvSpPr>
          <p:cNvPr id="29" name="Shape 27"/>
          <p:cNvSpPr/>
          <p:nvPr/>
        </p:nvSpPr>
        <p:spPr>
          <a:xfrm>
            <a:off x="6263640" y="5303520"/>
            <a:ext cx="5257800" cy="896112"/>
          </a:xfrm>
          <a:prstGeom prst="roundRect">
            <a:avLst>
              <a:gd name="adj" fmla="val 8163"/>
            </a:avLst>
          </a:prstGeom>
          <a:solidFill>
            <a:srgbClr val="1C2B52"/>
          </a:solidFill>
          <a:ln/>
        </p:spPr>
      </p:sp>
      <p:sp>
        <p:nvSpPr>
          <p:cNvPr id="30" name="Text 28"/>
          <p:cNvSpPr txBox="1"/>
          <p:nvPr/>
        </p:nvSpPr>
        <p:spPr>
          <a:xfrm>
            <a:off x="6492240" y="5376672"/>
            <a:ext cx="4800600" cy="274320"/>
          </a:xfrm>
          <a:prstGeom prst="rect">
            <a:avLst/>
          </a:prstGeom>
          <a:noFill/>
          <a:ln/>
        </p:spPr>
        <p:txBody>
          <a:bodyPr wrap="square" lIns="0" tIns="0" rIns="0" bIns="0" rtlCol="0" anchor="ctr"/>
          <a:lstStyle/>
          <a:p>
            <a:pPr indent="0" marL="0">
              <a:buNone/>
            </a:pPr>
            <a:r>
              <a:rPr lang="en-US" sz="1200" b="1" dirty="0">
                <a:solidFill>
                  <a:srgbClr val="D9A441"/>
                </a:solidFill>
                <a:latin typeface="Calibri" pitchFamily="34" charset="0"/>
                <a:ea typeface="Calibri" pitchFamily="34" charset="-122"/>
                <a:cs typeface="Calibri" pitchFamily="34" charset="-120"/>
              </a:rPr>
              <a:t>Domain-separated Merkle tree</a:t>
            </a:r>
            <a:endParaRPr lang="en-US" sz="1200" dirty="0"/>
          </a:p>
        </p:txBody>
      </p:sp>
      <p:sp>
        <p:nvSpPr>
          <p:cNvPr id="31" name="Text 29"/>
          <p:cNvSpPr txBox="1"/>
          <p:nvPr/>
        </p:nvSpPr>
        <p:spPr>
          <a:xfrm>
            <a:off x="6492240" y="5641848"/>
            <a:ext cx="4800600" cy="530352"/>
          </a:xfrm>
          <a:prstGeom prst="rect">
            <a:avLst/>
          </a:prstGeom>
          <a:noFill/>
          <a:ln/>
        </p:spPr>
        <p:txBody>
          <a:bodyPr wrap="square" lIns="0" tIns="0" rIns="0" bIns="0" rtlCol="0" anchor="ctr"/>
          <a:lstStyle/>
          <a:p>
            <a:pPr indent="0" marL="0">
              <a:lnSpc>
                <a:spcPct val="112000"/>
              </a:lnSpc>
              <a:buNone/>
            </a:pPr>
            <a:r>
              <a:rPr lang="en-US" sz="980" dirty="0">
                <a:solidFill>
                  <a:srgbClr val="C7D2E8"/>
                </a:solidFill>
                <a:latin typeface="Calibri" pitchFamily="34" charset="0"/>
                <a:ea typeface="Calibri" pitchFamily="34" charset="-122"/>
                <a:cs typeface="Calibri" pitchFamily="34" charset="-120"/>
              </a:rPr>
              <a:t>Leaves and nodes hash with distinct prefixes (0x00 / 0x01), closing the classic second-preimage attack a naive tree leaves open.</a:t>
            </a:r>
            <a:endParaRPr lang="en-US" sz="9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640080" y="502920"/>
            <a:ext cx="9144000" cy="36576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DEFENSE IN DEPTH</a:t>
            </a:r>
            <a:endParaRPr lang="en-US" sz="1300" dirty="0"/>
          </a:p>
        </p:txBody>
      </p:sp>
      <p:sp>
        <p:nvSpPr>
          <p:cNvPr id="3" name="Text 1"/>
          <p:cNvSpPr txBox="1"/>
          <p:nvPr/>
        </p:nvSpPr>
        <p:spPr>
          <a:xfrm>
            <a:off x="640080" y="914400"/>
            <a:ext cx="10789920" cy="1005840"/>
          </a:xfrm>
          <a:prstGeom prst="rect">
            <a:avLst/>
          </a:prstGeom>
          <a:noFill/>
          <a:ln/>
        </p:spPr>
        <p:txBody>
          <a:bodyPr wrap="square" lIns="0" tIns="0" rIns="0" bIns="0" rtlCol="0" anchor="ctr"/>
          <a:lstStyle/>
          <a:p>
            <a:pPr indent="0" marL="0">
              <a:lnSpc>
                <a:spcPct val="105000"/>
              </a:lnSpc>
              <a:buNone/>
            </a:pPr>
            <a:r>
              <a:rPr lang="en-US" sz="3200" b="1" dirty="0">
                <a:solidFill>
                  <a:srgbClr val="131F3C"/>
                </a:solidFill>
                <a:latin typeface="Cambria" pitchFamily="34" charset="0"/>
                <a:ea typeface="Cambria" pitchFamily="34" charset="-122"/>
                <a:cs typeface="Cambria" pitchFamily="34" charset="-120"/>
              </a:rPr>
              <a:t>Five correlated positions need more</a:t>
            </a:r>
            <a:endParaRPr lang="en-US" sz="3200" dirty="0"/>
          </a:p>
          <a:p>
            <a:pPr indent="0" marL="0">
              <a:lnSpc>
                <a:spcPct val="105000"/>
              </a:lnSpc>
              <a:buNone/>
            </a:pPr>
            <a:r>
              <a:rPr lang="en-US" sz="3200" b="1" dirty="0">
                <a:solidFill>
                  <a:srgbClr val="131F3C"/>
                </a:solidFill>
                <a:latin typeface="Cambria" pitchFamily="34" charset="0"/>
                <a:ea typeface="Cambria" pitchFamily="34" charset="-122"/>
                <a:cs typeface="Cambria" pitchFamily="34" charset="-120"/>
              </a:rPr>
              <a:t>than one line of defence</a:t>
            </a:r>
            <a:endParaRPr lang="en-US" sz="3200" dirty="0"/>
          </a:p>
        </p:txBody>
      </p:sp>
      <p:sp>
        <p:nvSpPr>
          <p:cNvPr id="4" name="Text 2"/>
          <p:cNvSpPr txBox="1"/>
          <p:nvPr/>
        </p:nvSpPr>
        <p:spPr>
          <a:xfrm>
            <a:off x="11368735" y="6355080"/>
            <a:ext cx="548640" cy="32004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09</a:t>
            </a:r>
            <a:endParaRPr lang="en-US" sz="1000" dirty="0"/>
          </a:p>
        </p:txBody>
      </p:sp>
      <p:sp>
        <p:nvSpPr>
          <p:cNvPr id="5" name="Shape 3"/>
          <p:cNvSpPr/>
          <p:nvPr/>
        </p:nvSpPr>
        <p:spPr>
          <a:xfrm>
            <a:off x="640080" y="2286000"/>
            <a:ext cx="5257800" cy="1783080"/>
          </a:xfrm>
          <a:prstGeom prst="roundRect">
            <a:avLst>
              <a:gd name="adj" fmla="val 5128"/>
            </a:avLst>
          </a:prstGeom>
          <a:solidFill>
            <a:srgbClr val="FFFFFF"/>
          </a:solidFill>
          <a:ln w="12700">
            <a:solidFill>
              <a:srgbClr val="E3E7F0"/>
            </a:solidFill>
            <a:prstDash val="solid"/>
          </a:ln>
        </p:spPr>
      </p:sp>
      <p:sp>
        <p:nvSpPr>
          <p:cNvPr id="6" name="Shape 4"/>
          <p:cNvSpPr/>
          <p:nvPr/>
        </p:nvSpPr>
        <p:spPr>
          <a:xfrm>
            <a:off x="914400" y="2560320"/>
            <a:ext cx="411480" cy="411480"/>
          </a:xfrm>
          <a:prstGeom prst="ellipse">
            <a:avLst/>
          </a:prstGeom>
          <a:solidFill>
            <a:srgbClr val="131F3C"/>
          </a:solidFill>
          <a:ln/>
        </p:spPr>
      </p:sp>
      <p:sp>
        <p:nvSpPr>
          <p:cNvPr id="7" name="Text 5"/>
          <p:cNvSpPr txBox="1"/>
          <p:nvPr/>
        </p:nvSpPr>
        <p:spPr>
          <a:xfrm>
            <a:off x="914400" y="256032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508760" y="2487168"/>
            <a:ext cx="4160520" cy="457200"/>
          </a:xfrm>
          <a:prstGeom prst="rect">
            <a:avLst/>
          </a:prstGeom>
          <a:noFill/>
          <a:ln/>
        </p:spPr>
        <p:txBody>
          <a:bodyPr wrap="square" lIns="0" tIns="0" rIns="0" bIns="0" rtlCol="0" anchor="ctr"/>
          <a:lstStyle/>
          <a:p>
            <a:pPr indent="0" marL="0">
              <a:buNone/>
            </a:pPr>
            <a:r>
              <a:rPr lang="en-US" sz="1600" b="1" dirty="0">
                <a:solidFill>
                  <a:srgbClr val="131F3C"/>
                </a:solidFill>
                <a:latin typeface="Cambria" pitchFamily="34" charset="0"/>
                <a:ea typeface="Cambria" pitchFamily="34" charset="-122"/>
                <a:cs typeface="Cambria" pitchFamily="34" charset="-120"/>
              </a:rPr>
              <a:t>Circuit breakers</a:t>
            </a:r>
            <a:endParaRPr lang="en-US" sz="1600" dirty="0"/>
          </a:p>
        </p:txBody>
      </p:sp>
      <p:sp>
        <p:nvSpPr>
          <p:cNvPr id="9" name="Text 7"/>
          <p:cNvSpPr txBox="1"/>
          <p:nvPr/>
        </p:nvSpPr>
        <p:spPr>
          <a:xfrm>
            <a:off x="960120" y="3063240"/>
            <a:ext cx="4617720" cy="914400"/>
          </a:xfrm>
          <a:prstGeom prst="rect">
            <a:avLst/>
          </a:prstGeom>
          <a:noFill/>
          <a:ln/>
        </p:spPr>
        <p:txBody>
          <a:bodyPr wrap="square" lIns="0" tIns="0" rIns="0" bIns="0" rtlCol="0" anchor="ctr"/>
          <a:lstStyle/>
          <a:p>
            <a:pPr indent="0" marL="0">
              <a:lnSpc>
                <a:spcPct val="125000"/>
              </a:lnSpc>
              <a:buNone/>
            </a:pPr>
            <a:r>
              <a:rPr lang="en-US" sz="1200" dirty="0">
                <a:solidFill>
                  <a:srgbClr val="20242E"/>
                </a:solidFill>
                <a:latin typeface="Calibri" pitchFamily="34" charset="0"/>
                <a:ea typeface="Calibri" pitchFamily="34" charset="-122"/>
                <a:cs typeface="Calibri" pitchFamily="34" charset="-120"/>
              </a:rPr>
              <a:t>Daily loss limit, portfolio drawdown halt, consecutive-loss pause, distinguished in code from an ordinary refusal.</a:t>
            </a:r>
            <a:endParaRPr lang="en-US" sz="1200" dirty="0"/>
          </a:p>
        </p:txBody>
      </p:sp>
      <p:sp>
        <p:nvSpPr>
          <p:cNvPr id="10" name="Shape 8"/>
          <p:cNvSpPr/>
          <p:nvPr/>
        </p:nvSpPr>
        <p:spPr>
          <a:xfrm>
            <a:off x="6263640" y="2286000"/>
            <a:ext cx="5257800" cy="1783080"/>
          </a:xfrm>
          <a:prstGeom prst="roundRect">
            <a:avLst>
              <a:gd name="adj" fmla="val 5128"/>
            </a:avLst>
          </a:prstGeom>
          <a:solidFill>
            <a:srgbClr val="FFFFFF"/>
          </a:solidFill>
          <a:ln w="12700">
            <a:solidFill>
              <a:srgbClr val="E3E7F0"/>
            </a:solidFill>
            <a:prstDash val="solid"/>
          </a:ln>
        </p:spPr>
      </p:sp>
      <p:sp>
        <p:nvSpPr>
          <p:cNvPr id="11" name="Shape 9"/>
          <p:cNvSpPr/>
          <p:nvPr/>
        </p:nvSpPr>
        <p:spPr>
          <a:xfrm>
            <a:off x="6537960" y="2560320"/>
            <a:ext cx="411480" cy="411480"/>
          </a:xfrm>
          <a:prstGeom prst="ellipse">
            <a:avLst/>
          </a:prstGeom>
          <a:solidFill>
            <a:srgbClr val="131F3C"/>
          </a:solidFill>
          <a:ln/>
        </p:spPr>
      </p:sp>
      <p:sp>
        <p:nvSpPr>
          <p:cNvPr id="12" name="Text 10"/>
          <p:cNvSpPr txBox="1"/>
          <p:nvPr/>
        </p:nvSpPr>
        <p:spPr>
          <a:xfrm>
            <a:off x="6537960" y="256032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7132320" y="2487168"/>
            <a:ext cx="4160520" cy="457200"/>
          </a:xfrm>
          <a:prstGeom prst="rect">
            <a:avLst/>
          </a:prstGeom>
          <a:noFill/>
          <a:ln/>
        </p:spPr>
        <p:txBody>
          <a:bodyPr wrap="square" lIns="0" tIns="0" rIns="0" bIns="0" rtlCol="0" anchor="ctr"/>
          <a:lstStyle/>
          <a:p>
            <a:pPr indent="0" marL="0">
              <a:buNone/>
            </a:pPr>
            <a:r>
              <a:rPr lang="en-US" sz="1600" b="1" dirty="0">
                <a:solidFill>
                  <a:srgbClr val="131F3C"/>
                </a:solidFill>
                <a:latin typeface="Cambria" pitchFamily="34" charset="0"/>
                <a:ea typeface="Cambria" pitchFamily="34" charset="-122"/>
                <a:cs typeface="Cambria" pitchFamily="34" charset="-120"/>
              </a:rPr>
              <a:t>Tail hedge</a:t>
            </a:r>
            <a:endParaRPr lang="en-US" sz="1600" dirty="0"/>
          </a:p>
        </p:txBody>
      </p:sp>
      <p:sp>
        <p:nvSpPr>
          <p:cNvPr id="14" name="Text 12"/>
          <p:cNvSpPr txBox="1"/>
          <p:nvPr/>
        </p:nvSpPr>
        <p:spPr>
          <a:xfrm>
            <a:off x="6583680" y="3063240"/>
            <a:ext cx="4617720" cy="914400"/>
          </a:xfrm>
          <a:prstGeom prst="rect">
            <a:avLst/>
          </a:prstGeom>
          <a:noFill/>
          <a:ln/>
        </p:spPr>
        <p:txBody>
          <a:bodyPr wrap="square" lIns="0" tIns="0" rIns="0" bIns="0" rtlCol="0" anchor="ctr"/>
          <a:lstStyle/>
          <a:p>
            <a:pPr indent="0" marL="0">
              <a:lnSpc>
                <a:spcPct val="125000"/>
              </a:lnSpc>
              <a:buNone/>
            </a:pPr>
            <a:r>
              <a:rPr lang="en-US" sz="1200" dirty="0">
                <a:solidFill>
                  <a:srgbClr val="20242E"/>
                </a:solidFill>
                <a:latin typeface="Calibri" pitchFamily="34" charset="0"/>
                <a:ea typeface="Calibri" pitchFamily="34" charset="-122"/>
                <a:cs typeface="Calibri" pitchFamily="34" charset="-120"/>
              </a:rPr>
              <a:t>Long VIX calls, 1% of equity, following Cboe’s VXTH methodology. Recovered via put-call parity since the feed carries no index greeks.</a:t>
            </a:r>
            <a:endParaRPr lang="en-US" sz="1200" dirty="0"/>
          </a:p>
        </p:txBody>
      </p:sp>
      <p:sp>
        <p:nvSpPr>
          <p:cNvPr id="15" name="Shape 13"/>
          <p:cNvSpPr/>
          <p:nvPr/>
        </p:nvSpPr>
        <p:spPr>
          <a:xfrm>
            <a:off x="640080" y="4389120"/>
            <a:ext cx="5257800" cy="1783080"/>
          </a:xfrm>
          <a:prstGeom prst="roundRect">
            <a:avLst>
              <a:gd name="adj" fmla="val 5128"/>
            </a:avLst>
          </a:prstGeom>
          <a:solidFill>
            <a:srgbClr val="FFFFFF"/>
          </a:solidFill>
          <a:ln w="12700">
            <a:solidFill>
              <a:srgbClr val="E3E7F0"/>
            </a:solidFill>
            <a:prstDash val="solid"/>
          </a:ln>
        </p:spPr>
      </p:sp>
      <p:sp>
        <p:nvSpPr>
          <p:cNvPr id="16" name="Shape 14"/>
          <p:cNvSpPr/>
          <p:nvPr/>
        </p:nvSpPr>
        <p:spPr>
          <a:xfrm>
            <a:off x="914400" y="4663440"/>
            <a:ext cx="411480" cy="411480"/>
          </a:xfrm>
          <a:prstGeom prst="ellipse">
            <a:avLst/>
          </a:prstGeom>
          <a:solidFill>
            <a:srgbClr val="131F3C"/>
          </a:solidFill>
          <a:ln/>
        </p:spPr>
      </p:sp>
      <p:sp>
        <p:nvSpPr>
          <p:cNvPr id="17" name="Text 15"/>
          <p:cNvSpPr txBox="1"/>
          <p:nvPr/>
        </p:nvSpPr>
        <p:spPr>
          <a:xfrm>
            <a:off x="914400" y="466344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508760" y="4590288"/>
            <a:ext cx="4160520" cy="457200"/>
          </a:xfrm>
          <a:prstGeom prst="rect">
            <a:avLst/>
          </a:prstGeom>
          <a:noFill/>
          <a:ln/>
        </p:spPr>
        <p:txBody>
          <a:bodyPr wrap="square" lIns="0" tIns="0" rIns="0" bIns="0" rtlCol="0" anchor="ctr"/>
          <a:lstStyle/>
          <a:p>
            <a:pPr indent="0" marL="0">
              <a:buNone/>
            </a:pPr>
            <a:r>
              <a:rPr lang="en-US" sz="1600" b="1" dirty="0">
                <a:solidFill>
                  <a:srgbClr val="131F3C"/>
                </a:solidFill>
                <a:latin typeface="Cambria" pitchFamily="34" charset="0"/>
                <a:ea typeface="Cambria" pitchFamily="34" charset="-122"/>
                <a:cs typeface="Cambria" pitchFamily="34" charset="-120"/>
              </a:rPr>
              <a:t>Sized on purpose</a:t>
            </a:r>
            <a:endParaRPr lang="en-US" sz="1600" dirty="0"/>
          </a:p>
        </p:txBody>
      </p:sp>
      <p:sp>
        <p:nvSpPr>
          <p:cNvPr id="19" name="Text 17"/>
          <p:cNvSpPr txBox="1"/>
          <p:nvPr/>
        </p:nvSpPr>
        <p:spPr>
          <a:xfrm>
            <a:off x="960120" y="5166360"/>
            <a:ext cx="4617720" cy="914400"/>
          </a:xfrm>
          <a:prstGeom prst="rect">
            <a:avLst/>
          </a:prstGeom>
          <a:noFill/>
          <a:ln/>
        </p:spPr>
        <p:txBody>
          <a:bodyPr wrap="square" lIns="0" tIns="0" rIns="0" bIns="0" rtlCol="0" anchor="ctr"/>
          <a:lstStyle/>
          <a:p>
            <a:pPr indent="0" marL="0">
              <a:lnSpc>
                <a:spcPct val="125000"/>
              </a:lnSpc>
              <a:buNone/>
            </a:pPr>
            <a:r>
              <a:rPr lang="en-US" sz="1200" dirty="0">
                <a:solidFill>
                  <a:srgbClr val="20242E"/>
                </a:solidFill>
                <a:latin typeface="Calibri" pitchFamily="34" charset="0"/>
                <a:ea typeface="Calibri" pitchFamily="34" charset="-122"/>
                <a:cs typeface="Calibri" pitchFamily="34" charset="-120"/>
              </a:rPr>
              <a:t>5 concurrent @ 3% (15% cap), a deliberate, recorded deviation from 1% research sizing. Hard-capped, never open-ended.</a:t>
            </a:r>
            <a:endParaRPr lang="en-US" sz="1200" dirty="0"/>
          </a:p>
        </p:txBody>
      </p:sp>
      <p:sp>
        <p:nvSpPr>
          <p:cNvPr id="20" name="Shape 18"/>
          <p:cNvSpPr/>
          <p:nvPr/>
        </p:nvSpPr>
        <p:spPr>
          <a:xfrm>
            <a:off x="6263640" y="4389120"/>
            <a:ext cx="5257800" cy="1783080"/>
          </a:xfrm>
          <a:prstGeom prst="roundRect">
            <a:avLst>
              <a:gd name="adj" fmla="val 5128"/>
            </a:avLst>
          </a:prstGeom>
          <a:solidFill>
            <a:srgbClr val="FFFFFF"/>
          </a:solidFill>
          <a:ln w="12700">
            <a:solidFill>
              <a:srgbClr val="E3E7F0"/>
            </a:solidFill>
            <a:prstDash val="solid"/>
          </a:ln>
        </p:spPr>
      </p:sp>
      <p:sp>
        <p:nvSpPr>
          <p:cNvPr id="21" name="Shape 19"/>
          <p:cNvSpPr/>
          <p:nvPr/>
        </p:nvSpPr>
        <p:spPr>
          <a:xfrm>
            <a:off x="6537960" y="4663440"/>
            <a:ext cx="411480" cy="411480"/>
          </a:xfrm>
          <a:prstGeom prst="ellipse">
            <a:avLst/>
          </a:prstGeom>
          <a:solidFill>
            <a:srgbClr val="131F3C"/>
          </a:solidFill>
          <a:ln/>
        </p:spPr>
      </p:sp>
      <p:sp>
        <p:nvSpPr>
          <p:cNvPr id="22" name="Text 20"/>
          <p:cNvSpPr txBox="1"/>
          <p:nvPr/>
        </p:nvSpPr>
        <p:spPr>
          <a:xfrm>
            <a:off x="6537960" y="466344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txBox="1"/>
          <p:nvPr/>
        </p:nvSpPr>
        <p:spPr>
          <a:xfrm>
            <a:off x="7132320" y="4590288"/>
            <a:ext cx="4160520" cy="457200"/>
          </a:xfrm>
          <a:prstGeom prst="rect">
            <a:avLst/>
          </a:prstGeom>
          <a:noFill/>
          <a:ln/>
        </p:spPr>
        <p:txBody>
          <a:bodyPr wrap="square" lIns="0" tIns="0" rIns="0" bIns="0" rtlCol="0" anchor="ctr"/>
          <a:lstStyle/>
          <a:p>
            <a:pPr indent="0" marL="0">
              <a:buNone/>
            </a:pPr>
            <a:r>
              <a:rPr lang="en-US" sz="1600" b="1" dirty="0">
                <a:solidFill>
                  <a:srgbClr val="131F3C"/>
                </a:solidFill>
                <a:latin typeface="Cambria" pitchFamily="34" charset="0"/>
                <a:ea typeface="Cambria" pitchFamily="34" charset="-122"/>
                <a:cs typeface="Cambria" pitchFamily="34" charset="-120"/>
              </a:rPr>
              <a:t>Staggered expiries</a:t>
            </a:r>
            <a:endParaRPr lang="en-US" sz="1600" dirty="0"/>
          </a:p>
        </p:txBody>
      </p:sp>
      <p:sp>
        <p:nvSpPr>
          <p:cNvPr id="24" name="Text 22"/>
          <p:cNvSpPr txBox="1"/>
          <p:nvPr/>
        </p:nvSpPr>
        <p:spPr>
          <a:xfrm>
            <a:off x="6583680" y="5166360"/>
            <a:ext cx="4617720" cy="914400"/>
          </a:xfrm>
          <a:prstGeom prst="rect">
            <a:avLst/>
          </a:prstGeom>
          <a:noFill/>
          <a:ln/>
        </p:spPr>
        <p:txBody>
          <a:bodyPr wrap="square" lIns="0" tIns="0" rIns="0" bIns="0" rtlCol="0" anchor="ctr"/>
          <a:lstStyle/>
          <a:p>
            <a:pPr indent="0" marL="0">
              <a:lnSpc>
                <a:spcPct val="125000"/>
              </a:lnSpc>
              <a:buNone/>
            </a:pPr>
            <a:r>
              <a:rPr lang="en-US" sz="1200" dirty="0">
                <a:solidFill>
                  <a:srgbClr val="20242E"/>
                </a:solidFill>
                <a:latin typeface="Calibri" pitchFamily="34" charset="0"/>
                <a:ea typeface="Calibri" pitchFamily="34" charset="-122"/>
                <a:cs typeface="Calibri" pitchFamily="34" charset="-120"/>
              </a:rPr>
              <a:t>No two positions share an expiry. Five positions on one date is one position at 15% wearing a costume.</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640080" y="502920"/>
            <a:ext cx="9144000" cy="36576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ORIGINAL ENGINEERING</a:t>
            </a:r>
            <a:endParaRPr lang="en-US" sz="1300" dirty="0"/>
          </a:p>
        </p:txBody>
      </p:sp>
      <p:sp>
        <p:nvSpPr>
          <p:cNvPr id="3" name="Text 1"/>
          <p:cNvSpPr txBox="1"/>
          <p:nvPr/>
        </p:nvSpPr>
        <p:spPr>
          <a:xfrm>
            <a:off x="640080" y="914400"/>
            <a:ext cx="10789920" cy="1005840"/>
          </a:xfrm>
          <a:prstGeom prst="rect">
            <a:avLst/>
          </a:prstGeom>
          <a:noFill/>
          <a:ln/>
        </p:spPr>
        <p:txBody>
          <a:bodyPr wrap="square" lIns="0" tIns="0" rIns="0" bIns="0" rtlCol="0" anchor="ctr"/>
          <a:lstStyle/>
          <a:p>
            <a:pPr indent="0" marL="0">
              <a:lnSpc>
                <a:spcPct val="105000"/>
              </a:lnSpc>
              <a:buNone/>
            </a:pPr>
            <a:r>
              <a:rPr lang="en-US" sz="3200" b="1" dirty="0">
                <a:solidFill>
                  <a:srgbClr val="131F3C"/>
                </a:solidFill>
                <a:latin typeface="Cambria" pitchFamily="34" charset="0"/>
                <a:ea typeface="Cambria" pitchFamily="34" charset="-122"/>
                <a:cs typeface="Cambria" pitchFamily="34" charset="-120"/>
              </a:rPr>
              <a:t>Three strategies race live, in parallel,</a:t>
            </a:r>
            <a:endParaRPr lang="en-US" sz="3200" dirty="0"/>
          </a:p>
          <a:p>
            <a:pPr indent="0" marL="0">
              <a:lnSpc>
                <a:spcPct val="105000"/>
              </a:lnSpc>
              <a:buNone/>
            </a:pPr>
            <a:r>
              <a:rPr lang="en-US" sz="3200" b="1" dirty="0">
                <a:solidFill>
                  <a:srgbClr val="131F3C"/>
                </a:solidFill>
                <a:latin typeface="Cambria" pitchFamily="34" charset="0"/>
                <a:ea typeface="Cambria" pitchFamily="34" charset="-122"/>
                <a:cs typeface="Cambria" pitchFamily="34" charset="-120"/>
              </a:rPr>
              <a:t>without risking a cent</a:t>
            </a:r>
            <a:endParaRPr lang="en-US" sz="3200" dirty="0"/>
          </a:p>
        </p:txBody>
      </p:sp>
      <p:sp>
        <p:nvSpPr>
          <p:cNvPr id="4" name="Text 2"/>
          <p:cNvSpPr txBox="1"/>
          <p:nvPr/>
        </p:nvSpPr>
        <p:spPr>
          <a:xfrm>
            <a:off x="11368735" y="6355080"/>
            <a:ext cx="548640" cy="32004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
        <p:nvSpPr>
          <p:cNvPr id="5" name="Text 3"/>
          <p:cNvSpPr txBox="1"/>
          <p:nvPr/>
        </p:nvSpPr>
        <p:spPr>
          <a:xfrm>
            <a:off x="640080" y="1965960"/>
            <a:ext cx="10881360" cy="777240"/>
          </a:xfrm>
          <a:prstGeom prst="rect">
            <a:avLst/>
          </a:prstGeom>
          <a:noFill/>
          <a:ln/>
        </p:spPr>
        <p:txBody>
          <a:bodyPr wrap="square" lIns="0" tIns="0" rIns="0" bIns="0" rtlCol="0" anchor="ctr"/>
          <a:lstStyle/>
          <a:p>
            <a:pPr indent="0" marL="0">
              <a:lnSpc>
                <a:spcPct val="125000"/>
              </a:lnSpc>
              <a:buNone/>
            </a:pPr>
            <a:r>
              <a:rPr lang="en-US" sz="1350" dirty="0">
                <a:solidFill>
                  <a:srgbClr val="20242E"/>
                </a:solidFill>
                <a:latin typeface="Calibri" pitchFamily="34" charset="0"/>
                <a:ea typeface="Calibri" pitchFamily="34" charset="-122"/>
                <a:cs typeface="Calibri" pitchFamily="34" charset="-120"/>
              </a:rPr>
              <a:t>Rather than commit to one tenor and hope, three configurations run as fully isolated shadow agents, hourly, against the real live market, through the agent's own valid trading window. Each is a genuine decision, just never sent as an order.</a:t>
            </a:r>
            <a:endParaRPr lang="en-US" sz="1350" dirty="0"/>
          </a:p>
        </p:txBody>
      </p:sp>
      <p:sp>
        <p:nvSpPr>
          <p:cNvPr id="6" name="Shape 4"/>
          <p:cNvSpPr/>
          <p:nvPr/>
        </p:nvSpPr>
        <p:spPr>
          <a:xfrm>
            <a:off x="640080" y="2880360"/>
            <a:ext cx="3246120" cy="1005840"/>
          </a:xfrm>
          <a:prstGeom prst="roundRect">
            <a:avLst>
              <a:gd name="adj" fmla="val 9091"/>
            </a:avLst>
          </a:prstGeom>
          <a:solidFill>
            <a:srgbClr val="FFFFFF"/>
          </a:solidFill>
          <a:ln w="12700">
            <a:solidFill>
              <a:srgbClr val="E3E7F0"/>
            </a:solidFill>
            <a:prstDash val="solid"/>
          </a:ln>
        </p:spPr>
      </p:sp>
      <p:sp>
        <p:nvSpPr>
          <p:cNvPr id="7" name="Text 5"/>
          <p:cNvSpPr txBox="1"/>
          <p:nvPr/>
        </p:nvSpPr>
        <p:spPr>
          <a:xfrm>
            <a:off x="868680" y="2990088"/>
            <a:ext cx="1097280" cy="777240"/>
          </a:xfrm>
          <a:prstGeom prst="rect">
            <a:avLst/>
          </a:prstGeom>
          <a:noFill/>
          <a:ln/>
        </p:spPr>
        <p:txBody>
          <a:bodyPr wrap="square" lIns="0" tIns="0" rIns="0" bIns="0" rtlCol="0" anchor="ctr"/>
          <a:lstStyle/>
          <a:p>
            <a:pPr indent="0" marL="0">
              <a:buNone/>
            </a:pPr>
            <a:r>
              <a:rPr lang="en-US" sz="2600" b="1" dirty="0">
                <a:solidFill>
                  <a:srgbClr val="131F3C"/>
                </a:solidFill>
                <a:latin typeface="Cambria" pitchFamily="34" charset="0"/>
                <a:ea typeface="Cambria" pitchFamily="34" charset="-122"/>
                <a:cs typeface="Cambria" pitchFamily="34" charset="-120"/>
              </a:rPr>
              <a:t>T4</a:t>
            </a:r>
            <a:endParaRPr lang="en-US" sz="2600" dirty="0"/>
          </a:p>
        </p:txBody>
      </p:sp>
      <p:sp>
        <p:nvSpPr>
          <p:cNvPr id="8" name="Text 6"/>
          <p:cNvSpPr txBox="1"/>
          <p:nvPr/>
        </p:nvSpPr>
        <p:spPr>
          <a:xfrm>
            <a:off x="1874520" y="2880360"/>
            <a:ext cx="1828800" cy="1005840"/>
          </a:xfrm>
          <a:prstGeom prst="rect">
            <a:avLst/>
          </a:prstGeom>
          <a:noFill/>
          <a:ln/>
        </p:spPr>
        <p:txBody>
          <a:bodyPr wrap="square" lIns="0" tIns="0" rIns="0" bIns="0" rtlCol="0" anchor="ctr"/>
          <a:lstStyle/>
          <a:p>
            <a:pPr indent="0" marL="0">
              <a:lnSpc>
                <a:spcPct val="120000"/>
              </a:lnSpc>
              <a:buNone/>
            </a:pPr>
            <a:r>
              <a:rPr lang="en-US" sz="1200" dirty="0">
                <a:solidFill>
                  <a:srgbClr val="6B7280"/>
                </a:solidFill>
                <a:latin typeface="Calibri" pitchFamily="34" charset="0"/>
                <a:ea typeface="Calibri" pitchFamily="34" charset="-122"/>
                <a:cs typeface="Calibri" pitchFamily="34" charset="-120"/>
              </a:rPr>
              <a:t>7–14 DTE</a:t>
            </a:r>
            <a:endParaRPr lang="en-US" sz="1200" dirty="0"/>
          </a:p>
          <a:p>
            <a:pPr indent="0" marL="0">
              <a:lnSpc>
                <a:spcPct val="120000"/>
              </a:lnSpc>
              <a:buNone/>
            </a:pPr>
            <a:r>
              <a:rPr lang="en-US" sz="1200" dirty="0">
                <a:solidFill>
                  <a:srgbClr val="6B7280"/>
                </a:solidFill>
                <a:latin typeface="Calibri" pitchFamily="34" charset="0"/>
                <a:ea typeface="Calibri" pitchFamily="34" charset="-122"/>
                <a:cs typeface="Calibri" pitchFamily="34" charset="-120"/>
              </a:rPr>
              <a:t>deployed</a:t>
            </a:r>
            <a:endParaRPr lang="en-US" sz="1200" dirty="0"/>
          </a:p>
        </p:txBody>
      </p:sp>
      <p:sp>
        <p:nvSpPr>
          <p:cNvPr id="9" name="Text 7"/>
          <p:cNvSpPr txBox="1"/>
          <p:nvPr/>
        </p:nvSpPr>
        <p:spPr>
          <a:xfrm>
            <a:off x="2080260" y="3904488"/>
            <a:ext cx="365760" cy="320040"/>
          </a:xfrm>
          <a:prstGeom prst="rect">
            <a:avLst/>
          </a:prstGeom>
          <a:noFill/>
          <a:ln/>
        </p:spPr>
        <p:txBody>
          <a:bodyPr wrap="square" lIns="0" tIns="0" rIns="0" bIns="0" rtlCol="0" anchor="ctr"/>
          <a:lstStyle/>
          <a:p>
            <a:pPr algn="ctr" indent="0" marL="0">
              <a:buNone/>
            </a:pPr>
            <a:r>
              <a:rPr lang="en-US" sz="1600" b="1" dirty="0">
                <a:solidFill>
                  <a:srgbClr val="6B7280"/>
                </a:solidFill>
              </a:rPr>
              <a:t>↓</a:t>
            </a:r>
            <a:endParaRPr lang="en-US" sz="1600" dirty="0"/>
          </a:p>
        </p:txBody>
      </p:sp>
      <p:sp>
        <p:nvSpPr>
          <p:cNvPr id="10" name="Shape 8"/>
          <p:cNvSpPr/>
          <p:nvPr/>
        </p:nvSpPr>
        <p:spPr>
          <a:xfrm>
            <a:off x="640080" y="4251960"/>
            <a:ext cx="3246120" cy="502920"/>
          </a:xfrm>
          <a:prstGeom prst="roundRect">
            <a:avLst>
              <a:gd name="adj" fmla="val 10909"/>
            </a:avLst>
          </a:prstGeom>
          <a:solidFill>
            <a:srgbClr val="1C2B52"/>
          </a:solidFill>
          <a:ln/>
        </p:spPr>
      </p:sp>
      <p:sp>
        <p:nvSpPr>
          <p:cNvPr id="11" name="Text 9"/>
          <p:cNvSpPr txBox="1"/>
          <p:nvPr/>
        </p:nvSpPr>
        <p:spPr>
          <a:xfrm>
            <a:off x="640080" y="4251960"/>
            <a:ext cx="3246120" cy="502920"/>
          </a:xfrm>
          <a:prstGeom prst="rect">
            <a:avLst/>
          </a:prstGeom>
          <a:noFill/>
          <a:ln/>
        </p:spPr>
        <p:txBody>
          <a:bodyPr wrap="square" lIns="0" tIns="0" rIns="0" bIns="0" rtlCol="0" anchor="ctr"/>
          <a:lstStyle/>
          <a:p>
            <a:pPr algn="ctr" indent="0" marL="0">
              <a:buNone/>
            </a:pPr>
            <a:r>
              <a:rPr lang="en-US" sz="1050" dirty="0">
                <a:solidFill>
                  <a:srgbClr val="C7D2E8"/>
                </a:solidFill>
                <a:latin typeface="Calibri" pitchFamily="34" charset="0"/>
                <a:ea typeface="Calibri" pitchFamily="34" charset="-122"/>
                <a:cs typeface="Calibri" pitchFamily="34" charset="-120"/>
              </a:rPr>
              <a:t>own isolated artifact log</a:t>
            </a:r>
            <a:endParaRPr lang="en-US" sz="1050" dirty="0"/>
          </a:p>
        </p:txBody>
      </p:sp>
      <p:sp>
        <p:nvSpPr>
          <p:cNvPr id="12" name="Shape 10"/>
          <p:cNvSpPr/>
          <p:nvPr/>
        </p:nvSpPr>
        <p:spPr>
          <a:xfrm>
            <a:off x="4114800" y="2880360"/>
            <a:ext cx="3246120" cy="1005840"/>
          </a:xfrm>
          <a:prstGeom prst="roundRect">
            <a:avLst>
              <a:gd name="adj" fmla="val 9091"/>
            </a:avLst>
          </a:prstGeom>
          <a:solidFill>
            <a:srgbClr val="FFFFFF"/>
          </a:solidFill>
          <a:ln w="12700">
            <a:solidFill>
              <a:srgbClr val="E3E7F0"/>
            </a:solidFill>
            <a:prstDash val="solid"/>
          </a:ln>
        </p:spPr>
      </p:sp>
      <p:sp>
        <p:nvSpPr>
          <p:cNvPr id="13" name="Text 11"/>
          <p:cNvSpPr txBox="1"/>
          <p:nvPr/>
        </p:nvSpPr>
        <p:spPr>
          <a:xfrm>
            <a:off x="4343400" y="2990088"/>
            <a:ext cx="1097280" cy="777240"/>
          </a:xfrm>
          <a:prstGeom prst="rect">
            <a:avLst/>
          </a:prstGeom>
          <a:noFill/>
          <a:ln/>
        </p:spPr>
        <p:txBody>
          <a:bodyPr wrap="square" lIns="0" tIns="0" rIns="0" bIns="0" rtlCol="0" anchor="ctr"/>
          <a:lstStyle/>
          <a:p>
            <a:pPr indent="0" marL="0">
              <a:buNone/>
            </a:pPr>
            <a:r>
              <a:rPr lang="en-US" sz="2600" b="1" dirty="0">
                <a:solidFill>
                  <a:srgbClr val="131F3C"/>
                </a:solidFill>
                <a:latin typeface="Cambria" pitchFamily="34" charset="0"/>
                <a:ea typeface="Cambria" pitchFamily="34" charset="-122"/>
                <a:cs typeface="Cambria" pitchFamily="34" charset="-120"/>
              </a:rPr>
              <a:t>T6</a:t>
            </a:r>
            <a:endParaRPr lang="en-US" sz="2600" dirty="0"/>
          </a:p>
        </p:txBody>
      </p:sp>
      <p:sp>
        <p:nvSpPr>
          <p:cNvPr id="14" name="Text 12"/>
          <p:cNvSpPr txBox="1"/>
          <p:nvPr/>
        </p:nvSpPr>
        <p:spPr>
          <a:xfrm>
            <a:off x="5349240" y="2880360"/>
            <a:ext cx="1828800" cy="1005840"/>
          </a:xfrm>
          <a:prstGeom prst="rect">
            <a:avLst/>
          </a:prstGeom>
          <a:noFill/>
          <a:ln/>
        </p:spPr>
        <p:txBody>
          <a:bodyPr wrap="square" lIns="0" tIns="0" rIns="0" bIns="0" rtlCol="0" anchor="ctr"/>
          <a:lstStyle/>
          <a:p>
            <a:pPr indent="0" marL="0">
              <a:lnSpc>
                <a:spcPct val="120000"/>
              </a:lnSpc>
              <a:buNone/>
            </a:pPr>
            <a:r>
              <a:rPr lang="en-US" sz="1200" dirty="0">
                <a:solidFill>
                  <a:srgbClr val="6B7280"/>
                </a:solidFill>
                <a:latin typeface="Calibri" pitchFamily="34" charset="0"/>
                <a:ea typeface="Calibri" pitchFamily="34" charset="-122"/>
                <a:cs typeface="Calibri" pitchFamily="34" charset="-120"/>
              </a:rPr>
              <a:t>21–45 DTE</a:t>
            </a:r>
            <a:endParaRPr lang="en-US" sz="1200" dirty="0"/>
          </a:p>
          <a:p>
            <a:pPr indent="0" marL="0">
              <a:lnSpc>
                <a:spcPct val="120000"/>
              </a:lnSpc>
              <a:buNone/>
            </a:pPr>
            <a:r>
              <a:rPr lang="en-US" sz="1200" dirty="0">
                <a:solidFill>
                  <a:srgbClr val="6B7280"/>
                </a:solidFill>
                <a:latin typeface="Calibri" pitchFamily="34" charset="0"/>
                <a:ea typeface="Calibri" pitchFamily="34" charset="-122"/>
                <a:cs typeface="Calibri" pitchFamily="34" charset="-120"/>
              </a:rPr>
              <a:t>old backtest-best</a:t>
            </a:r>
            <a:endParaRPr lang="en-US" sz="1200" dirty="0"/>
          </a:p>
        </p:txBody>
      </p:sp>
      <p:sp>
        <p:nvSpPr>
          <p:cNvPr id="15" name="Text 13"/>
          <p:cNvSpPr txBox="1"/>
          <p:nvPr/>
        </p:nvSpPr>
        <p:spPr>
          <a:xfrm>
            <a:off x="5554980" y="3904488"/>
            <a:ext cx="365760" cy="320040"/>
          </a:xfrm>
          <a:prstGeom prst="rect">
            <a:avLst/>
          </a:prstGeom>
          <a:noFill/>
          <a:ln/>
        </p:spPr>
        <p:txBody>
          <a:bodyPr wrap="square" lIns="0" tIns="0" rIns="0" bIns="0" rtlCol="0" anchor="ctr"/>
          <a:lstStyle/>
          <a:p>
            <a:pPr algn="ctr" indent="0" marL="0">
              <a:buNone/>
            </a:pPr>
            <a:r>
              <a:rPr lang="en-US" sz="1600" b="1" dirty="0">
                <a:solidFill>
                  <a:srgbClr val="6B7280"/>
                </a:solidFill>
              </a:rPr>
              <a:t>↓</a:t>
            </a:r>
            <a:endParaRPr lang="en-US" sz="1600" dirty="0"/>
          </a:p>
        </p:txBody>
      </p:sp>
      <p:sp>
        <p:nvSpPr>
          <p:cNvPr id="16" name="Shape 14"/>
          <p:cNvSpPr/>
          <p:nvPr/>
        </p:nvSpPr>
        <p:spPr>
          <a:xfrm>
            <a:off x="4114800" y="4251960"/>
            <a:ext cx="3246120" cy="502920"/>
          </a:xfrm>
          <a:prstGeom prst="roundRect">
            <a:avLst>
              <a:gd name="adj" fmla="val 10909"/>
            </a:avLst>
          </a:prstGeom>
          <a:solidFill>
            <a:srgbClr val="1C2B52"/>
          </a:solidFill>
          <a:ln/>
        </p:spPr>
      </p:sp>
      <p:sp>
        <p:nvSpPr>
          <p:cNvPr id="17" name="Text 15"/>
          <p:cNvSpPr txBox="1"/>
          <p:nvPr/>
        </p:nvSpPr>
        <p:spPr>
          <a:xfrm>
            <a:off x="4114800" y="4251960"/>
            <a:ext cx="3246120" cy="502920"/>
          </a:xfrm>
          <a:prstGeom prst="rect">
            <a:avLst/>
          </a:prstGeom>
          <a:noFill/>
          <a:ln/>
        </p:spPr>
        <p:txBody>
          <a:bodyPr wrap="square" lIns="0" tIns="0" rIns="0" bIns="0" rtlCol="0" anchor="ctr"/>
          <a:lstStyle/>
          <a:p>
            <a:pPr algn="ctr" indent="0" marL="0">
              <a:buNone/>
            </a:pPr>
            <a:r>
              <a:rPr lang="en-US" sz="1050" dirty="0">
                <a:solidFill>
                  <a:srgbClr val="C7D2E8"/>
                </a:solidFill>
                <a:latin typeface="Calibri" pitchFamily="34" charset="0"/>
                <a:ea typeface="Calibri" pitchFamily="34" charset="-122"/>
                <a:cs typeface="Calibri" pitchFamily="34" charset="-120"/>
              </a:rPr>
              <a:t>own isolated artifact log</a:t>
            </a:r>
            <a:endParaRPr lang="en-US" sz="1050" dirty="0"/>
          </a:p>
        </p:txBody>
      </p:sp>
      <p:sp>
        <p:nvSpPr>
          <p:cNvPr id="18" name="Shape 16"/>
          <p:cNvSpPr/>
          <p:nvPr/>
        </p:nvSpPr>
        <p:spPr>
          <a:xfrm>
            <a:off x="7589520" y="2880360"/>
            <a:ext cx="3246120" cy="1005840"/>
          </a:xfrm>
          <a:prstGeom prst="roundRect">
            <a:avLst>
              <a:gd name="adj" fmla="val 9091"/>
            </a:avLst>
          </a:prstGeom>
          <a:solidFill>
            <a:srgbClr val="FFFFFF"/>
          </a:solidFill>
          <a:ln w="12700">
            <a:solidFill>
              <a:srgbClr val="E3E7F0"/>
            </a:solidFill>
            <a:prstDash val="solid"/>
          </a:ln>
        </p:spPr>
      </p:sp>
      <p:sp>
        <p:nvSpPr>
          <p:cNvPr id="19" name="Text 17"/>
          <p:cNvSpPr txBox="1"/>
          <p:nvPr/>
        </p:nvSpPr>
        <p:spPr>
          <a:xfrm>
            <a:off x="7818120" y="2990088"/>
            <a:ext cx="1097280" cy="777240"/>
          </a:xfrm>
          <a:prstGeom prst="rect">
            <a:avLst/>
          </a:prstGeom>
          <a:noFill/>
          <a:ln/>
        </p:spPr>
        <p:txBody>
          <a:bodyPr wrap="square" lIns="0" tIns="0" rIns="0" bIns="0" rtlCol="0" anchor="ctr"/>
          <a:lstStyle/>
          <a:p>
            <a:pPr indent="0" marL="0">
              <a:buNone/>
            </a:pPr>
            <a:r>
              <a:rPr lang="en-US" sz="2600" b="1" dirty="0">
                <a:solidFill>
                  <a:srgbClr val="131F3C"/>
                </a:solidFill>
                <a:latin typeface="Cambria" pitchFamily="34" charset="0"/>
                <a:ea typeface="Cambria" pitchFamily="34" charset="-122"/>
                <a:cs typeface="Cambria" pitchFamily="34" charset="-120"/>
              </a:rPr>
              <a:t>T7</a:t>
            </a:r>
            <a:endParaRPr lang="en-US" sz="2600" dirty="0"/>
          </a:p>
        </p:txBody>
      </p:sp>
      <p:sp>
        <p:nvSpPr>
          <p:cNvPr id="20" name="Text 18"/>
          <p:cNvSpPr txBox="1"/>
          <p:nvPr/>
        </p:nvSpPr>
        <p:spPr>
          <a:xfrm>
            <a:off x="8823960" y="2880360"/>
            <a:ext cx="1828800" cy="1005840"/>
          </a:xfrm>
          <a:prstGeom prst="rect">
            <a:avLst/>
          </a:prstGeom>
          <a:noFill/>
          <a:ln/>
        </p:spPr>
        <p:txBody>
          <a:bodyPr wrap="square" lIns="0" tIns="0" rIns="0" bIns="0" rtlCol="0" anchor="ctr"/>
          <a:lstStyle/>
          <a:p>
            <a:pPr indent="0" marL="0">
              <a:lnSpc>
                <a:spcPct val="120000"/>
              </a:lnSpc>
              <a:buNone/>
            </a:pPr>
            <a:r>
              <a:rPr lang="en-US" sz="1200" dirty="0">
                <a:solidFill>
                  <a:srgbClr val="6B7280"/>
                </a:solidFill>
                <a:latin typeface="Calibri" pitchFamily="34" charset="0"/>
                <a:ea typeface="Calibri" pitchFamily="34" charset="-122"/>
                <a:cs typeface="Calibri" pitchFamily="34" charset="-120"/>
              </a:rPr>
              <a:t>5–10 DTE</a:t>
            </a:r>
            <a:endParaRPr lang="en-US" sz="1200" dirty="0"/>
          </a:p>
          <a:p>
            <a:pPr indent="0" marL="0">
              <a:lnSpc>
                <a:spcPct val="120000"/>
              </a:lnSpc>
              <a:buNone/>
            </a:pPr>
            <a:r>
              <a:rPr lang="en-US" sz="1200" dirty="0">
                <a:solidFill>
                  <a:srgbClr val="6B7280"/>
                </a:solidFill>
                <a:latin typeface="Calibri" pitchFamily="34" charset="0"/>
                <a:ea typeface="Calibri" pitchFamily="34" charset="-122"/>
                <a:cs typeface="Calibri" pitchFamily="34" charset="-120"/>
              </a:rPr>
              <a:t>new proposed best</a:t>
            </a:r>
            <a:endParaRPr lang="en-US" sz="1200" dirty="0"/>
          </a:p>
        </p:txBody>
      </p:sp>
      <p:sp>
        <p:nvSpPr>
          <p:cNvPr id="21" name="Text 19"/>
          <p:cNvSpPr txBox="1"/>
          <p:nvPr/>
        </p:nvSpPr>
        <p:spPr>
          <a:xfrm>
            <a:off x="9029700" y="3904488"/>
            <a:ext cx="365760" cy="320040"/>
          </a:xfrm>
          <a:prstGeom prst="rect">
            <a:avLst/>
          </a:prstGeom>
          <a:noFill/>
          <a:ln/>
        </p:spPr>
        <p:txBody>
          <a:bodyPr wrap="square" lIns="0" tIns="0" rIns="0" bIns="0" rtlCol="0" anchor="ctr"/>
          <a:lstStyle/>
          <a:p>
            <a:pPr algn="ctr" indent="0" marL="0">
              <a:buNone/>
            </a:pPr>
            <a:r>
              <a:rPr lang="en-US" sz="1600" b="1" dirty="0">
                <a:solidFill>
                  <a:srgbClr val="6B7280"/>
                </a:solidFill>
              </a:rPr>
              <a:t>↓</a:t>
            </a:r>
            <a:endParaRPr lang="en-US" sz="1600" dirty="0"/>
          </a:p>
        </p:txBody>
      </p:sp>
      <p:sp>
        <p:nvSpPr>
          <p:cNvPr id="22" name="Shape 20"/>
          <p:cNvSpPr/>
          <p:nvPr/>
        </p:nvSpPr>
        <p:spPr>
          <a:xfrm>
            <a:off x="7589520" y="4251960"/>
            <a:ext cx="3246120" cy="502920"/>
          </a:xfrm>
          <a:prstGeom prst="roundRect">
            <a:avLst>
              <a:gd name="adj" fmla="val 10909"/>
            </a:avLst>
          </a:prstGeom>
          <a:solidFill>
            <a:srgbClr val="1C2B52"/>
          </a:solidFill>
          <a:ln/>
        </p:spPr>
      </p:sp>
      <p:sp>
        <p:nvSpPr>
          <p:cNvPr id="23" name="Text 21"/>
          <p:cNvSpPr txBox="1"/>
          <p:nvPr/>
        </p:nvSpPr>
        <p:spPr>
          <a:xfrm>
            <a:off x="7589520" y="4251960"/>
            <a:ext cx="3246120" cy="502920"/>
          </a:xfrm>
          <a:prstGeom prst="rect">
            <a:avLst/>
          </a:prstGeom>
          <a:noFill/>
          <a:ln/>
        </p:spPr>
        <p:txBody>
          <a:bodyPr wrap="square" lIns="0" tIns="0" rIns="0" bIns="0" rtlCol="0" anchor="ctr"/>
          <a:lstStyle/>
          <a:p>
            <a:pPr algn="ctr" indent="0" marL="0">
              <a:buNone/>
            </a:pPr>
            <a:r>
              <a:rPr lang="en-US" sz="1050" dirty="0">
                <a:solidFill>
                  <a:srgbClr val="C7D2E8"/>
                </a:solidFill>
                <a:latin typeface="Calibri" pitchFamily="34" charset="0"/>
                <a:ea typeface="Calibri" pitchFamily="34" charset="-122"/>
                <a:cs typeface="Calibri" pitchFamily="34" charset="-120"/>
              </a:rPr>
              <a:t>own isolated artifact log</a:t>
            </a:r>
            <a:endParaRPr lang="en-US" sz="1050" dirty="0"/>
          </a:p>
        </p:txBody>
      </p:sp>
      <p:sp>
        <p:nvSpPr>
          <p:cNvPr id="24" name="Text 22"/>
          <p:cNvSpPr txBox="1"/>
          <p:nvPr/>
        </p:nvSpPr>
        <p:spPr>
          <a:xfrm>
            <a:off x="640080" y="4892040"/>
            <a:ext cx="10881360" cy="320040"/>
          </a:xfrm>
          <a:prstGeom prst="rect">
            <a:avLst/>
          </a:prstGeom>
          <a:noFill/>
          <a:ln/>
        </p:spPr>
        <p:txBody>
          <a:bodyPr wrap="square" lIns="0" tIns="0" rIns="0" bIns="0" rtlCol="0" anchor="ctr"/>
          <a:lstStyle/>
          <a:p>
            <a:pPr algn="ctr" indent="0" marL="0">
              <a:buNone/>
            </a:pPr>
            <a:r>
              <a:rPr lang="en-US" sz="1100" b="1" dirty="0">
                <a:solidFill>
                  <a:srgbClr val="6B7280"/>
                </a:solidFill>
                <a:latin typeface="Calibri" pitchFamily="34" charset="0"/>
                <a:ea typeface="Calibri" pitchFamily="34" charset="-122"/>
                <a:cs typeface="Calibri" pitchFamily="34" charset="-120"/>
              </a:rPr>
              <a:t>↓  converge nightly  ↓</a:t>
            </a:r>
            <a:endParaRPr lang="en-US" sz="1100" dirty="0"/>
          </a:p>
        </p:txBody>
      </p:sp>
      <p:sp>
        <p:nvSpPr>
          <p:cNvPr id="25" name="Shape 23"/>
          <p:cNvSpPr/>
          <p:nvPr/>
        </p:nvSpPr>
        <p:spPr>
          <a:xfrm>
            <a:off x="640080" y="5257800"/>
            <a:ext cx="10881360" cy="868680"/>
          </a:xfrm>
          <a:prstGeom prst="roundRect">
            <a:avLst>
              <a:gd name="adj" fmla="val 10526"/>
            </a:avLst>
          </a:prstGeom>
          <a:solidFill>
            <a:srgbClr val="D9A441"/>
          </a:solidFill>
          <a:ln/>
        </p:spPr>
      </p:sp>
      <p:sp>
        <p:nvSpPr>
          <p:cNvPr id="26" name="Text 24"/>
          <p:cNvSpPr txBox="1"/>
          <p:nvPr/>
        </p:nvSpPr>
        <p:spPr>
          <a:xfrm>
            <a:off x="914400" y="5257800"/>
            <a:ext cx="10332720" cy="868680"/>
          </a:xfrm>
          <a:prstGeom prst="rect">
            <a:avLst/>
          </a:prstGeom>
          <a:noFill/>
          <a:ln/>
        </p:spPr>
        <p:txBody>
          <a:bodyPr wrap="square" lIns="0" tIns="0" rIns="0" bIns="0" rtlCol="0" anchor="ctr"/>
          <a:lstStyle/>
          <a:p>
            <a:pPr indent="0" marL="0">
              <a:lnSpc>
                <a:spcPct val="120000"/>
              </a:lnSpc>
              <a:buNone/>
            </a:pPr>
            <a:r>
              <a:rPr lang="en-US" sz="1250" b="1" dirty="0">
                <a:solidFill>
                  <a:srgbClr val="131F3C"/>
                </a:solidFill>
                <a:latin typeface="Calibri" pitchFamily="34" charset="0"/>
                <a:ea typeface="Calibri" pitchFamily="34" charset="-122"/>
                <a:cs typeface="Calibri" pitchFamily="34" charset="-120"/>
              </a:rPr>
              <a:t>Bonus, not the goal: </a:t>
            </a:r>
            <a:pPr indent="0" marL="0">
              <a:lnSpc>
                <a:spcPct val="120000"/>
              </a:lnSpc>
              <a:buNone/>
            </a:pPr>
            <a:r>
              <a:rPr lang="en-US" sz="1250" dirty="0">
                <a:solidFill>
                  <a:srgbClr val="131F3C"/>
                </a:solidFill>
                <a:latin typeface="Calibri" pitchFamily="34" charset="0"/>
                <a:ea typeface="Calibri" pitchFamily="34" charset="-122"/>
                <a:cs typeface="Calibri" pitchFamily="34" charset="-120"/>
              </a:rPr>
              <a:t>building this comparison harness found and fixed 4 real production bugs before the live week could hit them: a Merkle-root path collision, a UTC/ET timestamp mismatch, and two separate silent scheduling failures.</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31F3C"/>
        </a:solidFill>
      </p:bgPr>
    </p:bg>
    <p:spTree>
      <p:nvGrpSpPr>
        <p:cNvPr id="1" name=""/>
        <p:cNvGrpSpPr/>
        <p:nvPr/>
      </p:nvGrpSpPr>
      <p:grpSpPr>
        <a:xfrm>
          <a:off x="0" y="0"/>
          <a:ext cx="0" cy="0"/>
          <a:chOff x="0" y="0"/>
          <a:chExt cx="0" cy="0"/>
        </a:xfrm>
      </p:grpSpPr>
      <p:sp>
        <p:nvSpPr>
          <p:cNvPr id="2" name="Text 0"/>
          <p:cNvSpPr txBox="1"/>
          <p:nvPr/>
        </p:nvSpPr>
        <p:spPr>
          <a:xfrm>
            <a:off x="640080" y="502920"/>
            <a:ext cx="9144000" cy="36576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TRUST, BUT VERIFY</a:t>
            </a:r>
            <a:endParaRPr lang="en-US" sz="1300" dirty="0"/>
          </a:p>
        </p:txBody>
      </p:sp>
      <p:sp>
        <p:nvSpPr>
          <p:cNvPr id="3" name="Text 1"/>
          <p:cNvSpPr txBox="1"/>
          <p:nvPr/>
        </p:nvSpPr>
        <p:spPr>
          <a:xfrm>
            <a:off x="640080" y="914400"/>
            <a:ext cx="10789920" cy="1005840"/>
          </a:xfrm>
          <a:prstGeom prst="rect">
            <a:avLst/>
          </a:prstGeom>
          <a:noFill/>
          <a:ln/>
        </p:spPr>
        <p:txBody>
          <a:bodyPr wrap="square" lIns="0" tIns="0" rIns="0" bIns="0" rtlCol="0" anchor="ctr"/>
          <a:lstStyle/>
          <a:p>
            <a:pPr indent="0" marL="0">
              <a:lnSpc>
                <a:spcPct val="105000"/>
              </a:lnSpc>
              <a:buNone/>
            </a:pPr>
            <a:r>
              <a:rPr lang="en-US" sz="3200" b="1" dirty="0">
                <a:solidFill>
                  <a:srgbClr val="FFFFFF"/>
                </a:solidFill>
                <a:latin typeface="Cambria" pitchFamily="34" charset="0"/>
                <a:ea typeface="Cambria" pitchFamily="34" charset="-122"/>
                <a:cs typeface="Cambria" pitchFamily="34" charset="-120"/>
              </a:rPr>
              <a:t>Every decision is a signed artifact</a:t>
            </a:r>
            <a:endParaRPr lang="en-US" sz="3200" dirty="0"/>
          </a:p>
        </p:txBody>
      </p:sp>
      <p:sp>
        <p:nvSpPr>
          <p:cNvPr id="4" name="Text 2"/>
          <p:cNvSpPr txBox="1"/>
          <p:nvPr/>
        </p:nvSpPr>
        <p:spPr>
          <a:xfrm>
            <a:off x="11368735" y="6355080"/>
            <a:ext cx="548640" cy="320040"/>
          </a:xfrm>
          <a:prstGeom prst="rect">
            <a:avLst/>
          </a:prstGeom>
          <a:noFill/>
          <a:ln/>
        </p:spPr>
        <p:txBody>
          <a:bodyPr wrap="square" lIns="0" tIns="0" rIns="0" bIns="0" rtlCol="0" anchor="ctr"/>
          <a:lstStyle/>
          <a:p>
            <a:pPr algn="r" indent="0" marL="0">
              <a:buNone/>
            </a:pPr>
            <a:r>
              <a:rPr lang="en-US" sz="1000" dirty="0">
                <a:solidFill>
                  <a:srgbClr val="8C9BC4"/>
                </a:solidFill>
                <a:latin typeface="Calibri" pitchFamily="34" charset="0"/>
                <a:ea typeface="Calibri" pitchFamily="34" charset="-122"/>
                <a:cs typeface="Calibri" pitchFamily="34" charset="-120"/>
              </a:rPr>
              <a:t>11</a:t>
            </a:r>
            <a:endParaRPr lang="en-US" sz="1000" dirty="0"/>
          </a:p>
        </p:txBody>
      </p:sp>
      <p:sp>
        <p:nvSpPr>
          <p:cNvPr id="5" name="Shape 3"/>
          <p:cNvSpPr/>
          <p:nvPr/>
        </p:nvSpPr>
        <p:spPr>
          <a:xfrm>
            <a:off x="640080" y="2148840"/>
            <a:ext cx="10881360" cy="1280160"/>
          </a:xfrm>
          <a:prstGeom prst="roundRect">
            <a:avLst>
              <a:gd name="adj" fmla="val 7143"/>
            </a:avLst>
          </a:prstGeom>
          <a:solidFill>
            <a:srgbClr val="0C1428"/>
          </a:solidFill>
          <a:ln w="12700">
            <a:solidFill>
              <a:srgbClr val="2A3A66"/>
            </a:solidFill>
            <a:prstDash val="solid"/>
          </a:ln>
        </p:spPr>
      </p:sp>
      <p:sp>
        <p:nvSpPr>
          <p:cNvPr id="6" name="Text 4"/>
          <p:cNvSpPr txBox="1"/>
          <p:nvPr/>
        </p:nvSpPr>
        <p:spPr>
          <a:xfrm>
            <a:off x="960120" y="2331720"/>
            <a:ext cx="10241280" cy="914400"/>
          </a:xfrm>
          <a:prstGeom prst="rect">
            <a:avLst/>
          </a:prstGeom>
          <a:noFill/>
          <a:ln/>
        </p:spPr>
        <p:txBody>
          <a:bodyPr wrap="square" lIns="0" tIns="0" rIns="0" bIns="0" rtlCol="0" anchor="ctr"/>
          <a:lstStyle/>
          <a:p>
            <a:pPr indent="0" marL="0">
              <a:lnSpc>
                <a:spcPct val="130000"/>
              </a:lnSpc>
              <a:buNone/>
            </a:pPr>
            <a:r>
              <a:rPr lang="en-US" sz="1500" dirty="0">
                <a:solidFill>
                  <a:srgbClr val="6EE7A8"/>
                </a:solidFill>
                <a:latin typeface="Courier New" pitchFamily="34" charset="0"/>
                <a:ea typeface="Courier New" pitchFamily="34" charset="-122"/>
                <a:cs typeface="Courier New" pitchFamily="34" charset="-120"/>
              </a:rPr>
              <a:t>VERIFIED: 14 artifacts, root 1a338b5a09ea90bd...</a:t>
            </a:r>
            <a:endParaRPr lang="en-US" sz="1500" dirty="0"/>
          </a:p>
          <a:p>
            <a:pPr indent="0" marL="0">
              <a:lnSpc>
                <a:spcPct val="130000"/>
              </a:lnSpc>
              <a:buNone/>
            </a:pPr>
            <a:r>
              <a:rPr lang="en-US" sz="1500" dirty="0">
                <a:solidFill>
                  <a:srgbClr val="6EE7A8"/>
                </a:solidFill>
                <a:latin typeface="Courier New" pitchFamily="34" charset="0"/>
                <a:ea typeface="Courier New" pitchFamily="34" charset="-122"/>
                <a:cs typeface="Courier New" pitchFamily="34" charset="-120"/>
              </a:rPr>
              <a:t>matches the seal written 2026-08-27T07:18:45Z</a:t>
            </a:r>
            <a:endParaRPr lang="en-US" sz="1500" dirty="0"/>
          </a:p>
        </p:txBody>
      </p:sp>
      <p:sp>
        <p:nvSpPr>
          <p:cNvPr id="7" name="Text 5"/>
          <p:cNvSpPr txBox="1"/>
          <p:nvPr/>
        </p:nvSpPr>
        <p:spPr>
          <a:xfrm>
            <a:off x="640080" y="3703320"/>
            <a:ext cx="6035040" cy="1463040"/>
          </a:xfrm>
          <a:prstGeom prst="rect">
            <a:avLst/>
          </a:prstGeom>
          <a:noFill/>
          <a:ln/>
        </p:spPr>
        <p:txBody>
          <a:bodyPr wrap="square" lIns="0" tIns="0" rIns="0" bIns="0" rtlCol="0" anchor="ctr"/>
          <a:lstStyle/>
          <a:p>
            <a:pPr indent="0" marL="0">
              <a:lnSpc>
                <a:spcPct val="130000"/>
              </a:lnSpc>
              <a:buNone/>
            </a:pPr>
            <a:r>
              <a:rPr lang="en-US" sz="1450" dirty="0">
                <a:solidFill>
                  <a:srgbClr val="C7D2E8"/>
                </a:solidFill>
                <a:latin typeface="Calibri" pitchFamily="34" charset="0"/>
                <a:ea typeface="Calibri" pitchFamily="34" charset="-122"/>
                <a:cs typeface="Calibri" pitchFamily="34" charset="-120"/>
              </a:rPr>
              <a:t>A SHA-256 Merkle tree over every decision: domain-separated leaves and nodes, root sealed before outcomes are known. Anyone can recompute it and confirm nothing was edited after the fact.</a:t>
            </a:r>
            <a:endParaRPr lang="en-US" sz="1450" dirty="0"/>
          </a:p>
        </p:txBody>
      </p:sp>
      <p:sp>
        <p:nvSpPr>
          <p:cNvPr id="8" name="Text 6"/>
          <p:cNvSpPr txBox="1"/>
          <p:nvPr/>
        </p:nvSpPr>
        <p:spPr>
          <a:xfrm>
            <a:off x="640080" y="5074920"/>
            <a:ext cx="6035040" cy="914400"/>
          </a:xfrm>
          <a:prstGeom prst="rect">
            <a:avLst/>
          </a:prstGeom>
          <a:noFill/>
          <a:ln/>
        </p:spPr>
        <p:txBody>
          <a:bodyPr wrap="square" lIns="0" tIns="0" rIns="0" bIns="0" rtlCol="0" anchor="ctr"/>
          <a:lstStyle/>
          <a:p>
            <a:pPr indent="0" marL="0">
              <a:lnSpc>
                <a:spcPct val="130000"/>
              </a:lnSpc>
              <a:buNone/>
            </a:pPr>
            <a:r>
              <a:rPr lang="en-US" sz="1500" b="1" i="1" dirty="0">
                <a:solidFill>
                  <a:srgbClr val="FFFFFF"/>
                </a:solidFill>
                <a:latin typeface="Calibri" pitchFamily="34" charset="0"/>
                <a:ea typeface="Calibri" pitchFamily="34" charset="-122"/>
                <a:cs typeface="Calibri" pitchFamily="34" charset="-120"/>
              </a:rPr>
              <a:t>The judge doesn’t have to trust the operator, which is the whole point when the operator has an incentive to look good.</a:t>
            </a:r>
            <a:endParaRPr lang="en-US" sz="1500" dirty="0"/>
          </a:p>
        </p:txBody>
      </p:sp>
      <p:sp>
        <p:nvSpPr>
          <p:cNvPr id="9" name="Shape 7"/>
          <p:cNvSpPr/>
          <p:nvPr/>
        </p:nvSpPr>
        <p:spPr>
          <a:xfrm>
            <a:off x="7040880" y="3703320"/>
            <a:ext cx="4480560" cy="2331720"/>
          </a:xfrm>
          <a:prstGeom prst="roundRect">
            <a:avLst>
              <a:gd name="adj" fmla="val 4706"/>
            </a:avLst>
          </a:prstGeom>
          <a:solidFill>
            <a:srgbClr val="1C2B52"/>
          </a:solidFill>
          <a:ln/>
        </p:spPr>
      </p:sp>
      <p:sp>
        <p:nvSpPr>
          <p:cNvPr id="10" name="Text 8"/>
          <p:cNvSpPr txBox="1"/>
          <p:nvPr/>
        </p:nvSpPr>
        <p:spPr>
          <a:xfrm>
            <a:off x="7360920" y="3931920"/>
            <a:ext cx="3840480" cy="320040"/>
          </a:xfrm>
          <a:prstGeom prst="rect">
            <a:avLst/>
          </a:prstGeom>
          <a:noFill/>
          <a:ln/>
        </p:spPr>
        <p:txBody>
          <a:bodyPr wrap="square" lIns="0" tIns="0" rIns="0" bIns="0" rtlCol="0" anchor="ctr"/>
          <a:lstStyle/>
          <a:p>
            <a:pPr indent="0" marL="0">
              <a:buNone/>
            </a:pPr>
            <a:r>
              <a:rPr lang="en-US" sz="1150" b="1" spc="150" kern="0" dirty="0">
                <a:solidFill>
                  <a:srgbClr val="D9A441"/>
                </a:solidFill>
                <a:latin typeface="Calibri" pitchFamily="34" charset="0"/>
                <a:ea typeface="Calibri" pitchFamily="34" charset="-122"/>
                <a:cs typeface="Calibri" pitchFamily="34" charset="-120"/>
              </a:rPr>
              <a:t>VERIFY IT YOURSELF</a:t>
            </a:r>
            <a:endParaRPr lang="en-US" sz="1150" dirty="0"/>
          </a:p>
        </p:txBody>
      </p:sp>
      <p:sp>
        <p:nvSpPr>
          <p:cNvPr id="11" name="Text 9"/>
          <p:cNvSpPr txBox="1"/>
          <p:nvPr/>
        </p:nvSpPr>
        <p:spPr>
          <a:xfrm>
            <a:off x="7360920" y="4343400"/>
            <a:ext cx="4023360" cy="365760"/>
          </a:xfrm>
          <a:prstGeom prst="rect">
            <a:avLst/>
          </a:prstGeom>
          <a:noFill/>
          <a:ln/>
        </p:spPr>
        <p:txBody>
          <a:bodyPr wrap="square" lIns="0" tIns="0" rIns="0" bIns="0" rtlCol="0" anchor="ctr"/>
          <a:lstStyle/>
          <a:p>
            <a:pPr indent="0" marL="0">
              <a:buNone/>
            </a:pPr>
            <a:r>
              <a:rPr lang="en-US" sz="1250" dirty="0">
                <a:solidFill>
                  <a:srgbClr val="FFFFFF"/>
                </a:solidFill>
                <a:latin typeface="Courier New" pitchFamily="34" charset="0"/>
                <a:ea typeface="Courier New" pitchFamily="34" charset="-122"/>
                <a:cs typeface="Courier New" pitchFamily="34" charset="-120"/>
              </a:rPr>
              <a:t>github.com/nilaymastaadmi/alpaca-hackathon</a:t>
            </a:r>
            <a:endParaRPr lang="en-US" sz="1250" dirty="0"/>
          </a:p>
        </p:txBody>
      </p:sp>
      <p:sp>
        <p:nvSpPr>
          <p:cNvPr id="12" name="Text 10"/>
          <p:cNvSpPr txBox="1"/>
          <p:nvPr/>
        </p:nvSpPr>
        <p:spPr>
          <a:xfrm>
            <a:off x="7360920" y="4846320"/>
            <a:ext cx="4023360" cy="365760"/>
          </a:xfrm>
          <a:prstGeom prst="rect">
            <a:avLst/>
          </a:prstGeom>
          <a:noFill/>
          <a:ln/>
        </p:spPr>
        <p:txBody>
          <a:bodyPr wrap="square" lIns="0" tIns="0" rIns="0" bIns="0" rtlCol="0" anchor="ctr"/>
          <a:lstStyle/>
          <a:p>
            <a:pPr indent="0" marL="0">
              <a:buNone/>
            </a:pPr>
            <a:r>
              <a:rPr lang="en-US" sz="1250" dirty="0">
                <a:solidFill>
                  <a:srgbClr val="C7D2E8"/>
                </a:solidFill>
                <a:latin typeface="Calibri" pitchFamily="34" charset="0"/>
                <a:ea typeface="Calibri" pitchFamily="34" charset="-122"/>
                <a:cs typeface="Calibri" pitchFamily="34" charset="-120"/>
              </a:rPr>
              <a:t>Live dashboard → Streamlit Cloud</a:t>
            </a:r>
            <a:endParaRPr lang="en-US" sz="1250" dirty="0"/>
          </a:p>
        </p:txBody>
      </p:sp>
      <p:sp>
        <p:nvSpPr>
          <p:cNvPr id="13" name="Text 11"/>
          <p:cNvSpPr txBox="1"/>
          <p:nvPr/>
        </p:nvSpPr>
        <p:spPr>
          <a:xfrm>
            <a:off x="7360920" y="5349240"/>
            <a:ext cx="4023360" cy="594360"/>
          </a:xfrm>
          <a:prstGeom prst="rect">
            <a:avLst/>
          </a:prstGeom>
          <a:noFill/>
          <a:ln/>
        </p:spPr>
        <p:txBody>
          <a:bodyPr wrap="square" lIns="0" tIns="0" rIns="0" bIns="0" rtlCol="0" anchor="ctr"/>
          <a:lstStyle/>
          <a:p>
            <a:pPr indent="0" marL="0">
              <a:lnSpc>
                <a:spcPct val="130000"/>
              </a:lnSpc>
              <a:buNone/>
            </a:pPr>
            <a:r>
              <a:rPr lang="en-US" sz="1200" dirty="0">
                <a:solidFill>
                  <a:srgbClr val="C7D2E8"/>
                </a:solidFill>
                <a:latin typeface="Courier New" pitchFamily="34" charset="0"/>
                <a:ea typeface="Courier New" pitchFamily="34" charset="-122"/>
                <a:cs typeface="Courier New" pitchFamily="34" charset="-120"/>
              </a:rPr>
              <a:t>make test  →  195 tests</a:t>
            </a:r>
            <a:endParaRPr lang="en-US" sz="1200" dirty="0"/>
          </a:p>
          <a:p>
            <a:pPr indent="0" marL="0">
              <a:lnSpc>
                <a:spcPct val="130000"/>
              </a:lnSpc>
              <a:buNone/>
            </a:pPr>
            <a:r>
              <a:rPr lang="en-US" sz="1200" dirty="0">
                <a:solidFill>
                  <a:srgbClr val="C7D2E8"/>
                </a:solidFill>
                <a:latin typeface="Courier New" pitchFamily="34" charset="0"/>
                <a:ea typeface="Courier New" pitchFamily="34" charset="-122"/>
                <a:cs typeface="Courier New" pitchFamily="34" charset="-120"/>
              </a:rPr>
              <a:t>make verify → recomputes the root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31F3C"/>
        </a:solidFill>
      </p:bgPr>
    </p:bg>
    <p:spTree>
      <p:nvGrpSpPr>
        <p:cNvPr id="1" name=""/>
        <p:cNvGrpSpPr/>
        <p:nvPr/>
      </p:nvGrpSpPr>
      <p:grpSpPr>
        <a:xfrm>
          <a:off x="0" y="0"/>
          <a:ext cx="0" cy="0"/>
          <a:chOff x="0" y="0"/>
          <a:chExt cx="0" cy="0"/>
        </a:xfrm>
      </p:grpSpPr>
      <p:sp>
        <p:nvSpPr>
          <p:cNvPr id="2" name="Text 0"/>
          <p:cNvSpPr txBox="1"/>
          <p:nvPr/>
        </p:nvSpPr>
        <p:spPr>
          <a:xfrm>
            <a:off x="640080" y="502920"/>
            <a:ext cx="9144000" cy="36576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THE UNCOMFORTABLE SLIDE</a:t>
            </a:r>
            <a:endParaRPr lang="en-US" sz="1300" dirty="0"/>
          </a:p>
        </p:txBody>
      </p:sp>
      <p:sp>
        <p:nvSpPr>
          <p:cNvPr id="3" name="Text 1"/>
          <p:cNvSpPr txBox="1"/>
          <p:nvPr/>
        </p:nvSpPr>
        <p:spPr>
          <a:xfrm>
            <a:off x="640080" y="914400"/>
            <a:ext cx="10789920" cy="1005840"/>
          </a:xfrm>
          <a:prstGeom prst="rect">
            <a:avLst/>
          </a:prstGeom>
          <a:noFill/>
          <a:ln/>
        </p:spPr>
        <p:txBody>
          <a:bodyPr wrap="square" lIns="0" tIns="0" rIns="0" bIns="0" rtlCol="0" anchor="ctr"/>
          <a:lstStyle/>
          <a:p>
            <a:pPr indent="0" marL="0">
              <a:lnSpc>
                <a:spcPct val="105000"/>
              </a:lnSpc>
              <a:buNone/>
            </a:pPr>
            <a:r>
              <a:rPr lang="en-US" sz="3400" b="1" dirty="0">
                <a:solidFill>
                  <a:srgbClr val="FFFFFF"/>
                </a:solidFill>
                <a:latin typeface="Cambria" pitchFamily="34" charset="0"/>
                <a:ea typeface="Cambria" pitchFamily="34" charset="-122"/>
                <a:cs typeface="Cambria" pitchFamily="34" charset="-120"/>
              </a:rPr>
              <a:t>Will it even trade this week?</a:t>
            </a:r>
            <a:endParaRPr lang="en-US" sz="3400" dirty="0"/>
          </a:p>
        </p:txBody>
      </p:sp>
      <p:sp>
        <p:nvSpPr>
          <p:cNvPr id="4" name="Text 2"/>
          <p:cNvSpPr txBox="1"/>
          <p:nvPr/>
        </p:nvSpPr>
        <p:spPr>
          <a:xfrm>
            <a:off x="11368735" y="6355080"/>
            <a:ext cx="548640" cy="320040"/>
          </a:xfrm>
          <a:prstGeom prst="rect">
            <a:avLst/>
          </a:prstGeom>
          <a:noFill/>
          <a:ln/>
        </p:spPr>
        <p:txBody>
          <a:bodyPr wrap="square" lIns="0" tIns="0" rIns="0" bIns="0" rtlCol="0" anchor="ctr"/>
          <a:lstStyle/>
          <a:p>
            <a:pPr algn="r" indent="0" marL="0">
              <a:buNone/>
            </a:pPr>
            <a:r>
              <a:rPr lang="en-US" sz="1000" dirty="0">
                <a:solidFill>
                  <a:srgbClr val="8C9BC4"/>
                </a:solidFill>
                <a:latin typeface="Calibri" pitchFamily="34" charset="0"/>
                <a:ea typeface="Calibri" pitchFamily="34" charset="-122"/>
                <a:cs typeface="Calibri" pitchFamily="34" charset="-120"/>
              </a:rPr>
              <a:t>12</a:t>
            </a:r>
            <a:endParaRPr lang="en-US" sz="1000" dirty="0"/>
          </a:p>
        </p:txBody>
      </p:sp>
      <p:sp>
        <p:nvSpPr>
          <p:cNvPr id="5" name="Text 3"/>
          <p:cNvSpPr txBox="1"/>
          <p:nvPr/>
        </p:nvSpPr>
        <p:spPr>
          <a:xfrm>
            <a:off x="640080" y="2331720"/>
            <a:ext cx="4572000" cy="868680"/>
          </a:xfrm>
          <a:prstGeom prst="rect">
            <a:avLst/>
          </a:prstGeom>
          <a:noFill/>
          <a:ln/>
        </p:spPr>
        <p:txBody>
          <a:bodyPr wrap="square" lIns="0" tIns="0" rIns="0" bIns="0" rtlCol="0" anchor="ctr"/>
          <a:lstStyle/>
          <a:p>
            <a:pPr algn="l" indent="0" marL="0">
              <a:buNone/>
            </a:pPr>
            <a:r>
              <a:rPr lang="en-US" sz="4600" b="1" dirty="0">
                <a:solidFill>
                  <a:srgbClr val="D9A441"/>
                </a:solidFill>
                <a:latin typeface="Cambria" pitchFamily="34" charset="0"/>
                <a:ea typeface="Cambria" pitchFamily="34" charset="-122"/>
                <a:cs typeface="Cambria" pitchFamily="34" charset="-120"/>
              </a:rPr>
              <a:t>0 / 14</a:t>
            </a:r>
            <a:endParaRPr lang="en-US" sz="4600" dirty="0"/>
          </a:p>
        </p:txBody>
      </p:sp>
      <p:sp>
        <p:nvSpPr>
          <p:cNvPr id="6" name="Text 4"/>
          <p:cNvSpPr txBox="1"/>
          <p:nvPr/>
        </p:nvSpPr>
        <p:spPr>
          <a:xfrm>
            <a:off x="640080" y="3172968"/>
            <a:ext cx="4572000" cy="640080"/>
          </a:xfrm>
          <a:prstGeom prst="rect">
            <a:avLst/>
          </a:prstGeom>
          <a:noFill/>
          <a:ln/>
        </p:spPr>
        <p:txBody>
          <a:bodyPr wrap="square" lIns="0" tIns="0" rIns="0" bIns="0" rtlCol="0" anchor="ctr"/>
          <a:lstStyle/>
          <a:p>
            <a:pPr algn="l" indent="0" marL="0">
              <a:lnSpc>
                <a:spcPct val="115000"/>
              </a:lnSpc>
              <a:buNone/>
            </a:pPr>
            <a:r>
              <a:rPr lang="en-US" sz="1250" dirty="0">
                <a:solidFill>
                  <a:srgbClr val="C7D2E8"/>
                </a:solidFill>
                <a:latin typeface="Calibri" pitchFamily="34" charset="0"/>
                <a:ea typeface="Calibri" pitchFamily="34" charset="-122"/>
                <a:cs typeface="Calibri" pitchFamily="34" charset="-120"/>
              </a:rPr>
              <a:t>cycles logged so far have entered.</a:t>
            </a:r>
            <a:endParaRPr lang="en-US" sz="1250" dirty="0"/>
          </a:p>
          <a:p>
            <a:pPr algn="l" indent="0" marL="0">
              <a:lnSpc>
                <a:spcPct val="115000"/>
              </a:lnSpc>
              <a:buNone/>
            </a:pPr>
            <a:r>
              <a:rPr lang="en-US" sz="1250" dirty="0">
                <a:solidFill>
                  <a:srgbClr val="C7D2E8"/>
                </a:solidFill>
                <a:latin typeface="Calibri" pitchFamily="34" charset="0"/>
                <a:ea typeface="Calibri" pitchFamily="34" charset="-122"/>
                <a:cs typeface="Calibri" pitchFamily="34" charset="-120"/>
              </a:rPr>
              <a:t>Every single one refused.</a:t>
            </a:r>
            <a:endParaRPr lang="en-US" sz="1250" dirty="0"/>
          </a:p>
        </p:txBody>
      </p:sp>
      <p:sp>
        <p:nvSpPr>
          <p:cNvPr id="7" name="Text 5"/>
          <p:cNvSpPr txBox="1"/>
          <p:nvPr/>
        </p:nvSpPr>
        <p:spPr>
          <a:xfrm>
            <a:off x="5760720" y="2331720"/>
            <a:ext cx="5760720" cy="868680"/>
          </a:xfrm>
          <a:prstGeom prst="rect">
            <a:avLst/>
          </a:prstGeom>
          <a:noFill/>
          <a:ln/>
        </p:spPr>
        <p:txBody>
          <a:bodyPr wrap="square" lIns="0" tIns="0" rIns="0" bIns="0" rtlCol="0" anchor="ctr"/>
          <a:lstStyle/>
          <a:p>
            <a:pPr algn="l" indent="0" marL="0">
              <a:buNone/>
            </a:pPr>
            <a:r>
              <a:rPr lang="en-US" sz="4600" b="1" dirty="0">
                <a:solidFill>
                  <a:srgbClr val="D9A441"/>
                </a:solidFill>
                <a:latin typeface="Cambria" pitchFamily="34" charset="0"/>
                <a:ea typeface="Cambria" pitchFamily="34" charset="-122"/>
                <a:cs typeface="Cambria" pitchFamily="34" charset="-120"/>
              </a:rPr>
              <a:t>~28–33%</a:t>
            </a:r>
            <a:endParaRPr lang="en-US" sz="4600" dirty="0"/>
          </a:p>
        </p:txBody>
      </p:sp>
      <p:sp>
        <p:nvSpPr>
          <p:cNvPr id="8" name="Text 6"/>
          <p:cNvSpPr txBox="1"/>
          <p:nvPr/>
        </p:nvSpPr>
        <p:spPr>
          <a:xfrm>
            <a:off x="5760720" y="3172968"/>
            <a:ext cx="5760720" cy="640080"/>
          </a:xfrm>
          <a:prstGeom prst="rect">
            <a:avLst/>
          </a:prstGeom>
          <a:noFill/>
          <a:ln/>
        </p:spPr>
        <p:txBody>
          <a:bodyPr wrap="square" lIns="0" tIns="0" rIns="0" bIns="0" rtlCol="0" anchor="ctr"/>
          <a:lstStyle/>
          <a:p>
            <a:pPr algn="l" indent="0" marL="0">
              <a:lnSpc>
                <a:spcPct val="115000"/>
              </a:lnSpc>
              <a:buNone/>
            </a:pPr>
            <a:r>
              <a:rPr lang="en-US" sz="1250" dirty="0">
                <a:solidFill>
                  <a:srgbClr val="C7D2E8"/>
                </a:solidFill>
                <a:latin typeface="Calibri" pitchFamily="34" charset="0"/>
                <a:ea typeface="Calibri" pitchFamily="34" charset="-122"/>
                <a:cs typeface="Calibri" pitchFamily="34" charset="-120"/>
              </a:rPr>
              <a:t>estimated chance of even ONE trade across the 4.5-day judged window, at the measured VRP distribution, and that’s the optimistic side.</a:t>
            </a:r>
            <a:endParaRPr lang="en-US" sz="1250" dirty="0"/>
          </a:p>
        </p:txBody>
      </p:sp>
      <p:sp>
        <p:nvSpPr>
          <p:cNvPr id="9" name="Shape 7"/>
          <p:cNvSpPr/>
          <p:nvPr/>
        </p:nvSpPr>
        <p:spPr>
          <a:xfrm>
            <a:off x="640080" y="4160520"/>
            <a:ext cx="10881360" cy="0"/>
          </a:xfrm>
          <a:prstGeom prst="line">
            <a:avLst/>
          </a:prstGeom>
          <a:noFill/>
          <a:ln w="12700">
            <a:solidFill>
              <a:srgbClr val="2A3A66"/>
            </a:solidFill>
            <a:prstDash val="solid"/>
          </a:ln>
        </p:spPr>
      </p:sp>
      <p:sp>
        <p:nvSpPr>
          <p:cNvPr id="10" name="Text 8"/>
          <p:cNvSpPr txBox="1"/>
          <p:nvPr/>
        </p:nvSpPr>
        <p:spPr>
          <a:xfrm>
            <a:off x="640080" y="4434840"/>
            <a:ext cx="10881360" cy="1051560"/>
          </a:xfrm>
          <a:prstGeom prst="rect">
            <a:avLst/>
          </a:prstGeom>
          <a:noFill/>
          <a:ln/>
        </p:spPr>
        <p:txBody>
          <a:bodyPr wrap="square" lIns="0" tIns="0" rIns="0" bIns="0" rtlCol="0" anchor="ctr"/>
          <a:lstStyle/>
          <a:p>
            <a:pPr indent="0" marL="0">
              <a:lnSpc>
                <a:spcPct val="130000"/>
              </a:lnSpc>
              <a:buNone/>
            </a:pPr>
            <a:r>
              <a:rPr lang="en-US" sz="1450" dirty="0">
                <a:solidFill>
                  <a:srgbClr val="C7D2E8"/>
                </a:solidFill>
                <a:latin typeface="Calibri" pitchFamily="34" charset="0"/>
                <a:ea typeface="Calibri" pitchFamily="34" charset="-122"/>
                <a:cs typeface="Calibri" pitchFamily="34" charset="-120"/>
              </a:rPr>
              <a:t>This is not a bug. The pre-registered research always expected roughly one trade per week at this sizing. Refusal is the strategy working, not failing. But P&amp;L Performance is a judged criterion, and an agent that refuses all week scores zero on it.</a:t>
            </a:r>
            <a:endParaRPr lang="en-US" sz="1450" dirty="0"/>
          </a:p>
        </p:txBody>
      </p:sp>
      <p:sp>
        <p:nvSpPr>
          <p:cNvPr id="11" name="Text 9"/>
          <p:cNvSpPr txBox="1"/>
          <p:nvPr/>
        </p:nvSpPr>
        <p:spPr>
          <a:xfrm>
            <a:off x="640080" y="5577840"/>
            <a:ext cx="10881360" cy="914400"/>
          </a:xfrm>
          <a:prstGeom prst="rect">
            <a:avLst/>
          </a:prstGeom>
          <a:noFill/>
          <a:ln/>
        </p:spPr>
        <p:txBody>
          <a:bodyPr wrap="square" lIns="0" tIns="0" rIns="0" bIns="0" rtlCol="0" anchor="ctr"/>
          <a:lstStyle/>
          <a:p>
            <a:pPr indent="0" marL="0">
              <a:lnSpc>
                <a:spcPct val="130000"/>
              </a:lnSpc>
              <a:buNone/>
            </a:pPr>
            <a:r>
              <a:rPr lang="en-US" sz="1500" b="1" i="1" dirty="0">
                <a:solidFill>
                  <a:srgbClr val="D9A441"/>
                </a:solidFill>
                <a:latin typeface="Calibri" pitchFamily="34" charset="0"/>
                <a:ea typeface="Calibri" pitchFamily="34" charset="-122"/>
                <a:cs typeface="Calibri" pitchFamily="34" charset="-120"/>
              </a:rPr>
              <a:t>We are not hiding this number, and we won’t lower the threshold after a quiet Monday to manufacture a trade. If it changes, the reasoning gets written down BEFORE the number does.</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640080" y="502920"/>
            <a:ext cx="9144000" cy="36576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31 AUG – 4 SEP</a:t>
            </a:r>
            <a:endParaRPr lang="en-US" sz="1300" dirty="0"/>
          </a:p>
        </p:txBody>
      </p:sp>
      <p:sp>
        <p:nvSpPr>
          <p:cNvPr id="3" name="Text 1"/>
          <p:cNvSpPr txBox="1"/>
          <p:nvPr/>
        </p:nvSpPr>
        <p:spPr>
          <a:xfrm>
            <a:off x="640080" y="914400"/>
            <a:ext cx="10789920" cy="1005840"/>
          </a:xfrm>
          <a:prstGeom prst="rect">
            <a:avLst/>
          </a:prstGeom>
          <a:noFill/>
          <a:ln/>
        </p:spPr>
        <p:txBody>
          <a:bodyPr wrap="square" lIns="0" tIns="0" rIns="0" bIns="0" rtlCol="0" anchor="ctr"/>
          <a:lstStyle/>
          <a:p>
            <a:pPr indent="0" marL="0">
              <a:lnSpc>
                <a:spcPct val="105000"/>
              </a:lnSpc>
              <a:buNone/>
            </a:pPr>
            <a:r>
              <a:rPr lang="en-US" sz="3200" b="1" dirty="0">
                <a:solidFill>
                  <a:srgbClr val="131F3C"/>
                </a:solidFill>
                <a:latin typeface="Cambria" pitchFamily="34" charset="0"/>
                <a:ea typeface="Cambria" pitchFamily="34" charset="-122"/>
                <a:cs typeface="Cambria" pitchFamily="34" charset="-120"/>
              </a:rPr>
              <a:t>Live week results</a:t>
            </a:r>
            <a:endParaRPr lang="en-US" sz="3200" dirty="0"/>
          </a:p>
        </p:txBody>
      </p:sp>
      <p:sp>
        <p:nvSpPr>
          <p:cNvPr id="4" name="Text 2"/>
          <p:cNvSpPr txBox="1"/>
          <p:nvPr/>
        </p:nvSpPr>
        <p:spPr>
          <a:xfrm>
            <a:off x="11368735" y="6355080"/>
            <a:ext cx="548640" cy="32004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13</a:t>
            </a:r>
            <a:endParaRPr lang="en-US" sz="1000" dirty="0"/>
          </a:p>
        </p:txBody>
      </p:sp>
      <p:sp>
        <p:nvSpPr>
          <p:cNvPr id="5" name="Shape 3"/>
          <p:cNvSpPr/>
          <p:nvPr/>
        </p:nvSpPr>
        <p:spPr>
          <a:xfrm>
            <a:off x="640080" y="2194560"/>
            <a:ext cx="10881360" cy="3931920"/>
          </a:xfrm>
          <a:prstGeom prst="roundRect">
            <a:avLst>
              <a:gd name="adj" fmla="val 2791"/>
            </a:avLst>
          </a:prstGeom>
          <a:solidFill>
            <a:srgbClr val="FFFFFF"/>
          </a:solidFill>
          <a:ln w="19050">
            <a:solidFill>
              <a:srgbClr val="D9A441"/>
            </a:solidFill>
            <a:prstDash val="dash"/>
          </a:ln>
        </p:spPr>
      </p:sp>
      <p:sp>
        <p:nvSpPr>
          <p:cNvPr id="6" name="Text 4"/>
          <p:cNvSpPr txBox="1"/>
          <p:nvPr/>
        </p:nvSpPr>
        <p:spPr>
          <a:xfrm>
            <a:off x="1005840" y="2514600"/>
            <a:ext cx="10058400" cy="365760"/>
          </a:xfrm>
          <a:prstGeom prst="rect">
            <a:avLst/>
          </a:prstGeom>
          <a:noFill/>
          <a:ln/>
        </p:spPr>
        <p:txBody>
          <a:bodyPr wrap="square" lIns="0" tIns="0" rIns="0" bIns="0" rtlCol="0" anchor="ctr"/>
          <a:lstStyle/>
          <a:p>
            <a:pPr algn="ctr" indent="0" marL="0">
              <a:buNone/>
            </a:pPr>
            <a:r>
              <a:rPr lang="en-US" sz="1300" b="1" spc="150" kern="0" dirty="0">
                <a:solidFill>
                  <a:srgbClr val="D9A441"/>
                </a:solidFill>
                <a:latin typeface="Calibri" pitchFamily="34" charset="0"/>
                <a:ea typeface="Calibri" pitchFamily="34" charset="-122"/>
                <a:cs typeface="Calibri" pitchFamily="34" charset="-120"/>
              </a:rPr>
              <a:t>DRAFT: UPDATE DURING THE LIVE WEEK</a:t>
            </a:r>
            <a:endParaRPr lang="en-US" sz="1300" dirty="0"/>
          </a:p>
        </p:txBody>
      </p:sp>
      <p:sp>
        <p:nvSpPr>
          <p:cNvPr id="7" name="Shape 5"/>
          <p:cNvSpPr/>
          <p:nvPr/>
        </p:nvSpPr>
        <p:spPr>
          <a:xfrm>
            <a:off x="1188720" y="3200400"/>
            <a:ext cx="384048" cy="384048"/>
          </a:xfrm>
          <a:prstGeom prst="ellipse">
            <a:avLst/>
          </a:prstGeom>
          <a:solidFill>
            <a:srgbClr val="131F3C"/>
          </a:solidFill>
          <a:ln/>
        </p:spPr>
      </p:sp>
      <p:sp>
        <p:nvSpPr>
          <p:cNvPr id="8" name="Text 6"/>
          <p:cNvSpPr txBox="1"/>
          <p:nvPr/>
        </p:nvSpPr>
        <p:spPr>
          <a:xfrm>
            <a:off x="1188720" y="32004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783080" y="3163824"/>
            <a:ext cx="9052560" cy="457200"/>
          </a:xfrm>
          <a:prstGeom prst="rect">
            <a:avLst/>
          </a:prstGeom>
          <a:noFill/>
          <a:ln/>
        </p:spPr>
        <p:txBody>
          <a:bodyPr wrap="square" lIns="0" tIns="0" rIns="0" bIns="0" rtlCol="0" anchor="ctr"/>
          <a:lstStyle/>
          <a:p>
            <a:pPr indent="0" marL="0">
              <a:buNone/>
            </a:pPr>
            <a:r>
              <a:rPr lang="en-US" sz="1400" dirty="0">
                <a:solidFill>
                  <a:srgbClr val="20242E"/>
                </a:solidFill>
                <a:latin typeface="Calibri" pitchFamily="34" charset="0"/>
                <a:ea typeface="Calibri" pitchFamily="34" charset="-122"/>
                <a:cs typeface="Calibri" pitchFamily="34" charset="-120"/>
              </a:rPr>
              <a:t>Dashboard screenshot: decisions, gates, artifact count</a:t>
            </a:r>
            <a:endParaRPr lang="en-US" sz="1400" dirty="0"/>
          </a:p>
        </p:txBody>
      </p:sp>
      <p:sp>
        <p:nvSpPr>
          <p:cNvPr id="10" name="Shape 8"/>
          <p:cNvSpPr/>
          <p:nvPr/>
        </p:nvSpPr>
        <p:spPr>
          <a:xfrm>
            <a:off x="1188720" y="3858768"/>
            <a:ext cx="384048" cy="384048"/>
          </a:xfrm>
          <a:prstGeom prst="ellipse">
            <a:avLst/>
          </a:prstGeom>
          <a:solidFill>
            <a:srgbClr val="131F3C"/>
          </a:solidFill>
          <a:ln/>
        </p:spPr>
      </p:sp>
      <p:sp>
        <p:nvSpPr>
          <p:cNvPr id="11" name="Text 9"/>
          <p:cNvSpPr txBox="1"/>
          <p:nvPr/>
        </p:nvSpPr>
        <p:spPr>
          <a:xfrm>
            <a:off x="1188720" y="38587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1783080" y="3822192"/>
            <a:ext cx="9052560" cy="457200"/>
          </a:xfrm>
          <a:prstGeom prst="rect">
            <a:avLst/>
          </a:prstGeom>
          <a:noFill/>
          <a:ln/>
        </p:spPr>
        <p:txBody>
          <a:bodyPr wrap="square" lIns="0" tIns="0" rIns="0" bIns="0" rtlCol="0" anchor="ctr"/>
          <a:lstStyle/>
          <a:p>
            <a:pPr indent="0" marL="0">
              <a:buNone/>
            </a:pPr>
            <a:r>
              <a:rPr lang="en-US" sz="1400" dirty="0">
                <a:solidFill>
                  <a:srgbClr val="20242E"/>
                </a:solidFill>
                <a:latin typeface="Calibri" pitchFamily="34" charset="0"/>
                <a:ea typeface="Calibri" pitchFamily="34" charset="-122"/>
                <a:cs typeface="Calibri" pitchFamily="34" charset="-120"/>
              </a:rPr>
              <a:t>Trades entered vs. refused, with the VRP reading that decided each</a:t>
            </a:r>
            <a:endParaRPr lang="en-US" sz="1400" dirty="0"/>
          </a:p>
        </p:txBody>
      </p:sp>
      <p:sp>
        <p:nvSpPr>
          <p:cNvPr id="13" name="Shape 11"/>
          <p:cNvSpPr/>
          <p:nvPr/>
        </p:nvSpPr>
        <p:spPr>
          <a:xfrm>
            <a:off x="1188720" y="4517136"/>
            <a:ext cx="384048" cy="384048"/>
          </a:xfrm>
          <a:prstGeom prst="ellipse">
            <a:avLst/>
          </a:prstGeom>
          <a:solidFill>
            <a:srgbClr val="131F3C"/>
          </a:solidFill>
          <a:ln/>
        </p:spPr>
      </p:sp>
      <p:sp>
        <p:nvSpPr>
          <p:cNvPr id="14" name="Text 12"/>
          <p:cNvSpPr txBox="1"/>
          <p:nvPr/>
        </p:nvSpPr>
        <p:spPr>
          <a:xfrm>
            <a:off x="1188720" y="451713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txBox="1"/>
          <p:nvPr/>
        </p:nvSpPr>
        <p:spPr>
          <a:xfrm>
            <a:off x="1783080" y="4480560"/>
            <a:ext cx="9052560" cy="457200"/>
          </a:xfrm>
          <a:prstGeom prst="rect">
            <a:avLst/>
          </a:prstGeom>
          <a:noFill/>
          <a:ln/>
        </p:spPr>
        <p:txBody>
          <a:bodyPr wrap="square" lIns="0" tIns="0" rIns="0" bIns="0" rtlCol="0" anchor="ctr"/>
          <a:lstStyle/>
          <a:p>
            <a:pPr indent="0" marL="0">
              <a:buNone/>
            </a:pPr>
            <a:r>
              <a:rPr lang="en-US" sz="1400" dirty="0">
                <a:solidFill>
                  <a:srgbClr val="20242E"/>
                </a:solidFill>
                <a:latin typeface="Calibri" pitchFamily="34" charset="0"/>
                <a:ea typeface="Calibri" pitchFamily="34" charset="-122"/>
                <a:cs typeface="Calibri" pitchFamily="34" charset="-120"/>
              </a:rPr>
              <a:t>Realised P&amp;L, and whether the NFP de-risk (Thu 3 Sep close) fired</a:t>
            </a:r>
            <a:endParaRPr lang="en-US" sz="1400" dirty="0"/>
          </a:p>
        </p:txBody>
      </p:sp>
      <p:sp>
        <p:nvSpPr>
          <p:cNvPr id="16" name="Shape 14"/>
          <p:cNvSpPr/>
          <p:nvPr/>
        </p:nvSpPr>
        <p:spPr>
          <a:xfrm>
            <a:off x="1188720" y="5175504"/>
            <a:ext cx="384048" cy="384048"/>
          </a:xfrm>
          <a:prstGeom prst="ellipse">
            <a:avLst/>
          </a:prstGeom>
          <a:solidFill>
            <a:srgbClr val="131F3C"/>
          </a:solidFill>
          <a:ln/>
        </p:spPr>
      </p:sp>
      <p:sp>
        <p:nvSpPr>
          <p:cNvPr id="17" name="Text 15"/>
          <p:cNvSpPr txBox="1"/>
          <p:nvPr/>
        </p:nvSpPr>
        <p:spPr>
          <a:xfrm>
            <a:off x="1188720" y="517550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8" name="Text 16"/>
          <p:cNvSpPr txBox="1"/>
          <p:nvPr/>
        </p:nvSpPr>
        <p:spPr>
          <a:xfrm>
            <a:off x="1783080" y="5138928"/>
            <a:ext cx="9052560" cy="457200"/>
          </a:xfrm>
          <a:prstGeom prst="rect">
            <a:avLst/>
          </a:prstGeom>
          <a:noFill/>
          <a:ln/>
        </p:spPr>
        <p:txBody>
          <a:bodyPr wrap="square" lIns="0" tIns="0" rIns="0" bIns="0" rtlCol="0" anchor="ctr"/>
          <a:lstStyle/>
          <a:p>
            <a:pPr indent="0" marL="0">
              <a:buNone/>
            </a:pPr>
            <a:r>
              <a:rPr lang="en-US" sz="1400" dirty="0">
                <a:solidFill>
                  <a:srgbClr val="20242E"/>
                </a:solidFill>
                <a:latin typeface="Calibri" pitchFamily="34" charset="0"/>
                <a:ea typeface="Calibri" pitchFamily="34" charset="-122"/>
                <a:cs typeface="Calibri" pitchFamily="34" charset="-120"/>
              </a:rPr>
              <a:t>Final Merkle root and “make verify” output at submission time</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31F3C"/>
        </a:solidFill>
      </p:bgPr>
    </p:bg>
    <p:spTree>
      <p:nvGrpSpPr>
        <p:cNvPr id="1" name=""/>
        <p:cNvGrpSpPr/>
        <p:nvPr/>
      </p:nvGrpSpPr>
      <p:grpSpPr>
        <a:xfrm>
          <a:off x="0" y="0"/>
          <a:ext cx="0" cy="0"/>
          <a:chOff x="0" y="0"/>
          <a:chExt cx="0" cy="0"/>
        </a:xfrm>
      </p:grpSpPr>
      <p:sp>
        <p:nvSpPr>
          <p:cNvPr id="2" name="Text 0"/>
          <p:cNvSpPr txBox="1"/>
          <p:nvPr/>
        </p:nvSpPr>
        <p:spPr>
          <a:xfrm>
            <a:off x="822960" y="822960"/>
            <a:ext cx="7315200" cy="365760"/>
          </a:xfrm>
          <a:prstGeom prst="rect">
            <a:avLst/>
          </a:prstGeom>
          <a:noFill/>
          <a:ln/>
        </p:spPr>
        <p:txBody>
          <a:bodyPr wrap="square" lIns="0" tIns="0" rIns="0" bIns="0" rtlCol="0" anchor="ctr"/>
          <a:lstStyle/>
          <a:p>
            <a:pPr indent="0" marL="0">
              <a:buNone/>
            </a:pPr>
            <a:r>
              <a:rPr lang="en-US" sz="1300" b="1" spc="200" kern="0" dirty="0">
                <a:solidFill>
                  <a:srgbClr val="D9A441"/>
                </a:solidFill>
                <a:latin typeface="Calibri" pitchFamily="34" charset="0"/>
                <a:ea typeface="Calibri" pitchFamily="34" charset="-122"/>
                <a:cs typeface="Calibri" pitchFamily="34" charset="-120"/>
              </a:rPr>
              <a:t>WHAT MAKES THIS DIFFERENT</a:t>
            </a:r>
            <a:endParaRPr lang="en-US" sz="1300" dirty="0"/>
          </a:p>
        </p:txBody>
      </p:sp>
      <p:sp>
        <p:nvSpPr>
          <p:cNvPr id="3" name="Shape 1"/>
          <p:cNvSpPr/>
          <p:nvPr/>
        </p:nvSpPr>
        <p:spPr>
          <a:xfrm>
            <a:off x="822960" y="1490472"/>
            <a:ext cx="109728" cy="109728"/>
          </a:xfrm>
          <a:prstGeom prst="ellipse">
            <a:avLst/>
          </a:prstGeom>
          <a:solidFill>
            <a:srgbClr val="D9A441"/>
          </a:solidFill>
          <a:ln/>
        </p:spPr>
      </p:sp>
      <p:sp>
        <p:nvSpPr>
          <p:cNvPr id="4" name="Text 2"/>
          <p:cNvSpPr txBox="1"/>
          <p:nvPr/>
        </p:nvSpPr>
        <p:spPr>
          <a:xfrm>
            <a:off x="1143000" y="1417320"/>
            <a:ext cx="9875520" cy="457200"/>
          </a:xfrm>
          <a:prstGeom prst="rect">
            <a:avLst/>
          </a:prstGeom>
          <a:noFill/>
          <a:ln/>
        </p:spPr>
        <p:txBody>
          <a:bodyPr wrap="square" lIns="0" tIns="0" rIns="0" bIns="0" rtlCol="0" anchor="t"/>
          <a:lstStyle/>
          <a:p>
            <a:pPr indent="0" marL="0">
              <a:buNone/>
            </a:pPr>
            <a:r>
              <a:rPr lang="en-US" sz="1550" dirty="0">
                <a:solidFill>
                  <a:srgbClr val="FFFFFF"/>
                </a:solidFill>
                <a:latin typeface="Calibri" pitchFamily="34" charset="0"/>
                <a:ea typeface="Calibri" pitchFamily="34" charset="-122"/>
                <a:cs typeface="Calibri" pitchFamily="34" charset="-120"/>
              </a:rPr>
              <a:t>Refusal is the product, not a fallback. Measured every cycle, logged every time</a:t>
            </a:r>
            <a:endParaRPr lang="en-US" sz="1550" dirty="0"/>
          </a:p>
        </p:txBody>
      </p:sp>
      <p:sp>
        <p:nvSpPr>
          <p:cNvPr id="5" name="Shape 3"/>
          <p:cNvSpPr/>
          <p:nvPr/>
        </p:nvSpPr>
        <p:spPr>
          <a:xfrm>
            <a:off x="822960" y="2084832"/>
            <a:ext cx="109728" cy="109728"/>
          </a:xfrm>
          <a:prstGeom prst="ellipse">
            <a:avLst/>
          </a:prstGeom>
          <a:solidFill>
            <a:srgbClr val="D9A441"/>
          </a:solidFill>
          <a:ln/>
        </p:spPr>
      </p:sp>
      <p:sp>
        <p:nvSpPr>
          <p:cNvPr id="6" name="Text 4"/>
          <p:cNvSpPr txBox="1"/>
          <p:nvPr/>
        </p:nvSpPr>
        <p:spPr>
          <a:xfrm>
            <a:off x="1143000" y="2011680"/>
            <a:ext cx="9875520" cy="457200"/>
          </a:xfrm>
          <a:prstGeom prst="rect">
            <a:avLst/>
          </a:prstGeom>
          <a:noFill/>
          <a:ln/>
        </p:spPr>
        <p:txBody>
          <a:bodyPr wrap="square" lIns="0" tIns="0" rIns="0" bIns="0" rtlCol="0" anchor="t"/>
          <a:lstStyle/>
          <a:p>
            <a:pPr indent="0" marL="0">
              <a:buNone/>
            </a:pPr>
            <a:r>
              <a:rPr lang="en-US" sz="1550" dirty="0">
                <a:solidFill>
                  <a:srgbClr val="FFFFFF"/>
                </a:solidFill>
                <a:latin typeface="Calibri" pitchFamily="34" charset="0"/>
                <a:ea typeface="Calibri" pitchFamily="34" charset="-122"/>
                <a:cs typeface="Calibri" pitchFamily="34" charset="-120"/>
              </a:rPr>
              <a:t>Pre-registered before results existed, and the misses are reported as loudly as the wins</a:t>
            </a:r>
            <a:endParaRPr lang="en-US" sz="1550" dirty="0"/>
          </a:p>
        </p:txBody>
      </p:sp>
      <p:sp>
        <p:nvSpPr>
          <p:cNvPr id="7" name="Shape 5"/>
          <p:cNvSpPr/>
          <p:nvPr/>
        </p:nvSpPr>
        <p:spPr>
          <a:xfrm>
            <a:off x="822960" y="2679192"/>
            <a:ext cx="109728" cy="109728"/>
          </a:xfrm>
          <a:prstGeom prst="ellipse">
            <a:avLst/>
          </a:prstGeom>
          <a:solidFill>
            <a:srgbClr val="D9A441"/>
          </a:solidFill>
          <a:ln/>
        </p:spPr>
      </p:sp>
      <p:sp>
        <p:nvSpPr>
          <p:cNvPr id="8" name="Text 6"/>
          <p:cNvSpPr txBox="1"/>
          <p:nvPr/>
        </p:nvSpPr>
        <p:spPr>
          <a:xfrm>
            <a:off x="1143000" y="2606040"/>
            <a:ext cx="9875520" cy="457200"/>
          </a:xfrm>
          <a:prstGeom prst="rect">
            <a:avLst/>
          </a:prstGeom>
          <a:noFill/>
          <a:ln/>
        </p:spPr>
        <p:txBody>
          <a:bodyPr wrap="square" lIns="0" tIns="0" rIns="0" bIns="0" rtlCol="0" anchor="t"/>
          <a:lstStyle/>
          <a:p>
            <a:pPr indent="0" marL="0">
              <a:buNone/>
            </a:pPr>
            <a:r>
              <a:rPr lang="en-US" sz="1550" dirty="0">
                <a:solidFill>
                  <a:srgbClr val="FFFFFF"/>
                </a:solidFill>
                <a:latin typeface="Calibri" pitchFamily="34" charset="0"/>
                <a:ea typeface="Calibri" pitchFamily="34" charset="-122"/>
                <a:cs typeface="Calibri" pitchFamily="34" charset="-120"/>
              </a:rPr>
              <a:t>A verifiable, tamper-evident decision trail: not a claim, a recomputation</a:t>
            </a:r>
            <a:endParaRPr lang="en-US" sz="1550" dirty="0"/>
          </a:p>
        </p:txBody>
      </p:sp>
      <p:sp>
        <p:nvSpPr>
          <p:cNvPr id="9" name="Shape 7"/>
          <p:cNvSpPr/>
          <p:nvPr/>
        </p:nvSpPr>
        <p:spPr>
          <a:xfrm>
            <a:off x="822960" y="3429000"/>
            <a:ext cx="10424160" cy="0"/>
          </a:xfrm>
          <a:prstGeom prst="line">
            <a:avLst/>
          </a:prstGeom>
          <a:noFill/>
          <a:ln w="12700">
            <a:solidFill>
              <a:srgbClr val="2A3A66"/>
            </a:solidFill>
            <a:prstDash val="solid"/>
          </a:ln>
        </p:spPr>
      </p:sp>
      <p:sp>
        <p:nvSpPr>
          <p:cNvPr id="10" name="Text 8"/>
          <p:cNvSpPr txBox="1"/>
          <p:nvPr/>
        </p:nvSpPr>
        <p:spPr>
          <a:xfrm>
            <a:off x="822960" y="3703320"/>
            <a:ext cx="10424160" cy="548640"/>
          </a:xfrm>
          <a:prstGeom prst="rect">
            <a:avLst/>
          </a:prstGeom>
          <a:noFill/>
          <a:ln/>
        </p:spPr>
        <p:txBody>
          <a:bodyPr wrap="square" lIns="0" tIns="0" rIns="0" bIns="0" rtlCol="0" anchor="ctr"/>
          <a:lstStyle/>
          <a:p>
            <a:pPr indent="0" marL="0">
              <a:buNone/>
            </a:pPr>
            <a:r>
              <a:rPr lang="en-US" sz="2400" b="1" dirty="0">
                <a:solidFill>
                  <a:srgbClr val="D9A441"/>
                </a:solidFill>
                <a:latin typeface="Cambria" pitchFamily="34" charset="0"/>
                <a:ea typeface="Cambria" pitchFamily="34" charset="-122"/>
                <a:cs typeface="Cambria" pitchFamily="34" charset="-120"/>
              </a:rPr>
              <a:t>Built solo. Every claim measured, not assumed.</a:t>
            </a:r>
            <a:endParaRPr lang="en-US" sz="2400" dirty="0"/>
          </a:p>
        </p:txBody>
      </p:sp>
      <p:sp>
        <p:nvSpPr>
          <p:cNvPr id="11" name="Text 9"/>
          <p:cNvSpPr txBox="1"/>
          <p:nvPr/>
        </p:nvSpPr>
        <p:spPr>
          <a:xfrm>
            <a:off x="822960" y="4572000"/>
            <a:ext cx="5486400" cy="365760"/>
          </a:xfrm>
          <a:prstGeom prst="rect">
            <a:avLst/>
          </a:prstGeom>
          <a:noFill/>
          <a:ln/>
        </p:spPr>
        <p:txBody>
          <a:bodyPr wrap="square" lIns="0" tIns="0" rIns="0" bIns="0" rtlCol="0" anchor="ctr"/>
          <a:lstStyle/>
          <a:p>
            <a:pPr indent="0" marL="0">
              <a:buNone/>
            </a:pPr>
            <a:r>
              <a:rPr lang="en-US" sz="1400" dirty="0">
                <a:solidFill>
                  <a:srgbClr val="C7D2E8"/>
                </a:solidFill>
                <a:latin typeface="Courier New" pitchFamily="34" charset="0"/>
                <a:ea typeface="Courier New" pitchFamily="34" charset="-122"/>
                <a:cs typeface="Courier New" pitchFamily="34" charset="-120"/>
              </a:rPr>
              <a:t>github.com/nilaymastaadmi/alpaca-hackathon</a:t>
            </a:r>
            <a:endParaRPr lang="en-US" sz="1400" dirty="0"/>
          </a:p>
        </p:txBody>
      </p:sp>
      <p:sp>
        <p:nvSpPr>
          <p:cNvPr id="12" name="Text 10"/>
          <p:cNvSpPr txBox="1"/>
          <p:nvPr/>
        </p:nvSpPr>
        <p:spPr>
          <a:xfrm>
            <a:off x="822960" y="4983480"/>
            <a:ext cx="7315200" cy="365760"/>
          </a:xfrm>
          <a:prstGeom prst="rect">
            <a:avLst/>
          </a:prstGeom>
          <a:noFill/>
          <a:ln/>
        </p:spPr>
        <p:txBody>
          <a:bodyPr wrap="square" lIns="0" tIns="0" rIns="0" bIns="0" rtlCol="0" anchor="ctr"/>
          <a:lstStyle/>
          <a:p>
            <a:pPr indent="0" marL="0">
              <a:buNone/>
            </a:pPr>
            <a:r>
              <a:rPr lang="en-US" sz="1350" dirty="0">
                <a:solidFill>
                  <a:srgbClr val="C7D2E8"/>
                </a:solidFill>
                <a:latin typeface="Calibri" pitchFamily="34" charset="0"/>
                <a:ea typeface="Calibri" pitchFamily="34" charset="-122"/>
                <a:cs typeface="Calibri" pitchFamily="34" charset="-120"/>
              </a:rPr>
              <a:t>Live dashboard: Streamlit Cloud (link in submission)</a:t>
            </a:r>
            <a:endParaRPr lang="en-US" sz="1350" dirty="0"/>
          </a:p>
        </p:txBody>
      </p:sp>
      <p:sp>
        <p:nvSpPr>
          <p:cNvPr id="13" name="Text 11"/>
          <p:cNvSpPr txBox="1"/>
          <p:nvPr/>
        </p:nvSpPr>
        <p:spPr>
          <a:xfrm>
            <a:off x="822960" y="5760720"/>
            <a:ext cx="5486400" cy="548640"/>
          </a:xfrm>
          <a:prstGeom prst="rect">
            <a:avLst/>
          </a:prstGeom>
          <a:noFill/>
          <a:ln/>
        </p:spPr>
        <p:txBody>
          <a:bodyPr wrap="square" lIns="0" tIns="0" rIns="0" bIns="0" rtlCol="0" anchor="ctr"/>
          <a:lstStyle/>
          <a:p>
            <a:pPr indent="0" marL="0">
              <a:buNone/>
            </a:pPr>
            <a:r>
              <a:rPr lang="en-US" sz="2000" i="1" dirty="0">
                <a:solidFill>
                  <a:srgbClr val="FFFFFF"/>
                </a:solidFill>
                <a:latin typeface="Cambria" pitchFamily="34" charset="0"/>
                <a:ea typeface="Cambria" pitchFamily="34" charset="-122"/>
                <a:cs typeface="Cambria" pitchFamily="34" charset="-120"/>
              </a:rPr>
              <a:t>Thank you.</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Alpaca AI Trading Agents Hackathon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 options agent that refuses to trade</dc:title>
  <dc:subject>PptxGenJS Presentation</dc:subject>
  <dc:creator>Nilay Toshniwal</dc:creator>
  <cp:lastModifiedBy>Nilay Toshniwal</cp:lastModifiedBy>
  <cp:revision>1</cp:revision>
  <dcterms:created xsi:type="dcterms:W3CDTF">2026-08-28T06:59:33Z</dcterms:created>
  <dcterms:modified xsi:type="dcterms:W3CDTF">2026-08-28T06:59:33Z</dcterms:modified>
</cp:coreProperties>
</file>