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Glass Box. Every number on these slides is read from the sealed artifact log at build time, not typed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1417320"/>
            <a:ext cx="10881360" cy="914400"/>
          </a:xfrm>
          <a:prstGeom prst="rect">
            <a:avLst/>
          </a:prstGeom>
          <a:noFill/>
          <a:ln/>
        </p:spPr>
        <p:txBody>
          <a:bodyPr wrap="square" lIns="0" tIns="0" rIns="0" bIns="0" rtlCol="0" anchor="ctr"/>
          <a:lstStyle/>
          <a:p>
            <a:pPr indent="0" marL="0">
              <a:buNone/>
            </a:pPr>
            <a:r>
              <a:rPr lang="en-US" sz="6000" b="1" spc="200" kern="0" dirty="0">
                <a:solidFill>
                  <a:srgbClr val="FFFFFF"/>
                </a:solidFill>
                <a:latin typeface="Cambria" pitchFamily="34" charset="0"/>
                <a:ea typeface="Cambria" pitchFamily="34" charset="-122"/>
                <a:cs typeface="Cambria" pitchFamily="34" charset="-120"/>
              </a:rPr>
              <a:t>GLASS BOX</a:t>
            </a:r>
            <a:endParaRPr lang="en-US" sz="6000" dirty="0"/>
          </a:p>
        </p:txBody>
      </p:sp>
      <p:sp>
        <p:nvSpPr>
          <p:cNvPr id="3" name="Text 1"/>
          <p:cNvSpPr txBox="1"/>
          <p:nvPr/>
        </p:nvSpPr>
        <p:spPr>
          <a:xfrm>
            <a:off x="640080" y="2395728"/>
            <a:ext cx="10881360" cy="457200"/>
          </a:xfrm>
          <a:prstGeom prst="rect">
            <a:avLst/>
          </a:prstGeom>
          <a:noFill/>
          <a:ln/>
        </p:spPr>
        <p:txBody>
          <a:bodyPr wrap="square" lIns="0" tIns="0" rIns="0" bIns="0" rtlCol="0" anchor="ctr"/>
          <a:lstStyle/>
          <a:p>
            <a:pPr indent="0" marL="0">
              <a:buNone/>
            </a:pPr>
            <a:r>
              <a:rPr lang="en-US" sz="2000" dirty="0">
                <a:solidFill>
                  <a:srgbClr val="E8B54A"/>
                </a:solidFill>
                <a:latin typeface="Calibri" pitchFamily="34" charset="0"/>
                <a:ea typeface="Calibri" pitchFamily="34" charset="-122"/>
                <a:cs typeface="Calibri" pitchFamily="34" charset="-120"/>
              </a:rPr>
              <a:t>An options agent whose every decision you can verify</a:t>
            </a:r>
            <a:endParaRPr lang="en-US" sz="2000" dirty="0"/>
          </a:p>
        </p:txBody>
      </p:sp>
      <p:sp>
        <p:nvSpPr>
          <p:cNvPr id="4" name="Text 2"/>
          <p:cNvSpPr txBox="1"/>
          <p:nvPr/>
        </p:nvSpPr>
        <p:spPr>
          <a:xfrm>
            <a:off x="640080" y="2880360"/>
            <a:ext cx="10881360" cy="365760"/>
          </a:xfrm>
          <a:prstGeom prst="rect">
            <a:avLst/>
          </a:prstGeom>
          <a:noFill/>
          <a:ln/>
        </p:spPr>
        <p:txBody>
          <a:bodyPr wrap="square" lIns="0" tIns="0" rIns="0" bIns="0" rtlCol="0" anchor="ctr"/>
          <a:lstStyle/>
          <a:p>
            <a:pPr indent="0" marL="0">
              <a:buNone/>
            </a:pPr>
            <a:r>
              <a:rPr lang="en-US" sz="1300" dirty="0">
                <a:solidFill>
                  <a:srgbClr val="7C93AE"/>
                </a:solidFill>
                <a:latin typeface="Calibri" pitchFamily="34" charset="0"/>
                <a:ea typeface="Calibri" pitchFamily="34" charset="-122"/>
                <a:cs typeface="Calibri" pitchFamily="34" charset="-120"/>
              </a:rPr>
              <a:t>Alpaca AI Trading Agents Hackathon 2026   |   Options Alpha Agents   |   Nilay Toshniwal, solo</a:t>
            </a:r>
            <a:endParaRPr lang="en-US" sz="1300" dirty="0"/>
          </a:p>
        </p:txBody>
      </p:sp>
      <p:sp>
        <p:nvSpPr>
          <p:cNvPr id="5" name="Shape 3"/>
          <p:cNvSpPr/>
          <p:nvPr/>
        </p:nvSpPr>
        <p:spPr>
          <a:xfrm>
            <a:off x="640080" y="3703320"/>
            <a:ext cx="2548890" cy="1234440"/>
          </a:xfrm>
          <a:prstGeom prst="roundRect">
            <a:avLst>
              <a:gd name="adj" fmla="val 5926"/>
            </a:avLst>
          </a:prstGeom>
          <a:solidFill>
            <a:srgbClr val="16283D"/>
          </a:solidFill>
          <a:ln w="12700">
            <a:solidFill>
              <a:srgbClr val="1E3550"/>
            </a:solidFill>
            <a:prstDash val="solid"/>
          </a:ln>
        </p:spPr>
      </p:sp>
      <p:sp>
        <p:nvSpPr>
          <p:cNvPr id="6" name="Text 4"/>
          <p:cNvSpPr txBox="1"/>
          <p:nvPr/>
        </p:nvSpPr>
        <p:spPr>
          <a:xfrm>
            <a:off x="841248" y="3867912"/>
            <a:ext cx="2146554" cy="641909"/>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1,390</a:t>
            </a:r>
            <a:endParaRPr lang="en-US" sz="3400" dirty="0"/>
          </a:p>
        </p:txBody>
      </p:sp>
      <p:sp>
        <p:nvSpPr>
          <p:cNvPr id="7" name="Text 5"/>
          <p:cNvSpPr txBox="1"/>
          <p:nvPr/>
        </p:nvSpPr>
        <p:spPr>
          <a:xfrm>
            <a:off x="841248" y="4468673"/>
            <a:ext cx="2146554"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sealed artifacts, one Merkle tree</a:t>
            </a:r>
            <a:endParaRPr lang="en-US" sz="1100" dirty="0"/>
          </a:p>
        </p:txBody>
      </p:sp>
      <p:sp>
        <p:nvSpPr>
          <p:cNvPr id="8" name="Shape 6"/>
          <p:cNvSpPr/>
          <p:nvPr/>
        </p:nvSpPr>
        <p:spPr>
          <a:xfrm>
            <a:off x="3417570" y="3703320"/>
            <a:ext cx="2548890" cy="1234440"/>
          </a:xfrm>
          <a:prstGeom prst="roundRect">
            <a:avLst>
              <a:gd name="adj" fmla="val 5926"/>
            </a:avLst>
          </a:prstGeom>
          <a:solidFill>
            <a:srgbClr val="16283D"/>
          </a:solidFill>
          <a:ln w="12700">
            <a:solidFill>
              <a:srgbClr val="1E3550"/>
            </a:solidFill>
            <a:prstDash val="solid"/>
          </a:ln>
        </p:spPr>
      </p:sp>
      <p:sp>
        <p:nvSpPr>
          <p:cNvPr id="9" name="Text 7"/>
          <p:cNvSpPr txBox="1"/>
          <p:nvPr/>
        </p:nvSpPr>
        <p:spPr>
          <a:xfrm>
            <a:off x="3618738" y="3867912"/>
            <a:ext cx="2146554" cy="641909"/>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193 of 197</a:t>
            </a:r>
            <a:endParaRPr lang="en-US" sz="3400" dirty="0"/>
          </a:p>
        </p:txBody>
      </p:sp>
      <p:sp>
        <p:nvSpPr>
          <p:cNvPr id="10" name="Text 8"/>
          <p:cNvSpPr txBox="1"/>
          <p:nvPr/>
        </p:nvSpPr>
        <p:spPr>
          <a:xfrm>
            <a:off x="3618738" y="4468673"/>
            <a:ext cx="2146554"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opportunities declined, with reasons</a:t>
            </a:r>
            <a:endParaRPr lang="en-US" sz="1100" dirty="0"/>
          </a:p>
        </p:txBody>
      </p:sp>
      <p:sp>
        <p:nvSpPr>
          <p:cNvPr id="11" name="Shape 9"/>
          <p:cNvSpPr/>
          <p:nvPr/>
        </p:nvSpPr>
        <p:spPr>
          <a:xfrm>
            <a:off x="6195060" y="3703320"/>
            <a:ext cx="2548890" cy="1234440"/>
          </a:xfrm>
          <a:prstGeom prst="roundRect">
            <a:avLst>
              <a:gd name="adj" fmla="val 5926"/>
            </a:avLst>
          </a:prstGeom>
          <a:solidFill>
            <a:srgbClr val="16283D"/>
          </a:solidFill>
          <a:ln w="12700">
            <a:solidFill>
              <a:srgbClr val="1E3550"/>
            </a:solidFill>
            <a:prstDash val="solid"/>
          </a:ln>
        </p:spPr>
      </p:sp>
      <p:sp>
        <p:nvSpPr>
          <p:cNvPr id="12" name="Text 10"/>
          <p:cNvSpPr txBox="1"/>
          <p:nvPr/>
        </p:nvSpPr>
        <p:spPr>
          <a:xfrm>
            <a:off x="6396228" y="3867912"/>
            <a:ext cx="2146554" cy="641909"/>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233</a:t>
            </a:r>
            <a:endParaRPr lang="en-US" sz="3400" dirty="0"/>
          </a:p>
        </p:txBody>
      </p:sp>
      <p:sp>
        <p:nvSpPr>
          <p:cNvPr id="13" name="Text 11"/>
          <p:cNvSpPr txBox="1"/>
          <p:nvPr/>
        </p:nvSpPr>
        <p:spPr>
          <a:xfrm>
            <a:off x="6396228" y="4468673"/>
            <a:ext cx="2146554"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automated tests</a:t>
            </a:r>
            <a:endParaRPr lang="en-US" sz="1100" dirty="0"/>
          </a:p>
        </p:txBody>
      </p:sp>
      <p:sp>
        <p:nvSpPr>
          <p:cNvPr id="14" name="Shape 12"/>
          <p:cNvSpPr/>
          <p:nvPr/>
        </p:nvSpPr>
        <p:spPr>
          <a:xfrm>
            <a:off x="8972550" y="3703320"/>
            <a:ext cx="2548890" cy="1234440"/>
          </a:xfrm>
          <a:prstGeom prst="roundRect">
            <a:avLst>
              <a:gd name="adj" fmla="val 5926"/>
            </a:avLst>
          </a:prstGeom>
          <a:solidFill>
            <a:srgbClr val="16283D"/>
          </a:solidFill>
          <a:ln w="12700">
            <a:solidFill>
              <a:srgbClr val="1E3550"/>
            </a:solidFill>
            <a:prstDash val="solid"/>
          </a:ln>
        </p:spPr>
      </p:sp>
      <p:sp>
        <p:nvSpPr>
          <p:cNvPr id="15" name="Text 13"/>
          <p:cNvSpPr txBox="1"/>
          <p:nvPr/>
        </p:nvSpPr>
        <p:spPr>
          <a:xfrm>
            <a:off x="9173718" y="3867912"/>
            <a:ext cx="2146554" cy="641909"/>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1</a:t>
            </a:r>
            <a:endParaRPr lang="en-US" sz="3400" dirty="0"/>
          </a:p>
        </p:txBody>
      </p:sp>
      <p:sp>
        <p:nvSpPr>
          <p:cNvPr id="16" name="Text 14"/>
          <p:cNvSpPr txBox="1"/>
          <p:nvPr/>
        </p:nvSpPr>
        <p:spPr>
          <a:xfrm>
            <a:off x="9173718" y="4468673"/>
            <a:ext cx="2146554"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bug the log caught in its author</a:t>
            </a:r>
            <a:endParaRPr lang="en-US" sz="1100" dirty="0"/>
          </a:p>
        </p:txBody>
      </p:sp>
      <p:sp>
        <p:nvSpPr>
          <p:cNvPr id="17" name="Text 15"/>
          <p:cNvSpPr txBox="1"/>
          <p:nvPr/>
        </p:nvSpPr>
        <p:spPr>
          <a:xfrm>
            <a:off x="640080" y="5138928"/>
            <a:ext cx="3657600" cy="320040"/>
          </a:xfrm>
          <a:prstGeom prst="rect">
            <a:avLst/>
          </a:prstGeom>
          <a:noFill/>
          <a:ln/>
        </p:spPr>
        <p:txBody>
          <a:bodyPr wrap="square" lIns="0" tIns="0" rIns="0" bIns="0" rtlCol="0" anchor="ctr"/>
          <a:lstStyle/>
          <a:p>
            <a:pPr indent="0" marL="0">
              <a:buNone/>
            </a:pPr>
            <a:r>
              <a:rPr lang="en-US" sz="1300" dirty="0">
                <a:solidFill>
                  <a:srgbClr val="E8B54A"/>
                </a:solidFill>
                <a:latin typeface="Courier New" pitchFamily="34" charset="0"/>
                <a:ea typeface="Courier New" pitchFamily="34" charset="-122"/>
                <a:cs typeface="Courier New" pitchFamily="34" charset="-120"/>
              </a:rPr>
              <a:t>make verify</a:t>
            </a:r>
            <a:endParaRPr lang="en-US" sz="1300" dirty="0"/>
          </a:p>
        </p:txBody>
      </p:sp>
      <p:sp>
        <p:nvSpPr>
          <p:cNvPr id="18" name="Text 16"/>
          <p:cNvSpPr txBox="1"/>
          <p:nvPr/>
        </p:nvSpPr>
        <p:spPr>
          <a:xfrm>
            <a:off x="2057400" y="5138928"/>
            <a:ext cx="9464040" cy="320040"/>
          </a:xfrm>
          <a:prstGeom prst="rect">
            <a:avLst/>
          </a:prstGeom>
          <a:noFill/>
          <a:ln/>
        </p:spPr>
        <p:txBody>
          <a:bodyPr wrap="square" lIns="0" tIns="0" rIns="0" bIns="0" rtlCol="0" anchor="ctr"/>
          <a:lstStyle/>
          <a:p>
            <a:pPr indent="0" marL="0">
              <a:buNone/>
            </a:pPr>
            <a:r>
              <a:rPr lang="en-US" sz="1200" dirty="0">
                <a:solidFill>
                  <a:srgbClr val="7C93AE"/>
                </a:solidFill>
                <a:latin typeface="Calibri" pitchFamily="34" charset="0"/>
                <a:ea typeface="Calibri" pitchFamily="34" charset="-122"/>
                <a:cs typeface="Calibri" pitchFamily="34" charset="-120"/>
              </a:rPr>
              <a:t>recomputes the root over every decision. You do not have to trust the operator.</a:t>
            </a:r>
            <a:endParaRPr lang="en-US" sz="1200" dirty="0"/>
          </a:p>
        </p:txBody>
      </p:sp>
      <p:sp>
        <p:nvSpPr>
          <p:cNvPr id="19" name="Text 17"/>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Most trading agents are built to trade</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This one is built to measure first, and to decline out loud when the premium is not there.</a:t>
            </a:r>
            <a:endParaRPr lang="en-US" sz="1500" dirty="0"/>
          </a:p>
        </p:txBody>
      </p:sp>
      <p:sp>
        <p:nvSpPr>
          <p:cNvPr id="4" name="Shape 2"/>
          <p:cNvSpPr/>
          <p:nvPr/>
        </p:nvSpPr>
        <p:spPr>
          <a:xfrm>
            <a:off x="640080" y="2057400"/>
            <a:ext cx="3291840" cy="1737360"/>
          </a:xfrm>
          <a:prstGeom prst="roundRect">
            <a:avLst>
              <a:gd name="adj" fmla="val 4211"/>
            </a:avLst>
          </a:prstGeom>
          <a:solidFill>
            <a:srgbClr val="16283D"/>
          </a:solidFill>
          <a:ln w="12700">
            <a:solidFill>
              <a:srgbClr val="1E3550"/>
            </a:solidFill>
            <a:prstDash val="solid"/>
          </a:ln>
        </p:spPr>
      </p:sp>
      <p:sp>
        <p:nvSpPr>
          <p:cNvPr id="5" name="Text 3"/>
          <p:cNvSpPr txBox="1"/>
          <p:nvPr/>
        </p:nvSpPr>
        <p:spPr>
          <a:xfrm>
            <a:off x="841248" y="2221992"/>
            <a:ext cx="2889504" cy="903427"/>
          </a:xfrm>
          <a:prstGeom prst="rect">
            <a:avLst/>
          </a:prstGeom>
          <a:noFill/>
          <a:ln/>
        </p:spPr>
        <p:txBody>
          <a:bodyPr wrap="square" lIns="0" tIns="0" rIns="0" bIns="0" rtlCol="0" anchor="ctr"/>
          <a:lstStyle/>
          <a:p>
            <a:pPr algn="l" indent="0" marL="0">
              <a:buNone/>
            </a:pPr>
            <a:r>
              <a:rPr lang="en-US" sz="5400" b="1" dirty="0">
                <a:solidFill>
                  <a:srgbClr val="E8B54A"/>
                </a:solidFill>
                <a:latin typeface="Cambria" pitchFamily="34" charset="0"/>
                <a:ea typeface="Cambria" pitchFamily="34" charset="-122"/>
                <a:cs typeface="Cambria" pitchFamily="34" charset="-120"/>
              </a:rPr>
              <a:t>98%</a:t>
            </a:r>
            <a:endParaRPr lang="en-US" sz="5400" dirty="0"/>
          </a:p>
        </p:txBody>
      </p:sp>
      <p:sp>
        <p:nvSpPr>
          <p:cNvPr id="6" name="Text 4"/>
          <p:cNvSpPr txBox="1"/>
          <p:nvPr/>
        </p:nvSpPr>
        <p:spPr>
          <a:xfrm>
            <a:off x="841248" y="3134563"/>
            <a:ext cx="2889504" cy="590702"/>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of real opportunities declined</a:t>
            </a:r>
            <a:endParaRPr lang="en-US" sz="1100" dirty="0"/>
          </a:p>
        </p:txBody>
      </p:sp>
      <p:sp>
        <p:nvSpPr>
          <p:cNvPr id="7" name="Text 5"/>
          <p:cNvSpPr txBox="1"/>
          <p:nvPr/>
        </p:nvSpPr>
        <p:spPr>
          <a:xfrm>
            <a:off x="4206240" y="2057400"/>
            <a:ext cx="7315200" cy="1737360"/>
          </a:xfrm>
          <a:prstGeom prst="rect">
            <a:avLst/>
          </a:prstGeom>
          <a:noFill/>
          <a:ln/>
        </p:spPr>
        <p:txBody>
          <a:bodyPr wrap="square" lIns="0" tIns="0" rIns="0" bIns="0" rtlCol="0" anchor="ctr"/>
          <a:lstStyle/>
          <a:p>
            <a:pPr indent="0" marL="0">
              <a:lnSpc>
                <a:spcPct val="120000"/>
              </a:lnSpc>
              <a:buNone/>
            </a:pPr>
            <a:r>
              <a:rPr lang="en-US" sz="1500" dirty="0">
                <a:solidFill>
                  <a:srgbClr val="C9DAF0"/>
                </a:solidFill>
                <a:latin typeface="Calibri" pitchFamily="34" charset="0"/>
                <a:ea typeface="Calibri" pitchFamily="34" charset="-122"/>
                <a:cs typeface="Calibri" pitchFamily="34" charset="-120"/>
              </a:rPr>
              <a:t>A refusal is logged with the same detail as a fill: every gate, every measured number, sealed into the same tree.
</a:t>
            </a:r>
            <a:endParaRPr lang="en-US" sz="1500" dirty="0"/>
          </a:p>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That is the product. An agent that cannot say no is not risk-managed, it is just fast.</a:t>
            </a:r>
            <a:endParaRPr lang="en-US" sz="1500" dirty="0"/>
          </a:p>
        </p:txBody>
      </p:sp>
      <p:sp>
        <p:nvSpPr>
          <p:cNvPr id="8" name="Text 6"/>
          <p:cNvSpPr txBox="1"/>
          <p:nvPr/>
        </p:nvSpPr>
        <p:spPr>
          <a:xfrm>
            <a:off x="640080" y="4069080"/>
            <a:ext cx="7315200" cy="320040"/>
          </a:xfrm>
          <a:prstGeom prst="rect">
            <a:avLst/>
          </a:prstGeom>
          <a:noFill/>
          <a:ln/>
        </p:spPr>
        <p:txBody>
          <a:bodyPr wrap="square" lIns="0" tIns="0" rIns="0" bIns="0" rtlCol="0" anchor="ctr"/>
          <a:lstStyle/>
          <a:p>
            <a:pPr indent="0" marL="0">
              <a:buNone/>
            </a:pPr>
            <a:r>
              <a:rPr lang="en-US" sz="1300" b="1" dirty="0">
                <a:solidFill>
                  <a:srgbClr val="E8B54A"/>
                </a:solidFill>
                <a:latin typeface="Calibri" pitchFamily="34" charset="0"/>
                <a:ea typeface="Calibri" pitchFamily="34" charset="-122"/>
                <a:cs typeface="Calibri" pitchFamily="34" charset="-120"/>
              </a:rPr>
              <a:t>What blocked the trades, counted from the log</a:t>
            </a:r>
            <a:endParaRPr lang="en-US" sz="1300" dirty="0"/>
          </a:p>
        </p:txBody>
      </p:sp>
      <p:sp>
        <p:nvSpPr>
          <p:cNvPr id="9" name="Text 7"/>
          <p:cNvSpPr txBox="1"/>
          <p:nvPr/>
        </p:nvSpPr>
        <p:spPr>
          <a:xfrm>
            <a:off x="640080" y="4480560"/>
            <a:ext cx="4206240" cy="36576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stagger</a:t>
            </a:r>
            <a:endParaRPr lang="en-US" sz="1200" dirty="0"/>
          </a:p>
        </p:txBody>
      </p:sp>
      <p:sp>
        <p:nvSpPr>
          <p:cNvPr id="10" name="Shape 8"/>
          <p:cNvSpPr/>
          <p:nvPr/>
        </p:nvSpPr>
        <p:spPr>
          <a:xfrm>
            <a:off x="4937760" y="4544568"/>
            <a:ext cx="5120640" cy="237744"/>
          </a:xfrm>
          <a:prstGeom prst="roundRect">
            <a:avLst>
              <a:gd name="adj" fmla="val 23077"/>
            </a:avLst>
          </a:prstGeom>
          <a:solidFill>
            <a:srgbClr val="E8B54A"/>
          </a:solidFill>
          <a:ln/>
        </p:spPr>
      </p:sp>
      <p:sp>
        <p:nvSpPr>
          <p:cNvPr id="11" name="Text 9"/>
          <p:cNvSpPr txBox="1"/>
          <p:nvPr/>
        </p:nvSpPr>
        <p:spPr>
          <a:xfrm>
            <a:off x="10168128" y="4480560"/>
            <a:ext cx="82296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142</a:t>
            </a:r>
            <a:endParaRPr lang="en-US" sz="1200" dirty="0"/>
          </a:p>
        </p:txBody>
      </p:sp>
      <p:sp>
        <p:nvSpPr>
          <p:cNvPr id="12" name="Text 10"/>
          <p:cNvSpPr txBox="1"/>
          <p:nvPr/>
        </p:nvSpPr>
        <p:spPr>
          <a:xfrm>
            <a:off x="640080" y="4983480"/>
            <a:ext cx="4206240" cy="36576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event_proximity</a:t>
            </a:r>
            <a:endParaRPr lang="en-US" sz="1200" dirty="0"/>
          </a:p>
        </p:txBody>
      </p:sp>
      <p:sp>
        <p:nvSpPr>
          <p:cNvPr id="13" name="Shape 11"/>
          <p:cNvSpPr/>
          <p:nvPr/>
        </p:nvSpPr>
        <p:spPr>
          <a:xfrm>
            <a:off x="4937760" y="5047488"/>
            <a:ext cx="1658799" cy="237744"/>
          </a:xfrm>
          <a:prstGeom prst="roundRect">
            <a:avLst>
              <a:gd name="adj" fmla="val 23077"/>
            </a:avLst>
          </a:prstGeom>
          <a:solidFill>
            <a:srgbClr val="1E3550"/>
          </a:solidFill>
          <a:ln/>
        </p:spPr>
      </p:sp>
      <p:sp>
        <p:nvSpPr>
          <p:cNvPr id="14" name="Text 12"/>
          <p:cNvSpPr txBox="1"/>
          <p:nvPr/>
        </p:nvSpPr>
        <p:spPr>
          <a:xfrm>
            <a:off x="6706287" y="4983480"/>
            <a:ext cx="82296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46</a:t>
            </a:r>
            <a:endParaRPr lang="en-US" sz="1200" dirty="0"/>
          </a:p>
        </p:txBody>
      </p:sp>
      <p:sp>
        <p:nvSpPr>
          <p:cNvPr id="15" name="Text 13"/>
          <p:cNvSpPr txBox="1"/>
          <p:nvPr/>
        </p:nvSpPr>
        <p:spPr>
          <a:xfrm>
            <a:off x="640080" y="5486400"/>
            <a:ext cx="4206240" cy="36576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entry ladder unfilled (all gates passed)</a:t>
            </a:r>
            <a:endParaRPr lang="en-US" sz="1200" dirty="0"/>
          </a:p>
        </p:txBody>
      </p:sp>
      <p:sp>
        <p:nvSpPr>
          <p:cNvPr id="16" name="Shape 14"/>
          <p:cNvSpPr/>
          <p:nvPr/>
        </p:nvSpPr>
        <p:spPr>
          <a:xfrm>
            <a:off x="4937760" y="5550408"/>
            <a:ext cx="228600" cy="237744"/>
          </a:xfrm>
          <a:prstGeom prst="roundRect">
            <a:avLst>
              <a:gd name="adj" fmla="val 24000"/>
            </a:avLst>
          </a:prstGeom>
          <a:solidFill>
            <a:srgbClr val="1E3550"/>
          </a:solidFill>
          <a:ln/>
        </p:spPr>
      </p:sp>
      <p:sp>
        <p:nvSpPr>
          <p:cNvPr id="17" name="Text 15"/>
          <p:cNvSpPr txBox="1"/>
          <p:nvPr/>
        </p:nvSpPr>
        <p:spPr>
          <a:xfrm>
            <a:off x="5276088" y="5486400"/>
            <a:ext cx="82296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19" name="Text 17"/>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Registered before the code existed</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Provable from git history, not asserted on a slide. The hypotheses, the trial count and the significance bar were all committed before a single line of backtest ran.</a:t>
            </a:r>
            <a:endParaRPr lang="en-US" sz="1500" dirty="0"/>
          </a:p>
        </p:txBody>
      </p:sp>
      <p:sp>
        <p:nvSpPr>
          <p:cNvPr id="4" name="Shape 2"/>
          <p:cNvSpPr/>
          <p:nvPr/>
        </p:nvSpPr>
        <p:spPr>
          <a:xfrm>
            <a:off x="640080" y="2103120"/>
            <a:ext cx="3456432" cy="1371600"/>
          </a:xfrm>
          <a:prstGeom prst="roundRect">
            <a:avLst>
              <a:gd name="adj" fmla="val 5333"/>
            </a:avLst>
          </a:prstGeom>
          <a:solidFill>
            <a:srgbClr val="16283D"/>
          </a:solidFill>
          <a:ln w="12700">
            <a:solidFill>
              <a:srgbClr val="1E3550"/>
            </a:solidFill>
            <a:prstDash val="solid"/>
          </a:ln>
        </p:spPr>
      </p:sp>
      <p:sp>
        <p:nvSpPr>
          <p:cNvPr id="5" name="Text 3"/>
          <p:cNvSpPr txBox="1"/>
          <p:nvPr/>
        </p:nvSpPr>
        <p:spPr>
          <a:xfrm>
            <a:off x="841248" y="2267712"/>
            <a:ext cx="3054096" cy="713232"/>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+3.68</a:t>
            </a:r>
            <a:endParaRPr lang="en-US" sz="3400" dirty="0"/>
          </a:p>
        </p:txBody>
      </p:sp>
      <p:sp>
        <p:nvSpPr>
          <p:cNvPr id="6" name="Text 4"/>
          <p:cNvSpPr txBox="1"/>
          <p:nvPr/>
        </p:nvSpPr>
        <p:spPr>
          <a:xfrm>
            <a:off x="841248" y="2953512"/>
            <a:ext cx="3054096" cy="46634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mean volatility risk premium, vol points</a:t>
            </a:r>
            <a:endParaRPr lang="en-US" sz="1100" dirty="0"/>
          </a:p>
        </p:txBody>
      </p:sp>
      <p:sp>
        <p:nvSpPr>
          <p:cNvPr id="7" name="Shape 5"/>
          <p:cNvSpPr/>
          <p:nvPr/>
        </p:nvSpPr>
        <p:spPr>
          <a:xfrm>
            <a:off x="4352544" y="2103120"/>
            <a:ext cx="3456432" cy="1371600"/>
          </a:xfrm>
          <a:prstGeom prst="roundRect">
            <a:avLst>
              <a:gd name="adj" fmla="val 5333"/>
            </a:avLst>
          </a:prstGeom>
          <a:solidFill>
            <a:srgbClr val="16283D"/>
          </a:solidFill>
          <a:ln w="12700">
            <a:solidFill>
              <a:srgbClr val="1E3550"/>
            </a:solidFill>
            <a:prstDash val="solid"/>
          </a:ln>
        </p:spPr>
      </p:sp>
      <p:sp>
        <p:nvSpPr>
          <p:cNvPr id="8" name="Text 6"/>
          <p:cNvSpPr txBox="1"/>
          <p:nvPr/>
        </p:nvSpPr>
        <p:spPr>
          <a:xfrm>
            <a:off x="4553712" y="2267712"/>
            <a:ext cx="3054096" cy="713232"/>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t = +4.74</a:t>
            </a:r>
            <a:endParaRPr lang="en-US" sz="3400" dirty="0"/>
          </a:p>
        </p:txBody>
      </p:sp>
      <p:sp>
        <p:nvSpPr>
          <p:cNvPr id="9" name="Text 7"/>
          <p:cNvSpPr txBox="1"/>
          <p:nvPr/>
        </p:nvSpPr>
        <p:spPr>
          <a:xfrm>
            <a:off x="4553712" y="2953512"/>
            <a:ext cx="3054096" cy="46634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Newey-West corrected, 1,741 observations</a:t>
            </a:r>
            <a:endParaRPr lang="en-US" sz="1100" dirty="0"/>
          </a:p>
        </p:txBody>
      </p:sp>
      <p:sp>
        <p:nvSpPr>
          <p:cNvPr id="10" name="Shape 8"/>
          <p:cNvSpPr/>
          <p:nvPr/>
        </p:nvSpPr>
        <p:spPr>
          <a:xfrm>
            <a:off x="8065008" y="2103120"/>
            <a:ext cx="3456432" cy="1371600"/>
          </a:xfrm>
          <a:prstGeom prst="roundRect">
            <a:avLst>
              <a:gd name="adj" fmla="val 5333"/>
            </a:avLst>
          </a:prstGeom>
          <a:solidFill>
            <a:srgbClr val="16283D"/>
          </a:solidFill>
          <a:ln w="12700">
            <a:solidFill>
              <a:srgbClr val="1E3550"/>
            </a:solidFill>
            <a:prstDash val="solid"/>
          </a:ln>
        </p:spPr>
      </p:sp>
      <p:sp>
        <p:nvSpPr>
          <p:cNvPr id="11" name="Text 9"/>
          <p:cNvSpPr txBox="1"/>
          <p:nvPr/>
        </p:nvSpPr>
        <p:spPr>
          <a:xfrm>
            <a:off x="8266176" y="2267712"/>
            <a:ext cx="3054096" cy="713232"/>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6.99 yrs</a:t>
            </a:r>
            <a:endParaRPr lang="en-US" sz="3400" dirty="0"/>
          </a:p>
        </p:txBody>
      </p:sp>
      <p:sp>
        <p:nvSpPr>
          <p:cNvPr id="12" name="Text 10"/>
          <p:cNvSpPr txBox="1"/>
          <p:nvPr/>
        </p:nvSpPr>
        <p:spPr>
          <a:xfrm>
            <a:off x="8266176" y="2953512"/>
            <a:ext cx="3054096" cy="46634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SPY, out of sample</a:t>
            </a:r>
            <a:endParaRPr lang="en-US" sz="1100" dirty="0"/>
          </a:p>
        </p:txBody>
      </p:sp>
      <p:sp>
        <p:nvSpPr>
          <p:cNvPr id="13" name="Shape 11"/>
          <p:cNvSpPr/>
          <p:nvPr/>
        </p:nvSpPr>
        <p:spPr>
          <a:xfrm>
            <a:off x="640080" y="3703320"/>
            <a:ext cx="5312664" cy="1691640"/>
          </a:xfrm>
          <a:prstGeom prst="roundRect">
            <a:avLst>
              <a:gd name="adj" fmla="val 4324"/>
            </a:avLst>
          </a:prstGeom>
          <a:solidFill>
            <a:srgbClr val="16283D"/>
          </a:solidFill>
          <a:ln w="12700">
            <a:solidFill>
              <a:srgbClr val="1E3550"/>
            </a:solidFill>
            <a:prstDash val="solid"/>
          </a:ln>
        </p:spPr>
      </p:sp>
      <p:sp>
        <p:nvSpPr>
          <p:cNvPr id="14" name="Text 12"/>
          <p:cNvSpPr txBox="1"/>
          <p:nvPr/>
        </p:nvSpPr>
        <p:spPr>
          <a:xfrm>
            <a:off x="859536" y="386791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The naive number is 18.16, and it is wrong</a:t>
            </a:r>
            <a:endParaRPr lang="en-US" sz="1400" dirty="0"/>
          </a:p>
        </p:txBody>
      </p:sp>
      <p:sp>
        <p:nvSpPr>
          <p:cNvPr id="15" name="Text 13"/>
          <p:cNvSpPr txBox="1"/>
          <p:nvPr/>
        </p:nvSpPr>
        <p:spPr>
          <a:xfrm>
            <a:off x="859536" y="4215384"/>
            <a:ext cx="4873752" cy="9966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21-day forward windows sampled daily overlap by 20 of 21 days, so the observations are not independent. Reporting 18.16 would have been four times more impressive and meaningless.</a:t>
            </a:r>
            <a:endParaRPr lang="en-US" sz="1200" dirty="0"/>
          </a:p>
        </p:txBody>
      </p:sp>
      <p:sp>
        <p:nvSpPr>
          <p:cNvPr id="16" name="Shape 14"/>
          <p:cNvSpPr/>
          <p:nvPr/>
        </p:nvSpPr>
        <p:spPr>
          <a:xfrm>
            <a:off x="6208776" y="3703320"/>
            <a:ext cx="5312664" cy="1691640"/>
          </a:xfrm>
          <a:prstGeom prst="roundRect">
            <a:avLst>
              <a:gd name="adj" fmla="val 4324"/>
            </a:avLst>
          </a:prstGeom>
          <a:solidFill>
            <a:srgbClr val="16283D"/>
          </a:solidFill>
          <a:ln w="12700">
            <a:solidFill>
              <a:srgbClr val="1E3550"/>
            </a:solidFill>
            <a:prstDash val="solid"/>
          </a:ln>
        </p:spPr>
      </p:sp>
      <p:sp>
        <p:nvSpPr>
          <p:cNvPr id="17" name="Text 15"/>
          <p:cNvSpPr txBox="1"/>
          <p:nvPr/>
        </p:nvSpPr>
        <p:spPr>
          <a:xfrm>
            <a:off x="6428232" y="386791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Seven trials, one corrected bar</a:t>
            </a:r>
            <a:endParaRPr lang="en-US" sz="1400" dirty="0"/>
          </a:p>
        </p:txBody>
      </p:sp>
      <p:sp>
        <p:nvSpPr>
          <p:cNvPr id="18" name="Text 16"/>
          <p:cNvSpPr txBox="1"/>
          <p:nvPr/>
        </p:nvSpPr>
        <p:spPr>
          <a:xfrm>
            <a:off x="6428232" y="4215384"/>
            <a:ext cx="4873752" cy="9966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The significance bar was recomputed to 0.791 as trials were added, and set before any result was seen. The deployed tenor had to clear the bar that the search itself raised.</a:t>
            </a:r>
            <a:endParaRPr lang="en-US" sz="1200" dirty="0"/>
          </a:p>
        </p:txBody>
      </p:sp>
      <p:sp>
        <p:nvSpPr>
          <p:cNvPr id="19" name="Text 17"/>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0" name="Text 18"/>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did not work</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Reported with the same weight as the wins, because a submission that only reports its wins is a sales document. All four are in the repo.</a:t>
            </a:r>
            <a:endParaRPr lang="en-US" sz="1500" dirty="0"/>
          </a:p>
        </p:txBody>
      </p:sp>
      <p:sp>
        <p:nvSpPr>
          <p:cNvPr id="4" name="Shape 2"/>
          <p:cNvSpPr/>
          <p:nvPr/>
        </p:nvSpPr>
        <p:spPr>
          <a:xfrm>
            <a:off x="640080" y="2011680"/>
            <a:ext cx="5312664" cy="1417320"/>
          </a:xfrm>
          <a:prstGeom prst="roundRect">
            <a:avLst>
              <a:gd name="adj" fmla="val 5161"/>
            </a:avLst>
          </a:prstGeom>
          <a:solidFill>
            <a:srgbClr val="16283D"/>
          </a:solidFill>
          <a:ln w="12700">
            <a:solidFill>
              <a:srgbClr val="1E3550"/>
            </a:solidFill>
            <a:prstDash val="solid"/>
          </a:ln>
        </p:spPr>
      </p:sp>
      <p:sp>
        <p:nvSpPr>
          <p:cNvPr id="5" name="Text 3"/>
          <p:cNvSpPr txBox="1"/>
          <p:nvPr/>
        </p:nvSpPr>
        <p:spPr>
          <a:xfrm>
            <a:off x="859536" y="2176272"/>
            <a:ext cx="4873752" cy="310896"/>
          </a:xfrm>
          <a:prstGeom prst="rect">
            <a:avLst/>
          </a:prstGeom>
          <a:noFill/>
          <a:ln/>
        </p:spPr>
        <p:txBody>
          <a:bodyPr wrap="square" lIns="0" tIns="0" rIns="0" bIns="0" rtlCol="0" anchor="ctr"/>
          <a:lstStyle/>
          <a:p>
            <a:pPr indent="0" marL="0">
              <a:buNone/>
            </a:pPr>
            <a:r>
              <a:rPr lang="en-US" sz="1400" b="1" dirty="0">
                <a:solidFill>
                  <a:srgbClr val="E08A93"/>
                </a:solidFill>
                <a:latin typeface="Calibri" pitchFamily="34" charset="0"/>
                <a:ea typeface="Calibri" pitchFamily="34" charset="-122"/>
                <a:cs typeface="Calibri" pitchFamily="34" charset="-120"/>
              </a:rPr>
              <a:t>A registered prediction was wrong</a:t>
            </a:r>
            <a:endParaRPr lang="en-US" sz="1400" dirty="0"/>
          </a:p>
        </p:txBody>
      </p:sp>
      <p:sp>
        <p:nvSpPr>
          <p:cNvPr id="6" name="Text 4"/>
          <p:cNvSpPr txBox="1"/>
          <p:nvPr/>
        </p:nvSpPr>
        <p:spPr>
          <a:xfrm>
            <a:off x="859536" y="2523744"/>
            <a:ext cx="4873752" cy="7223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P2 predicted the regime gate would show a 1.0 point mean advantage. Measured 0.59. The mean was the wrong statistic; the gate survives because the premium is reliably present in contango, not because contango pays more.</a:t>
            </a:r>
            <a:endParaRPr lang="en-US" sz="1200" dirty="0"/>
          </a:p>
        </p:txBody>
      </p:sp>
      <p:sp>
        <p:nvSpPr>
          <p:cNvPr id="7" name="Shape 5"/>
          <p:cNvSpPr/>
          <p:nvPr/>
        </p:nvSpPr>
        <p:spPr>
          <a:xfrm>
            <a:off x="6208776" y="2011680"/>
            <a:ext cx="5312664" cy="1417320"/>
          </a:xfrm>
          <a:prstGeom prst="roundRect">
            <a:avLst>
              <a:gd name="adj" fmla="val 5161"/>
            </a:avLst>
          </a:prstGeom>
          <a:solidFill>
            <a:srgbClr val="16283D"/>
          </a:solidFill>
          <a:ln w="12700">
            <a:solidFill>
              <a:srgbClr val="1E3550"/>
            </a:solidFill>
            <a:prstDash val="solid"/>
          </a:ln>
        </p:spPr>
      </p:sp>
      <p:sp>
        <p:nvSpPr>
          <p:cNvPr id="8" name="Text 6"/>
          <p:cNvSpPr txBox="1"/>
          <p:nvPr/>
        </p:nvSpPr>
        <p:spPr>
          <a:xfrm>
            <a:off x="6428232" y="2176272"/>
            <a:ext cx="4873752" cy="310896"/>
          </a:xfrm>
          <a:prstGeom prst="rect">
            <a:avLst/>
          </a:prstGeom>
          <a:noFill/>
          <a:ln/>
        </p:spPr>
        <p:txBody>
          <a:bodyPr wrap="square" lIns="0" tIns="0" rIns="0" bIns="0" rtlCol="0" anchor="ctr"/>
          <a:lstStyle/>
          <a:p>
            <a:pPr indent="0" marL="0">
              <a:buNone/>
            </a:pPr>
            <a:r>
              <a:rPr lang="en-US" sz="1400" b="1" dirty="0">
                <a:solidFill>
                  <a:srgbClr val="E08A93"/>
                </a:solidFill>
                <a:latin typeface="Calibri" pitchFamily="34" charset="0"/>
                <a:ea typeface="Calibri" pitchFamily="34" charset="-122"/>
                <a:cs typeface="Calibri" pitchFamily="34" charset="-120"/>
              </a:rPr>
              <a:t>The pricing model failed its own gate</a:t>
            </a:r>
            <a:endParaRPr lang="en-US" sz="1400" dirty="0"/>
          </a:p>
        </p:txBody>
      </p:sp>
      <p:sp>
        <p:nvSpPr>
          <p:cNvPr id="9" name="Text 7"/>
          <p:cNvSpPr txBox="1"/>
          <p:nvPr/>
        </p:nvSpPr>
        <p:spPr>
          <a:xfrm>
            <a:off x="6428232" y="2523744"/>
            <a:ext cx="4873752" cy="7223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26.78% median error against a pre-registered 15% threshold, so H3 was not run while it stood. VIX is a variance-swap rate, not ATM implied vol. Corrected on 2024 data only, then passed at 10.75%.</a:t>
            </a:r>
            <a:endParaRPr lang="en-US" sz="1200" dirty="0"/>
          </a:p>
        </p:txBody>
      </p:sp>
      <p:sp>
        <p:nvSpPr>
          <p:cNvPr id="10" name="Shape 8"/>
          <p:cNvSpPr/>
          <p:nvPr/>
        </p:nvSpPr>
        <p:spPr>
          <a:xfrm>
            <a:off x="640080" y="3657600"/>
            <a:ext cx="5312664" cy="1417320"/>
          </a:xfrm>
          <a:prstGeom prst="roundRect">
            <a:avLst>
              <a:gd name="adj" fmla="val 5161"/>
            </a:avLst>
          </a:prstGeom>
          <a:solidFill>
            <a:srgbClr val="16283D"/>
          </a:solidFill>
          <a:ln w="12700">
            <a:solidFill>
              <a:srgbClr val="1E3550"/>
            </a:solidFill>
            <a:prstDash val="solid"/>
          </a:ln>
        </p:spPr>
      </p:sp>
      <p:sp>
        <p:nvSpPr>
          <p:cNvPr id="11" name="Text 9"/>
          <p:cNvSpPr txBox="1"/>
          <p:nvPr/>
        </p:nvSpPr>
        <p:spPr>
          <a:xfrm>
            <a:off x="859536" y="3822192"/>
            <a:ext cx="4873752" cy="310896"/>
          </a:xfrm>
          <a:prstGeom prst="rect">
            <a:avLst/>
          </a:prstGeom>
          <a:noFill/>
          <a:ln/>
        </p:spPr>
        <p:txBody>
          <a:bodyPr wrap="square" lIns="0" tIns="0" rIns="0" bIns="0" rtlCol="0" anchor="ctr"/>
          <a:lstStyle/>
          <a:p>
            <a:pPr indent="0" marL="0">
              <a:buNone/>
            </a:pPr>
            <a:r>
              <a:rPr lang="en-US" sz="1400" b="1" dirty="0">
                <a:solidFill>
                  <a:srgbClr val="E08A93"/>
                </a:solidFill>
                <a:latin typeface="Calibri" pitchFamily="34" charset="0"/>
                <a:ea typeface="Calibri" pitchFamily="34" charset="-122"/>
                <a:cs typeface="Calibri" pitchFamily="34" charset="-120"/>
              </a:rPr>
              <a:t>The deployed result is fragile, and we say so</a:t>
            </a:r>
            <a:endParaRPr lang="en-US" sz="1400" dirty="0"/>
          </a:p>
        </p:txBody>
      </p:sp>
      <p:sp>
        <p:nvSpPr>
          <p:cNvPr id="12" name="Text 10"/>
          <p:cNvSpPr txBox="1"/>
          <p:nvPr/>
        </p:nvSpPr>
        <p:spPr>
          <a:xfrm>
            <a:off x="859536" y="4169664"/>
            <a:ext cx="4873752" cy="7223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Doubling transaction costs improved the best trial's Sharpe, which is impossible and means the optimiser is partly selecting noise. The ungated baseline beats the gated variants on average. Disclosed, not buried.</a:t>
            </a:r>
            <a:endParaRPr lang="en-US" sz="1200" dirty="0"/>
          </a:p>
        </p:txBody>
      </p:sp>
      <p:sp>
        <p:nvSpPr>
          <p:cNvPr id="13" name="Shape 11"/>
          <p:cNvSpPr/>
          <p:nvPr/>
        </p:nvSpPr>
        <p:spPr>
          <a:xfrm>
            <a:off x="6208776" y="3657600"/>
            <a:ext cx="5312664" cy="1417320"/>
          </a:xfrm>
          <a:prstGeom prst="roundRect">
            <a:avLst>
              <a:gd name="adj" fmla="val 5161"/>
            </a:avLst>
          </a:prstGeom>
          <a:solidFill>
            <a:srgbClr val="16283D"/>
          </a:solidFill>
          <a:ln w="12700">
            <a:solidFill>
              <a:srgbClr val="1E3550"/>
            </a:solidFill>
            <a:prstDash val="solid"/>
          </a:ln>
        </p:spPr>
      </p:sp>
      <p:sp>
        <p:nvSpPr>
          <p:cNvPr id="14" name="Text 12"/>
          <p:cNvSpPr txBox="1"/>
          <p:nvPr/>
        </p:nvSpPr>
        <p:spPr>
          <a:xfrm>
            <a:off x="6428232" y="3822192"/>
            <a:ext cx="4873752" cy="310896"/>
          </a:xfrm>
          <a:prstGeom prst="rect">
            <a:avLst/>
          </a:prstGeom>
          <a:noFill/>
          <a:ln/>
        </p:spPr>
        <p:txBody>
          <a:bodyPr wrap="square" lIns="0" tIns="0" rIns="0" bIns="0" rtlCol="0" anchor="ctr"/>
          <a:lstStyle/>
          <a:p>
            <a:pPr indent="0" marL="0">
              <a:buNone/>
            </a:pPr>
            <a:r>
              <a:rPr lang="en-US" sz="1400" b="1" dirty="0">
                <a:solidFill>
                  <a:srgbClr val="E08A93"/>
                </a:solidFill>
                <a:latin typeface="Calibri" pitchFamily="34" charset="0"/>
                <a:ea typeface="Calibri" pitchFamily="34" charset="-122"/>
                <a:cs typeface="Calibri" pitchFamily="34" charset="-120"/>
              </a:rPr>
              <a:t>Our own cost model was lying</a:t>
            </a:r>
            <a:endParaRPr lang="en-US" sz="1400" dirty="0"/>
          </a:p>
        </p:txBody>
      </p:sp>
      <p:sp>
        <p:nvSpPr>
          <p:cNvPr id="15" name="Text 13"/>
          <p:cNvSpPr txBox="1"/>
          <p:nvPr/>
        </p:nvSpPr>
        <p:spPr>
          <a:xfrm>
            <a:off x="6428232" y="4169664"/>
            <a:ext cx="4873752" cy="7223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Charging cost as a percentage of credit under-charged exactly the configurations that looked best. Measured: the spread is 0.8% of a 35-delta option's price and 13.3% of a 5-delta option's. A 16x range.</a:t>
            </a:r>
            <a:endParaRPr lang="en-US" sz="1200" dirty="0"/>
          </a:p>
        </p:txBody>
      </p:sp>
      <p:sp>
        <p:nvSpPr>
          <p:cNvPr id="16" name="Text 14"/>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17" name="Text 15"/>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Eleven gates, then a trade</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Evaluated at decision time, all of them, so one artifact shows the whole picture rather than the first failure.</a:t>
            </a:r>
            <a:endParaRPr lang="en-US" sz="1500" dirty="0"/>
          </a:p>
        </p:txBody>
      </p:sp>
      <p:sp>
        <p:nvSpPr>
          <p:cNvPr id="4" name="Shape 2"/>
          <p:cNvSpPr/>
          <p:nvPr/>
        </p:nvSpPr>
        <p:spPr>
          <a:xfrm>
            <a:off x="640080" y="2057400"/>
            <a:ext cx="2569464" cy="566928"/>
          </a:xfrm>
          <a:prstGeom prst="roundRect">
            <a:avLst>
              <a:gd name="adj" fmla="val 9677"/>
            </a:avLst>
          </a:prstGeom>
          <a:solidFill>
            <a:srgbClr val="16283D"/>
          </a:solidFill>
          <a:ln w="12700">
            <a:solidFill>
              <a:srgbClr val="1E3550"/>
            </a:solidFill>
            <a:prstDash val="solid"/>
          </a:ln>
        </p:spPr>
      </p:sp>
      <p:sp>
        <p:nvSpPr>
          <p:cNvPr id="5" name="Text 3"/>
          <p:cNvSpPr txBox="1"/>
          <p:nvPr/>
        </p:nvSpPr>
        <p:spPr>
          <a:xfrm>
            <a:off x="786384" y="2167128"/>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0</a:t>
            </a:r>
            <a:endParaRPr lang="en-US" sz="1500" dirty="0"/>
          </a:p>
        </p:txBody>
      </p:sp>
      <p:sp>
        <p:nvSpPr>
          <p:cNvPr id="6" name="Text 4"/>
          <p:cNvSpPr txBox="1"/>
          <p:nvPr/>
        </p:nvSpPr>
        <p:spPr>
          <a:xfrm>
            <a:off x="1243584" y="2176272"/>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position integrity</a:t>
            </a:r>
            <a:endParaRPr lang="en-US" sz="1200" dirty="0"/>
          </a:p>
        </p:txBody>
      </p:sp>
      <p:sp>
        <p:nvSpPr>
          <p:cNvPr id="7" name="Shape 5"/>
          <p:cNvSpPr/>
          <p:nvPr/>
        </p:nvSpPr>
        <p:spPr>
          <a:xfrm>
            <a:off x="3410712" y="2057400"/>
            <a:ext cx="2569464" cy="566928"/>
          </a:xfrm>
          <a:prstGeom prst="roundRect">
            <a:avLst>
              <a:gd name="adj" fmla="val 9677"/>
            </a:avLst>
          </a:prstGeom>
          <a:solidFill>
            <a:srgbClr val="16283D"/>
          </a:solidFill>
          <a:ln w="12700">
            <a:solidFill>
              <a:srgbClr val="1E3550"/>
            </a:solidFill>
            <a:prstDash val="solid"/>
          </a:ln>
        </p:spPr>
      </p:sp>
      <p:sp>
        <p:nvSpPr>
          <p:cNvPr id="8" name="Text 6"/>
          <p:cNvSpPr txBox="1"/>
          <p:nvPr/>
        </p:nvSpPr>
        <p:spPr>
          <a:xfrm>
            <a:off x="3557016" y="2167128"/>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1</a:t>
            </a:r>
            <a:endParaRPr lang="en-US" sz="1500" dirty="0"/>
          </a:p>
        </p:txBody>
      </p:sp>
      <p:sp>
        <p:nvSpPr>
          <p:cNvPr id="9" name="Text 7"/>
          <p:cNvSpPr txBox="1"/>
          <p:nvPr/>
        </p:nvSpPr>
        <p:spPr>
          <a:xfrm>
            <a:off x="4014216" y="2176272"/>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session window</a:t>
            </a:r>
            <a:endParaRPr lang="en-US" sz="1200" dirty="0"/>
          </a:p>
        </p:txBody>
      </p:sp>
      <p:sp>
        <p:nvSpPr>
          <p:cNvPr id="10" name="Shape 8"/>
          <p:cNvSpPr/>
          <p:nvPr/>
        </p:nvSpPr>
        <p:spPr>
          <a:xfrm>
            <a:off x="6181344" y="2057400"/>
            <a:ext cx="2569464" cy="566928"/>
          </a:xfrm>
          <a:prstGeom prst="roundRect">
            <a:avLst>
              <a:gd name="adj" fmla="val 9677"/>
            </a:avLst>
          </a:prstGeom>
          <a:solidFill>
            <a:srgbClr val="1E3550"/>
          </a:solidFill>
          <a:ln w="19050">
            <a:solidFill>
              <a:srgbClr val="E8B54A"/>
            </a:solidFill>
            <a:prstDash val="solid"/>
          </a:ln>
        </p:spPr>
      </p:sp>
      <p:sp>
        <p:nvSpPr>
          <p:cNvPr id="11" name="Text 9"/>
          <p:cNvSpPr txBox="1"/>
          <p:nvPr/>
        </p:nvSpPr>
        <p:spPr>
          <a:xfrm>
            <a:off x="6327648" y="2167128"/>
            <a:ext cx="457200" cy="347472"/>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2</a:t>
            </a:r>
            <a:endParaRPr lang="en-US" sz="1500" dirty="0"/>
          </a:p>
        </p:txBody>
      </p:sp>
      <p:sp>
        <p:nvSpPr>
          <p:cNvPr id="12" name="Text 10"/>
          <p:cNvSpPr txBox="1"/>
          <p:nvPr/>
        </p:nvSpPr>
        <p:spPr>
          <a:xfrm>
            <a:off x="6784848" y="2176272"/>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drawdown breaker</a:t>
            </a:r>
            <a:endParaRPr lang="en-US" sz="1200" dirty="0"/>
          </a:p>
        </p:txBody>
      </p:sp>
      <p:sp>
        <p:nvSpPr>
          <p:cNvPr id="13" name="Shape 11"/>
          <p:cNvSpPr/>
          <p:nvPr/>
        </p:nvSpPr>
        <p:spPr>
          <a:xfrm>
            <a:off x="8951976" y="2057400"/>
            <a:ext cx="2569464" cy="566928"/>
          </a:xfrm>
          <a:prstGeom prst="roundRect">
            <a:avLst>
              <a:gd name="adj" fmla="val 9677"/>
            </a:avLst>
          </a:prstGeom>
          <a:solidFill>
            <a:srgbClr val="1E3550"/>
          </a:solidFill>
          <a:ln w="19050">
            <a:solidFill>
              <a:srgbClr val="E8B54A"/>
            </a:solidFill>
            <a:prstDash val="solid"/>
          </a:ln>
        </p:spPr>
      </p:sp>
      <p:sp>
        <p:nvSpPr>
          <p:cNvPr id="14" name="Text 12"/>
          <p:cNvSpPr txBox="1"/>
          <p:nvPr/>
        </p:nvSpPr>
        <p:spPr>
          <a:xfrm>
            <a:off x="9098280" y="2167128"/>
            <a:ext cx="457200" cy="347472"/>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3</a:t>
            </a:r>
            <a:endParaRPr lang="en-US" sz="1500" dirty="0"/>
          </a:p>
        </p:txBody>
      </p:sp>
      <p:sp>
        <p:nvSpPr>
          <p:cNvPr id="15" name="Text 13"/>
          <p:cNvSpPr txBox="1"/>
          <p:nvPr/>
        </p:nvSpPr>
        <p:spPr>
          <a:xfrm>
            <a:off x="9555480" y="2176272"/>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daily loss limit</a:t>
            </a:r>
            <a:endParaRPr lang="en-US" sz="1200" dirty="0"/>
          </a:p>
        </p:txBody>
      </p:sp>
      <p:sp>
        <p:nvSpPr>
          <p:cNvPr id="16" name="Shape 14"/>
          <p:cNvSpPr/>
          <p:nvPr/>
        </p:nvSpPr>
        <p:spPr>
          <a:xfrm>
            <a:off x="640080" y="2807208"/>
            <a:ext cx="2569464" cy="566928"/>
          </a:xfrm>
          <a:prstGeom prst="roundRect">
            <a:avLst>
              <a:gd name="adj" fmla="val 9677"/>
            </a:avLst>
          </a:prstGeom>
          <a:solidFill>
            <a:srgbClr val="16283D"/>
          </a:solidFill>
          <a:ln w="12700">
            <a:solidFill>
              <a:srgbClr val="1E3550"/>
            </a:solidFill>
            <a:prstDash val="solid"/>
          </a:ln>
        </p:spPr>
      </p:sp>
      <p:sp>
        <p:nvSpPr>
          <p:cNvPr id="17" name="Text 15"/>
          <p:cNvSpPr txBox="1"/>
          <p:nvPr/>
        </p:nvSpPr>
        <p:spPr>
          <a:xfrm>
            <a:off x="786384" y="2916936"/>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4</a:t>
            </a:r>
            <a:endParaRPr lang="en-US" sz="1500" dirty="0"/>
          </a:p>
        </p:txBody>
      </p:sp>
      <p:sp>
        <p:nvSpPr>
          <p:cNvPr id="18" name="Text 16"/>
          <p:cNvSpPr txBox="1"/>
          <p:nvPr/>
        </p:nvSpPr>
        <p:spPr>
          <a:xfrm>
            <a:off x="1243584" y="2926080"/>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consecutive losses</a:t>
            </a:r>
            <a:endParaRPr lang="en-US" sz="1200" dirty="0"/>
          </a:p>
        </p:txBody>
      </p:sp>
      <p:sp>
        <p:nvSpPr>
          <p:cNvPr id="19" name="Shape 17"/>
          <p:cNvSpPr/>
          <p:nvPr/>
        </p:nvSpPr>
        <p:spPr>
          <a:xfrm>
            <a:off x="3410712" y="2807208"/>
            <a:ext cx="2569464" cy="566928"/>
          </a:xfrm>
          <a:prstGeom prst="roundRect">
            <a:avLst>
              <a:gd name="adj" fmla="val 9677"/>
            </a:avLst>
          </a:prstGeom>
          <a:solidFill>
            <a:srgbClr val="16283D"/>
          </a:solidFill>
          <a:ln w="12700">
            <a:solidFill>
              <a:srgbClr val="1E3550"/>
            </a:solidFill>
            <a:prstDash val="solid"/>
          </a:ln>
        </p:spPr>
      </p:sp>
      <p:sp>
        <p:nvSpPr>
          <p:cNvPr id="20" name="Text 18"/>
          <p:cNvSpPr txBox="1"/>
          <p:nvPr/>
        </p:nvSpPr>
        <p:spPr>
          <a:xfrm>
            <a:off x="3557016" y="2916936"/>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5</a:t>
            </a:r>
            <a:endParaRPr lang="en-US" sz="1500" dirty="0"/>
          </a:p>
        </p:txBody>
      </p:sp>
      <p:sp>
        <p:nvSpPr>
          <p:cNvPr id="21" name="Text 19"/>
          <p:cNvSpPr txBox="1"/>
          <p:nvPr/>
        </p:nvSpPr>
        <p:spPr>
          <a:xfrm>
            <a:off x="4014216" y="2926080"/>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capacity</a:t>
            </a:r>
            <a:endParaRPr lang="en-US" sz="1200" dirty="0"/>
          </a:p>
        </p:txBody>
      </p:sp>
      <p:sp>
        <p:nvSpPr>
          <p:cNvPr id="22" name="Shape 20"/>
          <p:cNvSpPr/>
          <p:nvPr/>
        </p:nvSpPr>
        <p:spPr>
          <a:xfrm>
            <a:off x="6181344" y="2807208"/>
            <a:ext cx="2569464" cy="566928"/>
          </a:xfrm>
          <a:prstGeom prst="roundRect">
            <a:avLst>
              <a:gd name="adj" fmla="val 9677"/>
            </a:avLst>
          </a:prstGeom>
          <a:solidFill>
            <a:srgbClr val="16283D"/>
          </a:solidFill>
          <a:ln w="12700">
            <a:solidFill>
              <a:srgbClr val="1E3550"/>
            </a:solidFill>
            <a:prstDash val="solid"/>
          </a:ln>
        </p:spPr>
      </p:sp>
      <p:sp>
        <p:nvSpPr>
          <p:cNvPr id="23" name="Text 21"/>
          <p:cNvSpPr txBox="1"/>
          <p:nvPr/>
        </p:nvSpPr>
        <p:spPr>
          <a:xfrm>
            <a:off x="6327648" y="2916936"/>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6</a:t>
            </a:r>
            <a:endParaRPr lang="en-US" sz="1500" dirty="0"/>
          </a:p>
        </p:txBody>
      </p:sp>
      <p:sp>
        <p:nvSpPr>
          <p:cNvPr id="24" name="Text 22"/>
          <p:cNvSpPr txBox="1"/>
          <p:nvPr/>
        </p:nvSpPr>
        <p:spPr>
          <a:xfrm>
            <a:off x="6784848" y="2926080"/>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term structure</a:t>
            </a:r>
            <a:endParaRPr lang="en-US" sz="1200" dirty="0"/>
          </a:p>
        </p:txBody>
      </p:sp>
      <p:sp>
        <p:nvSpPr>
          <p:cNvPr id="25" name="Shape 23"/>
          <p:cNvSpPr/>
          <p:nvPr/>
        </p:nvSpPr>
        <p:spPr>
          <a:xfrm>
            <a:off x="8951976" y="2807208"/>
            <a:ext cx="2569464" cy="566928"/>
          </a:xfrm>
          <a:prstGeom prst="roundRect">
            <a:avLst>
              <a:gd name="adj" fmla="val 9677"/>
            </a:avLst>
          </a:prstGeom>
          <a:solidFill>
            <a:srgbClr val="16283D"/>
          </a:solidFill>
          <a:ln w="12700">
            <a:solidFill>
              <a:srgbClr val="1E3550"/>
            </a:solidFill>
            <a:prstDash val="solid"/>
          </a:ln>
        </p:spPr>
      </p:sp>
      <p:sp>
        <p:nvSpPr>
          <p:cNvPr id="26" name="Text 24"/>
          <p:cNvSpPr txBox="1"/>
          <p:nvPr/>
        </p:nvSpPr>
        <p:spPr>
          <a:xfrm>
            <a:off x="9098280" y="2916936"/>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7</a:t>
            </a:r>
            <a:endParaRPr lang="en-US" sz="1500" dirty="0"/>
          </a:p>
        </p:txBody>
      </p:sp>
      <p:sp>
        <p:nvSpPr>
          <p:cNvPr id="27" name="Text 25"/>
          <p:cNvSpPr txBox="1"/>
          <p:nvPr/>
        </p:nvSpPr>
        <p:spPr>
          <a:xfrm>
            <a:off x="9555480" y="2926080"/>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VRP threshold</a:t>
            </a:r>
            <a:endParaRPr lang="en-US" sz="1200" dirty="0"/>
          </a:p>
        </p:txBody>
      </p:sp>
      <p:sp>
        <p:nvSpPr>
          <p:cNvPr id="28" name="Shape 26"/>
          <p:cNvSpPr/>
          <p:nvPr/>
        </p:nvSpPr>
        <p:spPr>
          <a:xfrm>
            <a:off x="640080" y="3557016"/>
            <a:ext cx="2569464" cy="566928"/>
          </a:xfrm>
          <a:prstGeom prst="roundRect">
            <a:avLst>
              <a:gd name="adj" fmla="val 9677"/>
            </a:avLst>
          </a:prstGeom>
          <a:solidFill>
            <a:srgbClr val="16283D"/>
          </a:solidFill>
          <a:ln w="12700">
            <a:solidFill>
              <a:srgbClr val="1E3550"/>
            </a:solidFill>
            <a:prstDash val="solid"/>
          </a:ln>
        </p:spPr>
      </p:sp>
      <p:sp>
        <p:nvSpPr>
          <p:cNvPr id="29" name="Text 27"/>
          <p:cNvSpPr txBox="1"/>
          <p:nvPr/>
        </p:nvSpPr>
        <p:spPr>
          <a:xfrm>
            <a:off x="786384" y="3666744"/>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8</a:t>
            </a:r>
            <a:endParaRPr lang="en-US" sz="1500" dirty="0"/>
          </a:p>
        </p:txBody>
      </p:sp>
      <p:sp>
        <p:nvSpPr>
          <p:cNvPr id="30" name="Text 28"/>
          <p:cNvSpPr txBox="1"/>
          <p:nvPr/>
        </p:nvSpPr>
        <p:spPr>
          <a:xfrm>
            <a:off x="1243584" y="3675888"/>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event proximity</a:t>
            </a:r>
            <a:endParaRPr lang="en-US" sz="1200" dirty="0"/>
          </a:p>
        </p:txBody>
      </p:sp>
      <p:sp>
        <p:nvSpPr>
          <p:cNvPr id="31" name="Shape 29"/>
          <p:cNvSpPr/>
          <p:nvPr/>
        </p:nvSpPr>
        <p:spPr>
          <a:xfrm>
            <a:off x="3410712" y="3557016"/>
            <a:ext cx="2569464" cy="566928"/>
          </a:xfrm>
          <a:prstGeom prst="roundRect">
            <a:avLst>
              <a:gd name="adj" fmla="val 9677"/>
            </a:avLst>
          </a:prstGeom>
          <a:solidFill>
            <a:srgbClr val="16283D"/>
          </a:solidFill>
          <a:ln w="12700">
            <a:solidFill>
              <a:srgbClr val="1E3550"/>
            </a:solidFill>
            <a:prstDash val="solid"/>
          </a:ln>
        </p:spPr>
      </p:sp>
      <p:sp>
        <p:nvSpPr>
          <p:cNvPr id="32" name="Text 30"/>
          <p:cNvSpPr txBox="1"/>
          <p:nvPr/>
        </p:nvSpPr>
        <p:spPr>
          <a:xfrm>
            <a:off x="3557016" y="3666744"/>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9</a:t>
            </a:r>
            <a:endParaRPr lang="en-US" sz="1500" dirty="0"/>
          </a:p>
        </p:txBody>
      </p:sp>
      <p:sp>
        <p:nvSpPr>
          <p:cNvPr id="33" name="Text 31"/>
          <p:cNvSpPr txBox="1"/>
          <p:nvPr/>
        </p:nvSpPr>
        <p:spPr>
          <a:xfrm>
            <a:off x="4014216" y="3675888"/>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cost ceiling</a:t>
            </a:r>
            <a:endParaRPr lang="en-US" sz="1200" dirty="0"/>
          </a:p>
        </p:txBody>
      </p:sp>
      <p:sp>
        <p:nvSpPr>
          <p:cNvPr id="34" name="Shape 32"/>
          <p:cNvSpPr/>
          <p:nvPr/>
        </p:nvSpPr>
        <p:spPr>
          <a:xfrm>
            <a:off x="6181344" y="3557016"/>
            <a:ext cx="2569464" cy="566928"/>
          </a:xfrm>
          <a:prstGeom prst="roundRect">
            <a:avLst>
              <a:gd name="adj" fmla="val 9677"/>
            </a:avLst>
          </a:prstGeom>
          <a:solidFill>
            <a:srgbClr val="16283D"/>
          </a:solidFill>
          <a:ln w="12700">
            <a:solidFill>
              <a:srgbClr val="1E3550"/>
            </a:solidFill>
            <a:prstDash val="solid"/>
          </a:ln>
        </p:spPr>
      </p:sp>
      <p:sp>
        <p:nvSpPr>
          <p:cNvPr id="35" name="Text 33"/>
          <p:cNvSpPr txBox="1"/>
          <p:nvPr/>
        </p:nvSpPr>
        <p:spPr>
          <a:xfrm>
            <a:off x="6327648" y="3666744"/>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10</a:t>
            </a:r>
            <a:endParaRPr lang="en-US" sz="1500" dirty="0"/>
          </a:p>
        </p:txBody>
      </p:sp>
      <p:sp>
        <p:nvSpPr>
          <p:cNvPr id="36" name="Text 34"/>
          <p:cNvSpPr txBox="1"/>
          <p:nvPr/>
        </p:nvSpPr>
        <p:spPr>
          <a:xfrm>
            <a:off x="6784848" y="3675888"/>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sizing</a:t>
            </a:r>
            <a:endParaRPr lang="en-US" sz="1200" dirty="0"/>
          </a:p>
        </p:txBody>
      </p:sp>
      <p:sp>
        <p:nvSpPr>
          <p:cNvPr id="37" name="Shape 35"/>
          <p:cNvSpPr/>
          <p:nvPr/>
        </p:nvSpPr>
        <p:spPr>
          <a:xfrm>
            <a:off x="8951976" y="3557016"/>
            <a:ext cx="2569464" cy="566928"/>
          </a:xfrm>
          <a:prstGeom prst="roundRect">
            <a:avLst>
              <a:gd name="adj" fmla="val 9677"/>
            </a:avLst>
          </a:prstGeom>
          <a:solidFill>
            <a:srgbClr val="16283D"/>
          </a:solidFill>
          <a:ln w="12700">
            <a:solidFill>
              <a:srgbClr val="1E3550"/>
            </a:solidFill>
            <a:prstDash val="solid"/>
          </a:ln>
        </p:spPr>
      </p:sp>
      <p:sp>
        <p:nvSpPr>
          <p:cNvPr id="38" name="Text 36"/>
          <p:cNvSpPr txBox="1"/>
          <p:nvPr/>
        </p:nvSpPr>
        <p:spPr>
          <a:xfrm>
            <a:off x="9098280" y="3666744"/>
            <a:ext cx="457200" cy="347472"/>
          </a:xfrm>
          <a:prstGeom prst="rect">
            <a:avLst/>
          </a:prstGeom>
          <a:noFill/>
          <a:ln/>
        </p:spPr>
        <p:txBody>
          <a:bodyPr wrap="square" lIns="0" tIns="0" rIns="0" bIns="0" rtlCol="0" anchor="ctr"/>
          <a:lstStyle/>
          <a:p>
            <a:pPr indent="0" marL="0">
              <a:buNone/>
            </a:pPr>
            <a:r>
              <a:rPr lang="en-US" sz="1500" b="1" dirty="0">
                <a:solidFill>
                  <a:srgbClr val="7C93AE"/>
                </a:solidFill>
                <a:latin typeface="Courier New" pitchFamily="34" charset="0"/>
                <a:ea typeface="Courier New" pitchFamily="34" charset="-122"/>
                <a:cs typeface="Courier New" pitchFamily="34" charset="-120"/>
              </a:rPr>
              <a:t>+</a:t>
            </a:r>
            <a:endParaRPr lang="en-US" sz="1500" dirty="0"/>
          </a:p>
        </p:txBody>
      </p:sp>
      <p:sp>
        <p:nvSpPr>
          <p:cNvPr id="39" name="Text 37"/>
          <p:cNvSpPr txBox="1"/>
          <p:nvPr/>
        </p:nvSpPr>
        <p:spPr>
          <a:xfrm>
            <a:off x="9555480" y="3675888"/>
            <a:ext cx="1837944"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stagger rule</a:t>
            </a:r>
            <a:endParaRPr lang="en-US" sz="1200" dirty="0"/>
          </a:p>
        </p:txBody>
      </p:sp>
      <p:sp>
        <p:nvSpPr>
          <p:cNvPr id="40" name="Text 38"/>
          <p:cNvSpPr txBox="1"/>
          <p:nvPr/>
        </p:nvSpPr>
        <p:spPr>
          <a:xfrm>
            <a:off x="640080" y="4617720"/>
            <a:ext cx="10881360" cy="365760"/>
          </a:xfrm>
          <a:prstGeom prst="rect">
            <a:avLst/>
          </a:prstGeom>
          <a:noFill/>
          <a:ln/>
        </p:spPr>
        <p:txBody>
          <a:bodyPr wrap="square" lIns="0" tIns="0" rIns="0" bIns="0" rtlCol="0" anchor="ctr"/>
          <a:lstStyle/>
          <a:p>
            <a:pPr indent="0" marL="0">
              <a:buNone/>
            </a:pPr>
            <a:r>
              <a:rPr lang="en-US" sz="1300" dirty="0">
                <a:solidFill>
                  <a:srgbClr val="C9DAF0"/>
                </a:solidFill>
                <a:latin typeface="Calibri" pitchFamily="34" charset="0"/>
                <a:ea typeface="Calibri" pitchFamily="34" charset="-122"/>
                <a:cs typeface="Calibri" pitchFamily="34" charset="-120"/>
              </a:rPr>
              <a:t>Gates 0, 2 and 3 are circuit breakers, outlined above and distinguished in code: a refusal means no trade now, a breach means stop.</a:t>
            </a:r>
            <a:endParaRPr lang="en-US" sz="1300" dirty="0"/>
          </a:p>
        </p:txBody>
      </p:sp>
      <p:sp>
        <p:nvSpPr>
          <p:cNvPr id="41" name="Shape 39"/>
          <p:cNvSpPr/>
          <p:nvPr/>
        </p:nvSpPr>
        <p:spPr>
          <a:xfrm>
            <a:off x="640080" y="5029200"/>
            <a:ext cx="5312664" cy="1234440"/>
          </a:xfrm>
          <a:prstGeom prst="roundRect">
            <a:avLst>
              <a:gd name="adj" fmla="val 5926"/>
            </a:avLst>
          </a:prstGeom>
          <a:solidFill>
            <a:srgbClr val="16283D"/>
          </a:solidFill>
          <a:ln w="12700">
            <a:solidFill>
              <a:srgbClr val="1E3550"/>
            </a:solidFill>
            <a:prstDash val="solid"/>
          </a:ln>
        </p:spPr>
      </p:sp>
      <p:sp>
        <p:nvSpPr>
          <p:cNvPr id="42" name="Text 40"/>
          <p:cNvSpPr txBox="1"/>
          <p:nvPr/>
        </p:nvSpPr>
        <p:spPr>
          <a:xfrm>
            <a:off x="859536" y="519379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Sizing is a recorded deviation, not a default</a:t>
            </a:r>
            <a:endParaRPr lang="en-US" sz="1400" dirty="0"/>
          </a:p>
        </p:txBody>
      </p:sp>
      <p:sp>
        <p:nvSpPr>
          <p:cNvPr id="43" name="Text 41"/>
          <p:cNvSpPr txBox="1"/>
          <p:nvPr/>
        </p:nvSpPr>
        <p:spPr>
          <a:xfrm>
            <a:off x="859536" y="5541264"/>
            <a:ext cx="4873752" cy="5394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Research ran at 1% per position. Live runs 5 concurrent at 3%, hard capped at 15%, because research sizing implied under one trade all week. Written down before the week started.</a:t>
            </a:r>
            <a:endParaRPr lang="en-US" sz="1200" dirty="0"/>
          </a:p>
        </p:txBody>
      </p:sp>
      <p:sp>
        <p:nvSpPr>
          <p:cNvPr id="44" name="Shape 42"/>
          <p:cNvSpPr/>
          <p:nvPr/>
        </p:nvSpPr>
        <p:spPr>
          <a:xfrm>
            <a:off x="6208776" y="5029200"/>
            <a:ext cx="5312664" cy="1234440"/>
          </a:xfrm>
          <a:prstGeom prst="roundRect">
            <a:avLst>
              <a:gd name="adj" fmla="val 5926"/>
            </a:avLst>
          </a:prstGeom>
          <a:solidFill>
            <a:srgbClr val="16283D"/>
          </a:solidFill>
          <a:ln w="12700">
            <a:solidFill>
              <a:srgbClr val="1E3550"/>
            </a:solidFill>
            <a:prstDash val="solid"/>
          </a:ln>
        </p:spPr>
      </p:sp>
      <p:sp>
        <p:nvSpPr>
          <p:cNvPr id="45" name="Text 43"/>
          <p:cNvSpPr txBox="1"/>
          <p:nvPr/>
        </p:nvSpPr>
        <p:spPr>
          <a:xfrm>
            <a:off x="6428232" y="519379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The deadline is a risk event</a:t>
            </a:r>
            <a:endParaRPr lang="en-US" sz="1400" dirty="0"/>
          </a:p>
        </p:txBody>
      </p:sp>
      <p:sp>
        <p:nvSpPr>
          <p:cNvPr id="46" name="Text 44"/>
          <p:cNvSpPr txBox="1"/>
          <p:nvPr/>
        </p:nvSpPr>
        <p:spPr>
          <a:xfrm>
            <a:off x="6428232" y="5541264"/>
            <a:ext cx="4873752" cy="5394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 dedicated mechanism flattens the entire book 90 minutes before submission, so the reported result is realised P&amp;L and not a mark at an arbitrary instant.</a:t>
            </a:r>
            <a:endParaRPr lang="en-US" sz="1200" dirty="0"/>
          </a:p>
        </p:txBody>
      </p:sp>
      <p:sp>
        <p:nvSpPr>
          <p:cNvPr id="47" name="Text 45"/>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48" name="Text 46"/>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strategies, one market</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Three candidate tenors ran live in parallel for eight days, on the same real prices, risking nothing. The deployed one was picked from that, not from the backtest ranking.</a:t>
            </a:r>
            <a:endParaRPr lang="en-US" sz="1500" dirty="0"/>
          </a:p>
        </p:txBody>
      </p:sp>
      <p:sp>
        <p:nvSpPr>
          <p:cNvPr id="4" name="Shape 2"/>
          <p:cNvSpPr/>
          <p:nvPr/>
        </p:nvSpPr>
        <p:spPr>
          <a:xfrm>
            <a:off x="640080" y="2103120"/>
            <a:ext cx="3444240" cy="2148840"/>
          </a:xfrm>
          <a:prstGeom prst="roundRect">
            <a:avLst>
              <a:gd name="adj" fmla="val 4255"/>
            </a:avLst>
          </a:prstGeom>
          <a:solidFill>
            <a:srgbClr val="16283D"/>
          </a:solidFill>
          <a:ln w="12700">
            <a:solidFill>
              <a:srgbClr val="1E3550"/>
            </a:solidFill>
            <a:prstDash val="solid"/>
          </a:ln>
        </p:spPr>
      </p:sp>
      <p:sp>
        <p:nvSpPr>
          <p:cNvPr id="5" name="Text 3"/>
          <p:cNvSpPr txBox="1"/>
          <p:nvPr/>
        </p:nvSpPr>
        <p:spPr>
          <a:xfrm>
            <a:off x="868680" y="2286000"/>
            <a:ext cx="29870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T4</a:t>
            </a:r>
            <a:endParaRPr lang="en-US" sz="2600" dirty="0"/>
          </a:p>
        </p:txBody>
      </p:sp>
      <p:sp>
        <p:nvSpPr>
          <p:cNvPr id="6" name="Text 4"/>
          <p:cNvSpPr txBox="1"/>
          <p:nvPr/>
        </p:nvSpPr>
        <p:spPr>
          <a:xfrm>
            <a:off x="868680" y="2743200"/>
            <a:ext cx="2987040" cy="32004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7 to 14 DTE</a:t>
            </a:r>
            <a:endParaRPr lang="en-US" sz="1200" dirty="0"/>
          </a:p>
        </p:txBody>
      </p:sp>
      <p:sp>
        <p:nvSpPr>
          <p:cNvPr id="7" name="Text 5"/>
          <p:cNvSpPr txBox="1"/>
          <p:nvPr/>
        </p:nvSpPr>
        <p:spPr>
          <a:xfrm>
            <a:off x="868680" y="3127248"/>
            <a:ext cx="2987040" cy="640080"/>
          </a:xfrm>
          <a:prstGeom prst="rect">
            <a:avLst/>
          </a:prstGeom>
          <a:noFill/>
          <a:ln/>
        </p:spPr>
        <p:txBody>
          <a:bodyPr wrap="square" lIns="0" tIns="0" rIns="0" bIns="0" rtlCol="0" anchor="ctr"/>
          <a:lstStyle/>
          <a:p>
            <a:pPr indent="0" marL="0">
              <a:buNone/>
            </a:pPr>
            <a:r>
              <a:rPr lang="en-US" sz="4000" b="1" dirty="0">
                <a:solidFill>
                  <a:srgbClr val="7C93AE"/>
                </a:solidFill>
                <a:latin typeface="Cambria" pitchFamily="34" charset="0"/>
                <a:ea typeface="Cambria" pitchFamily="34" charset="-122"/>
                <a:cs typeface="Cambria" pitchFamily="34" charset="-120"/>
              </a:rPr>
              <a:t>16</a:t>
            </a:r>
            <a:endParaRPr lang="en-US" sz="4000" dirty="0"/>
          </a:p>
        </p:txBody>
      </p:sp>
      <p:sp>
        <p:nvSpPr>
          <p:cNvPr id="8" name="Text 6"/>
          <p:cNvSpPr txBox="1"/>
          <p:nvPr/>
        </p:nvSpPr>
        <p:spPr>
          <a:xfrm>
            <a:off x="868680" y="3767328"/>
            <a:ext cx="2987040" cy="320040"/>
          </a:xfrm>
          <a:prstGeom prst="rect">
            <a:avLst/>
          </a:prstGeom>
          <a:noFill/>
          <a:ln/>
        </p:spPr>
        <p:txBody>
          <a:bodyPr wrap="square" lIns="0" tIns="0" rIns="0" bIns="0" rtlCol="0" anchor="ctr"/>
          <a:lstStyle/>
          <a:p>
            <a:pPr indent="0" marL="0">
              <a:buNone/>
            </a:pPr>
            <a:r>
              <a:rPr lang="en-US" sz="1100" dirty="0">
                <a:solidFill>
                  <a:srgbClr val="7C93AE"/>
                </a:solidFill>
                <a:latin typeface="Calibri" pitchFamily="34" charset="0"/>
                <a:ea typeface="Calibri" pitchFamily="34" charset="-122"/>
                <a:cs typeface="Calibri" pitchFamily="34" charset="-120"/>
              </a:rPr>
              <a:t>would-enter cycles of 52</a:t>
            </a:r>
            <a:endParaRPr lang="en-US" sz="1100" dirty="0"/>
          </a:p>
        </p:txBody>
      </p:sp>
      <p:sp>
        <p:nvSpPr>
          <p:cNvPr id="9" name="Shape 7"/>
          <p:cNvSpPr/>
          <p:nvPr/>
        </p:nvSpPr>
        <p:spPr>
          <a:xfrm>
            <a:off x="4358640" y="2103120"/>
            <a:ext cx="3444240" cy="2148840"/>
          </a:xfrm>
          <a:prstGeom prst="roundRect">
            <a:avLst>
              <a:gd name="adj" fmla="val 4255"/>
            </a:avLst>
          </a:prstGeom>
          <a:solidFill>
            <a:srgbClr val="1E3550"/>
          </a:solidFill>
          <a:ln w="25400">
            <a:solidFill>
              <a:srgbClr val="E8B54A"/>
            </a:solidFill>
            <a:prstDash val="solid"/>
          </a:ln>
        </p:spPr>
      </p:sp>
      <p:sp>
        <p:nvSpPr>
          <p:cNvPr id="10" name="Text 8"/>
          <p:cNvSpPr txBox="1"/>
          <p:nvPr/>
        </p:nvSpPr>
        <p:spPr>
          <a:xfrm>
            <a:off x="4587240" y="2286000"/>
            <a:ext cx="2987040" cy="457200"/>
          </a:xfrm>
          <a:prstGeom prst="rect">
            <a:avLst/>
          </a:prstGeom>
          <a:noFill/>
          <a:ln/>
        </p:spPr>
        <p:txBody>
          <a:bodyPr wrap="square" lIns="0" tIns="0" rIns="0" bIns="0" rtlCol="0" anchor="ctr"/>
          <a:lstStyle/>
          <a:p>
            <a:pPr indent="0" marL="0">
              <a:buNone/>
            </a:pPr>
            <a:r>
              <a:rPr lang="en-US" sz="2600" b="1" dirty="0">
                <a:solidFill>
                  <a:srgbClr val="E8B54A"/>
                </a:solidFill>
                <a:latin typeface="Cambria" pitchFamily="34" charset="0"/>
                <a:ea typeface="Cambria" pitchFamily="34" charset="-122"/>
                <a:cs typeface="Cambria" pitchFamily="34" charset="-120"/>
              </a:rPr>
              <a:t>T6</a:t>
            </a:r>
            <a:endParaRPr lang="en-US" sz="2600" dirty="0"/>
          </a:p>
        </p:txBody>
      </p:sp>
      <p:sp>
        <p:nvSpPr>
          <p:cNvPr id="11" name="Text 9"/>
          <p:cNvSpPr txBox="1"/>
          <p:nvPr/>
        </p:nvSpPr>
        <p:spPr>
          <a:xfrm>
            <a:off x="4587240" y="2743200"/>
            <a:ext cx="2987040" cy="32004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21 to 45 DTE</a:t>
            </a:r>
            <a:endParaRPr lang="en-US" sz="1200" dirty="0"/>
          </a:p>
        </p:txBody>
      </p:sp>
      <p:sp>
        <p:nvSpPr>
          <p:cNvPr id="12" name="Text 10"/>
          <p:cNvSpPr txBox="1"/>
          <p:nvPr/>
        </p:nvSpPr>
        <p:spPr>
          <a:xfrm>
            <a:off x="4587240" y="3127248"/>
            <a:ext cx="2987040" cy="6400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26</a:t>
            </a:r>
            <a:endParaRPr lang="en-US" sz="4000" dirty="0"/>
          </a:p>
        </p:txBody>
      </p:sp>
      <p:sp>
        <p:nvSpPr>
          <p:cNvPr id="13" name="Text 11"/>
          <p:cNvSpPr txBox="1"/>
          <p:nvPr/>
        </p:nvSpPr>
        <p:spPr>
          <a:xfrm>
            <a:off x="4587240" y="3767328"/>
            <a:ext cx="2987040" cy="320040"/>
          </a:xfrm>
          <a:prstGeom prst="rect">
            <a:avLst/>
          </a:prstGeom>
          <a:noFill/>
          <a:ln/>
        </p:spPr>
        <p:txBody>
          <a:bodyPr wrap="square" lIns="0" tIns="0" rIns="0" bIns="0" rtlCol="0" anchor="ctr"/>
          <a:lstStyle/>
          <a:p>
            <a:pPr indent="0" marL="0">
              <a:buNone/>
            </a:pPr>
            <a:r>
              <a:rPr lang="en-US" sz="1100" dirty="0">
                <a:solidFill>
                  <a:srgbClr val="7C93AE"/>
                </a:solidFill>
                <a:latin typeface="Calibri" pitchFamily="34" charset="0"/>
                <a:ea typeface="Calibri" pitchFamily="34" charset="-122"/>
                <a:cs typeface="Calibri" pitchFamily="34" charset="-120"/>
              </a:rPr>
              <a:t>would-enter cycles of 52</a:t>
            </a:r>
            <a:endParaRPr lang="en-US" sz="1100" dirty="0"/>
          </a:p>
        </p:txBody>
      </p:sp>
      <p:sp>
        <p:nvSpPr>
          <p:cNvPr id="14" name="Text 12"/>
          <p:cNvSpPr txBox="1"/>
          <p:nvPr/>
        </p:nvSpPr>
        <p:spPr>
          <a:xfrm>
            <a:off x="6477000" y="2331720"/>
            <a:ext cx="1097280" cy="274320"/>
          </a:xfrm>
          <a:prstGeom prst="rect">
            <a:avLst/>
          </a:prstGeom>
          <a:noFill/>
          <a:ln/>
        </p:spPr>
        <p:txBody>
          <a:bodyPr wrap="square" lIns="0" tIns="0" rIns="0" bIns="0" rtlCol="0" anchor="ctr"/>
          <a:lstStyle/>
          <a:p>
            <a:pPr algn="r" indent="0" marL="0">
              <a:buNone/>
            </a:pPr>
            <a:r>
              <a:rPr lang="en-US" sz="1000" b="1" dirty="0">
                <a:solidFill>
                  <a:srgbClr val="E8B54A"/>
                </a:solidFill>
                <a:latin typeface="Calibri" pitchFamily="34" charset="0"/>
                <a:ea typeface="Calibri" pitchFamily="34" charset="-122"/>
                <a:cs typeface="Calibri" pitchFamily="34" charset="-120"/>
              </a:rPr>
              <a:t>DEPLOYED</a:t>
            </a:r>
            <a:endParaRPr lang="en-US" sz="1000" dirty="0"/>
          </a:p>
        </p:txBody>
      </p:sp>
      <p:sp>
        <p:nvSpPr>
          <p:cNvPr id="15" name="Shape 13"/>
          <p:cNvSpPr/>
          <p:nvPr/>
        </p:nvSpPr>
        <p:spPr>
          <a:xfrm>
            <a:off x="8077200" y="2103120"/>
            <a:ext cx="3444240" cy="2148840"/>
          </a:xfrm>
          <a:prstGeom prst="roundRect">
            <a:avLst>
              <a:gd name="adj" fmla="val 4255"/>
            </a:avLst>
          </a:prstGeom>
          <a:solidFill>
            <a:srgbClr val="16283D"/>
          </a:solidFill>
          <a:ln w="12700">
            <a:solidFill>
              <a:srgbClr val="1E3550"/>
            </a:solidFill>
            <a:prstDash val="solid"/>
          </a:ln>
        </p:spPr>
      </p:sp>
      <p:sp>
        <p:nvSpPr>
          <p:cNvPr id="16" name="Text 14"/>
          <p:cNvSpPr txBox="1"/>
          <p:nvPr/>
        </p:nvSpPr>
        <p:spPr>
          <a:xfrm>
            <a:off x="8305800" y="2286000"/>
            <a:ext cx="298704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T7</a:t>
            </a:r>
            <a:endParaRPr lang="en-US" sz="2600" dirty="0"/>
          </a:p>
        </p:txBody>
      </p:sp>
      <p:sp>
        <p:nvSpPr>
          <p:cNvPr id="17" name="Text 15"/>
          <p:cNvSpPr txBox="1"/>
          <p:nvPr/>
        </p:nvSpPr>
        <p:spPr>
          <a:xfrm>
            <a:off x="8305800" y="2743200"/>
            <a:ext cx="2987040" cy="32004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5 to 10 DTE</a:t>
            </a:r>
            <a:endParaRPr lang="en-US" sz="1200" dirty="0"/>
          </a:p>
        </p:txBody>
      </p:sp>
      <p:sp>
        <p:nvSpPr>
          <p:cNvPr id="18" name="Text 16"/>
          <p:cNvSpPr txBox="1"/>
          <p:nvPr/>
        </p:nvSpPr>
        <p:spPr>
          <a:xfrm>
            <a:off x="8305800" y="3127248"/>
            <a:ext cx="2987040" cy="640080"/>
          </a:xfrm>
          <a:prstGeom prst="rect">
            <a:avLst/>
          </a:prstGeom>
          <a:noFill/>
          <a:ln/>
        </p:spPr>
        <p:txBody>
          <a:bodyPr wrap="square" lIns="0" tIns="0" rIns="0" bIns="0" rtlCol="0" anchor="ctr"/>
          <a:lstStyle/>
          <a:p>
            <a:pPr indent="0" marL="0">
              <a:buNone/>
            </a:pPr>
            <a:r>
              <a:rPr lang="en-US" sz="4000" b="1" dirty="0">
                <a:solidFill>
                  <a:srgbClr val="7C93AE"/>
                </a:solidFill>
                <a:latin typeface="Cambria" pitchFamily="34" charset="0"/>
                <a:ea typeface="Cambria" pitchFamily="34" charset="-122"/>
                <a:cs typeface="Cambria" pitchFamily="34" charset="-120"/>
              </a:rPr>
              <a:t>13</a:t>
            </a:r>
            <a:endParaRPr lang="en-US" sz="4000" dirty="0"/>
          </a:p>
        </p:txBody>
      </p:sp>
      <p:sp>
        <p:nvSpPr>
          <p:cNvPr id="19" name="Text 17"/>
          <p:cNvSpPr txBox="1"/>
          <p:nvPr/>
        </p:nvSpPr>
        <p:spPr>
          <a:xfrm>
            <a:off x="8305800" y="3767328"/>
            <a:ext cx="2987040" cy="320040"/>
          </a:xfrm>
          <a:prstGeom prst="rect">
            <a:avLst/>
          </a:prstGeom>
          <a:noFill/>
          <a:ln/>
        </p:spPr>
        <p:txBody>
          <a:bodyPr wrap="square" lIns="0" tIns="0" rIns="0" bIns="0" rtlCol="0" anchor="ctr"/>
          <a:lstStyle/>
          <a:p>
            <a:pPr indent="0" marL="0">
              <a:buNone/>
            </a:pPr>
            <a:r>
              <a:rPr lang="en-US" sz="1100" dirty="0">
                <a:solidFill>
                  <a:srgbClr val="7C93AE"/>
                </a:solidFill>
                <a:latin typeface="Calibri" pitchFamily="34" charset="0"/>
                <a:ea typeface="Calibri" pitchFamily="34" charset="-122"/>
                <a:cs typeface="Calibri" pitchFamily="34" charset="-120"/>
              </a:rPr>
              <a:t>would-enter cycles of 51</a:t>
            </a:r>
            <a:endParaRPr lang="en-US" sz="1100" dirty="0"/>
          </a:p>
        </p:txBody>
      </p:sp>
      <p:sp>
        <p:nvSpPr>
          <p:cNvPr id="20" name="Text 18"/>
          <p:cNvSpPr txBox="1"/>
          <p:nvPr/>
        </p:nvSpPr>
        <p:spPr>
          <a:xfrm>
            <a:off x="640080" y="4526280"/>
            <a:ext cx="10881360" cy="731520"/>
          </a:xfrm>
          <a:prstGeom prst="rect">
            <a:avLst/>
          </a:prstGeom>
          <a:noFill/>
          <a:ln/>
        </p:spPr>
        <p:txBody>
          <a:bodyPr wrap="square" lIns="0" tIns="0" rIns="0" bIns="0" rtlCol="0" anchor="ctr"/>
          <a:lstStyle/>
          <a:p>
            <a:pPr indent="0" marL="0">
              <a:lnSpc>
                <a:spcPct val="120000"/>
              </a:lnSpc>
              <a:buNone/>
            </a:pPr>
            <a:r>
              <a:rPr lang="en-US" sz="1400" dirty="0">
                <a:solidFill>
                  <a:srgbClr val="C9DAF0"/>
                </a:solidFill>
                <a:latin typeface="Calibri" pitchFamily="34" charset="0"/>
                <a:ea typeface="Calibri" pitchFamily="34" charset="-122"/>
                <a:cs typeface="Calibri" pitchFamily="34" charset="-120"/>
              </a:rPr>
              <a:t>The backtest preferred one tenor. Eight days of live paper comparison preferred another, and the live evidence won. </a:t>
            </a:r>
            <a:pPr indent="0" marL="0">
              <a:lnSpc>
                <a:spcPct val="120000"/>
              </a:lnSpc>
              <a:buNone/>
            </a:pPr>
            <a:r>
              <a:rPr lang="en-US" sz="1400" b="1" dirty="0">
                <a:solidFill>
                  <a:srgbClr val="FFFFFF"/>
                </a:solidFill>
                <a:latin typeface="Calibri" pitchFamily="34" charset="0"/>
                <a:ea typeface="Calibri" pitchFamily="34" charset="-122"/>
                <a:cs typeface="Calibri" pitchFamily="34" charset="-120"/>
              </a:rPr>
              <a:t>The cost of switching is written down in the same file as the decision.</a:t>
            </a:r>
            <a:endParaRPr lang="en-US" sz="1400" dirty="0"/>
          </a:p>
        </p:txBody>
      </p:sp>
      <p:sp>
        <p:nvSpPr>
          <p:cNvPr id="21" name="Text 19"/>
          <p:cNvSpPr txBox="1"/>
          <p:nvPr/>
        </p:nvSpPr>
        <p:spPr>
          <a:xfrm>
            <a:off x="640080" y="5257800"/>
            <a:ext cx="10881360" cy="365760"/>
          </a:xfrm>
          <a:prstGeom prst="rect">
            <a:avLst/>
          </a:prstGeom>
          <a:noFill/>
          <a:ln/>
        </p:spPr>
        <p:txBody>
          <a:bodyPr wrap="square" lIns="0" tIns="0" rIns="0" bIns="0" rtlCol="0" anchor="ctr"/>
          <a:lstStyle/>
          <a:p>
            <a:pPr indent="0" marL="0">
              <a:buNone/>
            </a:pPr>
            <a:r>
              <a:rPr lang="en-US" sz="1200" dirty="0">
                <a:solidFill>
                  <a:srgbClr val="7C93AE"/>
                </a:solidFill>
                <a:latin typeface="Calibri" pitchFamily="34" charset="0"/>
                <a:ea typeface="Calibri" pitchFamily="34" charset="-122"/>
                <a:cs typeface="Calibri" pitchFamily="34" charset="-120"/>
              </a:rPr>
              <a:t>Every shadow cycle is a real decision on real prices. None of them ever sends an order.</a:t>
            </a:r>
            <a:endParaRPr lang="en-US" sz="1200" dirty="0"/>
          </a:p>
        </p:txBody>
      </p:sp>
      <p:sp>
        <p:nvSpPr>
          <p:cNvPr id="22" name="Text 20"/>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3" name="Text 21"/>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Built on Alpaca, and provably so</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Every runtime decision goes through the MCP server. The CLI reads the account back from a different surface.</a:t>
            </a:r>
            <a:endParaRPr lang="en-US" sz="1500" dirty="0"/>
          </a:p>
        </p:txBody>
      </p:sp>
      <p:sp>
        <p:nvSpPr>
          <p:cNvPr id="4" name="Shape 2"/>
          <p:cNvSpPr/>
          <p:nvPr/>
        </p:nvSpPr>
        <p:spPr>
          <a:xfrm>
            <a:off x="640080" y="2057400"/>
            <a:ext cx="5312664" cy="1828800"/>
          </a:xfrm>
          <a:prstGeom prst="roundRect">
            <a:avLst>
              <a:gd name="adj" fmla="val 4000"/>
            </a:avLst>
          </a:prstGeom>
          <a:solidFill>
            <a:srgbClr val="16283D"/>
          </a:solidFill>
          <a:ln w="12700">
            <a:solidFill>
              <a:srgbClr val="1E3550"/>
            </a:solidFill>
            <a:prstDash val="solid"/>
          </a:ln>
        </p:spPr>
      </p:sp>
      <p:sp>
        <p:nvSpPr>
          <p:cNvPr id="5" name="Text 3"/>
          <p:cNvSpPr txBox="1"/>
          <p:nvPr/>
        </p:nvSpPr>
        <p:spPr>
          <a:xfrm>
            <a:off x="859536" y="222199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MCP server, the execution path</a:t>
            </a:r>
            <a:endParaRPr lang="en-US" sz="1400" dirty="0"/>
          </a:p>
        </p:txBody>
      </p:sp>
      <p:sp>
        <p:nvSpPr>
          <p:cNvPr id="6" name="Text 4"/>
          <p:cNvSpPr txBox="1"/>
          <p:nvPr/>
        </p:nvSpPr>
        <p:spPr>
          <a:xfrm>
            <a:off x="859536" y="2569464"/>
            <a:ext cx="4873752" cy="113385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alpaca-mcp-server 2.3.0, JSON-RPC over stdio, 74 tools, all versions pinned after fastmcp 4.0.0 shipped mid-competition and broke the unpinned server at import.</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Every request and response is recorded inside the sealed artifact, failures included, and the dashboard shows the calls and latencies for the latest cycle.</a:t>
            </a:r>
            <a:endParaRPr lang="en-US" sz="1200" dirty="0"/>
          </a:p>
        </p:txBody>
      </p:sp>
      <p:sp>
        <p:nvSpPr>
          <p:cNvPr id="7" name="Shape 5"/>
          <p:cNvSpPr/>
          <p:nvPr/>
        </p:nvSpPr>
        <p:spPr>
          <a:xfrm>
            <a:off x="6208776" y="2057400"/>
            <a:ext cx="5312664" cy="1828800"/>
          </a:xfrm>
          <a:prstGeom prst="roundRect">
            <a:avLst>
              <a:gd name="adj" fmla="val 4000"/>
            </a:avLst>
          </a:prstGeom>
          <a:solidFill>
            <a:srgbClr val="16283D"/>
          </a:solidFill>
          <a:ln w="12700">
            <a:solidFill>
              <a:srgbClr val="1E3550"/>
            </a:solidFill>
            <a:prstDash val="solid"/>
          </a:ln>
        </p:spPr>
      </p:sp>
      <p:sp>
        <p:nvSpPr>
          <p:cNvPr id="8" name="Text 6"/>
          <p:cNvSpPr txBox="1"/>
          <p:nvPr/>
        </p:nvSpPr>
        <p:spPr>
          <a:xfrm>
            <a:off x="6428232" y="2221992"/>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CLI, the read-only second opinion</a:t>
            </a:r>
            <a:endParaRPr lang="en-US" sz="1400" dirty="0"/>
          </a:p>
        </p:txBody>
      </p:sp>
      <p:sp>
        <p:nvSpPr>
          <p:cNvPr id="9" name="Text 7"/>
          <p:cNvSpPr txBox="1"/>
          <p:nvPr/>
        </p:nvSpPr>
        <p:spPr>
          <a:xfrm>
            <a:off x="6428232" y="2569464"/>
            <a:ext cx="4873752" cy="113385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Alpaca's official CLI 0.0.14, behind an allowlist of read commands. order submit, position close-all and order cancel-all are refused before a process starts.</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Reading the account back through a different Alpaca surface than the one that wrote to it is a real check, not a box tick.</a:t>
            </a:r>
            <a:endParaRPr lang="en-US" sz="1200" dirty="0"/>
          </a:p>
        </p:txBody>
      </p:sp>
      <p:sp>
        <p:nvSpPr>
          <p:cNvPr id="10" name="Shape 8"/>
          <p:cNvSpPr/>
          <p:nvPr/>
        </p:nvSpPr>
        <p:spPr>
          <a:xfrm>
            <a:off x="640080" y="4114800"/>
            <a:ext cx="2555748" cy="1188720"/>
          </a:xfrm>
          <a:prstGeom prst="roundRect">
            <a:avLst>
              <a:gd name="adj" fmla="val 6154"/>
            </a:avLst>
          </a:prstGeom>
          <a:solidFill>
            <a:srgbClr val="16283D"/>
          </a:solidFill>
          <a:ln w="12700">
            <a:solidFill>
              <a:srgbClr val="1E3550"/>
            </a:solidFill>
            <a:prstDash val="solid"/>
          </a:ln>
        </p:spPr>
      </p:sp>
      <p:sp>
        <p:nvSpPr>
          <p:cNvPr id="11" name="Text 9"/>
          <p:cNvSpPr txBox="1"/>
          <p:nvPr/>
        </p:nvSpPr>
        <p:spPr>
          <a:xfrm>
            <a:off x="841248" y="4279392"/>
            <a:ext cx="2153412" cy="618134"/>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1.5%</a:t>
            </a:r>
            <a:endParaRPr lang="en-US" sz="3400" dirty="0"/>
          </a:p>
        </p:txBody>
      </p:sp>
      <p:sp>
        <p:nvSpPr>
          <p:cNvPr id="12" name="Text 10"/>
          <p:cNvSpPr txBox="1"/>
          <p:nvPr/>
        </p:nvSpPr>
        <p:spPr>
          <a:xfrm>
            <a:off x="841248" y="4851806"/>
            <a:ext cx="2153412" cy="404165"/>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round trip cost, laddered from mid</a:t>
            </a:r>
            <a:endParaRPr lang="en-US" sz="1100" dirty="0"/>
          </a:p>
        </p:txBody>
      </p:sp>
      <p:sp>
        <p:nvSpPr>
          <p:cNvPr id="13" name="Shape 11"/>
          <p:cNvSpPr/>
          <p:nvPr/>
        </p:nvSpPr>
        <p:spPr>
          <a:xfrm>
            <a:off x="3415284" y="4114800"/>
            <a:ext cx="2555748" cy="1188720"/>
          </a:xfrm>
          <a:prstGeom prst="roundRect">
            <a:avLst>
              <a:gd name="adj" fmla="val 6154"/>
            </a:avLst>
          </a:prstGeom>
          <a:solidFill>
            <a:srgbClr val="16283D"/>
          </a:solidFill>
          <a:ln w="12700">
            <a:solidFill>
              <a:srgbClr val="1E3550"/>
            </a:solidFill>
            <a:prstDash val="solid"/>
          </a:ln>
        </p:spPr>
      </p:sp>
      <p:sp>
        <p:nvSpPr>
          <p:cNvPr id="14" name="Text 12"/>
          <p:cNvSpPr txBox="1"/>
          <p:nvPr/>
        </p:nvSpPr>
        <p:spPr>
          <a:xfrm>
            <a:off x="3616452" y="4279392"/>
            <a:ext cx="2153412" cy="618134"/>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8.3%</a:t>
            </a:r>
            <a:endParaRPr lang="en-US" sz="3400" dirty="0"/>
          </a:p>
        </p:txBody>
      </p:sp>
      <p:sp>
        <p:nvSpPr>
          <p:cNvPr id="15" name="Text 13"/>
          <p:cNvSpPr txBox="1"/>
          <p:nvPr/>
        </p:nvSpPr>
        <p:spPr>
          <a:xfrm>
            <a:off x="3616452" y="4851806"/>
            <a:ext cx="2153412" cy="404165"/>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cost if it crossed the spread</a:t>
            </a:r>
            <a:endParaRPr lang="en-US" sz="1100" dirty="0"/>
          </a:p>
        </p:txBody>
      </p:sp>
      <p:sp>
        <p:nvSpPr>
          <p:cNvPr id="16" name="Shape 14"/>
          <p:cNvSpPr/>
          <p:nvPr/>
        </p:nvSpPr>
        <p:spPr>
          <a:xfrm>
            <a:off x="6190488" y="4114800"/>
            <a:ext cx="2555748" cy="1188720"/>
          </a:xfrm>
          <a:prstGeom prst="roundRect">
            <a:avLst>
              <a:gd name="adj" fmla="val 6154"/>
            </a:avLst>
          </a:prstGeom>
          <a:solidFill>
            <a:srgbClr val="16283D"/>
          </a:solidFill>
          <a:ln w="12700">
            <a:solidFill>
              <a:srgbClr val="1E3550"/>
            </a:solidFill>
            <a:prstDash val="solid"/>
          </a:ln>
        </p:spPr>
      </p:sp>
      <p:sp>
        <p:nvSpPr>
          <p:cNvPr id="17" name="Text 15"/>
          <p:cNvSpPr txBox="1"/>
          <p:nvPr/>
        </p:nvSpPr>
        <p:spPr>
          <a:xfrm>
            <a:off x="6391656" y="4279392"/>
            <a:ext cx="2153412" cy="618134"/>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5</a:t>
            </a:r>
            <a:endParaRPr lang="en-US" sz="3400" dirty="0"/>
          </a:p>
        </p:txBody>
      </p:sp>
      <p:sp>
        <p:nvSpPr>
          <p:cNvPr id="18" name="Text 16"/>
          <p:cNvSpPr txBox="1"/>
          <p:nvPr/>
        </p:nvSpPr>
        <p:spPr>
          <a:xfrm>
            <a:off x="6391656" y="4851806"/>
            <a:ext cx="2153412" cy="404165"/>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ladder rungs before it gives up</a:t>
            </a:r>
            <a:endParaRPr lang="en-US" sz="1100" dirty="0"/>
          </a:p>
        </p:txBody>
      </p:sp>
      <p:sp>
        <p:nvSpPr>
          <p:cNvPr id="19" name="Shape 17"/>
          <p:cNvSpPr/>
          <p:nvPr/>
        </p:nvSpPr>
        <p:spPr>
          <a:xfrm>
            <a:off x="8965692" y="4114800"/>
            <a:ext cx="2555748" cy="1188720"/>
          </a:xfrm>
          <a:prstGeom prst="roundRect">
            <a:avLst>
              <a:gd name="adj" fmla="val 6154"/>
            </a:avLst>
          </a:prstGeom>
          <a:solidFill>
            <a:srgbClr val="16283D"/>
          </a:solidFill>
          <a:ln w="12700">
            <a:solidFill>
              <a:srgbClr val="1E3550"/>
            </a:solidFill>
            <a:prstDash val="solid"/>
          </a:ln>
        </p:spPr>
      </p:sp>
      <p:sp>
        <p:nvSpPr>
          <p:cNvPr id="20" name="Text 18"/>
          <p:cNvSpPr txBox="1"/>
          <p:nvPr/>
        </p:nvSpPr>
        <p:spPr>
          <a:xfrm>
            <a:off x="9166860" y="4279392"/>
            <a:ext cx="2153412" cy="618134"/>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246 ms</a:t>
            </a:r>
            <a:endParaRPr lang="en-US" sz="3400" dirty="0"/>
          </a:p>
        </p:txBody>
      </p:sp>
      <p:sp>
        <p:nvSpPr>
          <p:cNvPr id="21" name="Text 19"/>
          <p:cNvSpPr txBox="1"/>
          <p:nvPr/>
        </p:nvSpPr>
        <p:spPr>
          <a:xfrm>
            <a:off x="9166860" y="4851806"/>
            <a:ext cx="2153412" cy="404165"/>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measured API round trip</a:t>
            </a:r>
            <a:endParaRPr lang="en-US" sz="1100" dirty="0"/>
          </a:p>
        </p:txBody>
      </p:sp>
      <p:sp>
        <p:nvSpPr>
          <p:cNvPr id="22" name="Text 20"/>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3" name="Text 21"/>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log caught its own author</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First live morning, 09:45 ET. This is the strongest evidence in the submission.</a:t>
            </a:r>
            <a:endParaRPr lang="en-US" sz="1500" dirty="0"/>
          </a:p>
        </p:txBody>
      </p:sp>
      <p:sp>
        <p:nvSpPr>
          <p:cNvPr id="4" name="Shape 2"/>
          <p:cNvSpPr/>
          <p:nvPr/>
        </p:nvSpPr>
        <p:spPr>
          <a:xfrm>
            <a:off x="640080" y="2011680"/>
            <a:ext cx="10881360" cy="1371600"/>
          </a:xfrm>
          <a:prstGeom prst="roundRect">
            <a:avLst>
              <a:gd name="adj" fmla="val 6667"/>
            </a:avLst>
          </a:prstGeom>
          <a:solidFill>
            <a:srgbClr val="16283D"/>
          </a:solidFill>
          <a:ln w="19050">
            <a:solidFill>
              <a:srgbClr val="E8B54A"/>
            </a:solidFill>
            <a:prstDash val="solid"/>
          </a:ln>
        </p:spPr>
      </p:sp>
      <p:sp>
        <p:nvSpPr>
          <p:cNvPr id="5" name="Text 3"/>
          <p:cNvSpPr txBox="1"/>
          <p:nvPr/>
        </p:nvSpPr>
        <p:spPr>
          <a:xfrm>
            <a:off x="914400" y="2194560"/>
            <a:ext cx="1033272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payload-parsing bug read the account as flat, so the agent opened four condors where it should have opened one.</a:t>
            </a:r>
            <a:endParaRPr lang="en-US" sz="1600" dirty="0"/>
          </a:p>
        </p:txBody>
      </p:sp>
      <p:sp>
        <p:nvSpPr>
          <p:cNvPr id="6" name="Text 4"/>
          <p:cNvSpPr txBox="1"/>
          <p:nvPr/>
        </p:nvSpPr>
        <p:spPr>
          <a:xfrm>
            <a:off x="914400" y="2670048"/>
            <a:ext cx="10332720" cy="640080"/>
          </a:xfrm>
          <a:prstGeom prst="rect">
            <a:avLst/>
          </a:prstGeom>
          <a:noFill/>
          <a:ln/>
        </p:spPr>
        <p:txBody>
          <a:bodyPr wrap="square" lIns="0" tIns="0" rIns="0" bIns="0" rtlCol="0" anchor="ctr"/>
          <a:lstStyle/>
          <a:p>
            <a:pPr indent="0" marL="0">
              <a:lnSpc>
                <a:spcPct val="115000"/>
              </a:lnSpc>
              <a:buNone/>
            </a:pPr>
            <a:r>
              <a:rPr lang="en-US" sz="1400" dirty="0">
                <a:solidFill>
                  <a:srgbClr val="C9DAF0"/>
                </a:solidFill>
                <a:latin typeface="Calibri" pitchFamily="34" charset="0"/>
                <a:ea typeface="Calibri" pitchFamily="34" charset="-122"/>
                <a:cs typeface="Calibri" pitchFamily="34" charset="-120"/>
              </a:rPr>
              <a:t>The proof was a single sealed artifact holding both the raw broker response, with the legs plainly in it, and the reconciliation that ignored them. The bug could not hide from the record it had just written.</a:t>
            </a:r>
            <a:endParaRPr lang="en-US" sz="1400" dirty="0"/>
          </a:p>
        </p:txBody>
      </p:sp>
      <p:sp>
        <p:nvSpPr>
          <p:cNvPr id="7" name="Shape 5"/>
          <p:cNvSpPr/>
          <p:nvPr/>
        </p:nvSpPr>
        <p:spPr>
          <a:xfrm>
            <a:off x="640080" y="3657600"/>
            <a:ext cx="2555748" cy="1143000"/>
          </a:xfrm>
          <a:prstGeom prst="roundRect">
            <a:avLst>
              <a:gd name="adj" fmla="val 6400"/>
            </a:avLst>
          </a:prstGeom>
          <a:solidFill>
            <a:srgbClr val="16283D"/>
          </a:solidFill>
          <a:ln w="12700">
            <a:solidFill>
              <a:srgbClr val="1E3550"/>
            </a:solidFill>
            <a:prstDash val="solid"/>
          </a:ln>
        </p:spPr>
      </p:sp>
      <p:sp>
        <p:nvSpPr>
          <p:cNvPr id="8" name="Text 6"/>
          <p:cNvSpPr txBox="1"/>
          <p:nvPr/>
        </p:nvSpPr>
        <p:spPr>
          <a:xfrm>
            <a:off x="841248" y="3794760"/>
            <a:ext cx="2153412" cy="320040"/>
          </a:xfrm>
          <a:prstGeom prst="rect">
            <a:avLst/>
          </a:prstGeom>
          <a:noFill/>
          <a:ln/>
        </p:spPr>
        <p:txBody>
          <a:bodyPr wrap="square" lIns="0" tIns="0" rIns="0" bIns="0" rtlCol="0" anchor="ctr"/>
          <a:lstStyle/>
          <a:p>
            <a:pPr indent="0" marL="0">
              <a:buNone/>
            </a:pPr>
            <a:r>
              <a:rPr lang="en-US" sz="1800" b="1" dirty="0">
                <a:solidFill>
                  <a:srgbClr val="E8B54A"/>
                </a:solidFill>
                <a:latin typeface="Cambria" pitchFamily="34" charset="0"/>
                <a:ea typeface="Cambria" pitchFamily="34" charset="-122"/>
                <a:cs typeface="Cambria" pitchFamily="34" charset="-120"/>
              </a:rPr>
              <a:t>Found</a:t>
            </a:r>
            <a:endParaRPr lang="en-US" sz="1800" dirty="0"/>
          </a:p>
        </p:txBody>
      </p:sp>
      <p:sp>
        <p:nvSpPr>
          <p:cNvPr id="9" name="Text 7"/>
          <p:cNvSpPr txBox="1"/>
          <p:nvPr/>
        </p:nvSpPr>
        <p:spPr>
          <a:xfrm>
            <a:off x="841248" y="4133088"/>
            <a:ext cx="2153412" cy="566928"/>
          </a:xfrm>
          <a:prstGeom prst="rect">
            <a:avLst/>
          </a:prstGeom>
          <a:noFill/>
          <a:ln/>
        </p:spPr>
        <p:txBody>
          <a:bodyPr wrap="square" lIns="0" tIns="0" rIns="0" bIns="0" rtlCol="0" anchor="ctr"/>
          <a:lstStyle/>
          <a:p>
            <a:pPr indent="0" marL="0">
              <a:buNone/>
            </a:pPr>
            <a:r>
              <a:rPr lang="en-US" sz="1100" dirty="0">
                <a:solidFill>
                  <a:srgbClr val="C9DAF0"/>
                </a:solidFill>
                <a:latin typeface="Calibri" pitchFamily="34" charset="0"/>
                <a:ea typeface="Calibri" pitchFamily="34" charset="-122"/>
                <a:cs typeface="Calibri" pitchFamily="34" charset="-120"/>
              </a:rPr>
              <a:t>in the artifact, not in a dashboard</a:t>
            </a:r>
            <a:endParaRPr lang="en-US" sz="1100" dirty="0"/>
          </a:p>
        </p:txBody>
      </p:sp>
      <p:sp>
        <p:nvSpPr>
          <p:cNvPr id="10" name="Shape 8"/>
          <p:cNvSpPr/>
          <p:nvPr/>
        </p:nvSpPr>
        <p:spPr>
          <a:xfrm>
            <a:off x="3415284" y="3657600"/>
            <a:ext cx="2555748" cy="1143000"/>
          </a:xfrm>
          <a:prstGeom prst="roundRect">
            <a:avLst>
              <a:gd name="adj" fmla="val 6400"/>
            </a:avLst>
          </a:prstGeom>
          <a:solidFill>
            <a:srgbClr val="16283D"/>
          </a:solidFill>
          <a:ln w="12700">
            <a:solidFill>
              <a:srgbClr val="1E3550"/>
            </a:solidFill>
            <a:prstDash val="solid"/>
          </a:ln>
        </p:spPr>
      </p:sp>
      <p:sp>
        <p:nvSpPr>
          <p:cNvPr id="11" name="Text 9"/>
          <p:cNvSpPr txBox="1"/>
          <p:nvPr/>
        </p:nvSpPr>
        <p:spPr>
          <a:xfrm>
            <a:off x="3616452" y="3794760"/>
            <a:ext cx="2153412" cy="320040"/>
          </a:xfrm>
          <a:prstGeom prst="rect">
            <a:avLst/>
          </a:prstGeom>
          <a:noFill/>
          <a:ln/>
        </p:spPr>
        <p:txBody>
          <a:bodyPr wrap="square" lIns="0" tIns="0" rIns="0" bIns="0" rtlCol="0" anchor="ctr"/>
          <a:lstStyle/>
          <a:p>
            <a:pPr indent="0" marL="0">
              <a:buNone/>
            </a:pPr>
            <a:r>
              <a:rPr lang="en-US" sz="1800" b="1" dirty="0">
                <a:solidFill>
                  <a:srgbClr val="E8B54A"/>
                </a:solidFill>
                <a:latin typeface="Cambria" pitchFamily="34" charset="0"/>
                <a:ea typeface="Cambria" pitchFamily="34" charset="-122"/>
                <a:cs typeface="Cambria" pitchFamily="34" charset="-120"/>
              </a:rPr>
              <a:t>Fixed</a:t>
            </a:r>
            <a:endParaRPr lang="en-US" sz="1800" dirty="0"/>
          </a:p>
        </p:txBody>
      </p:sp>
      <p:sp>
        <p:nvSpPr>
          <p:cNvPr id="12" name="Text 10"/>
          <p:cNvSpPr txBox="1"/>
          <p:nvPr/>
        </p:nvSpPr>
        <p:spPr>
          <a:xfrm>
            <a:off x="3616452" y="4133088"/>
            <a:ext cx="2153412" cy="566928"/>
          </a:xfrm>
          <a:prstGeom prst="rect">
            <a:avLst/>
          </a:prstGeom>
          <a:noFill/>
          <a:ln/>
        </p:spPr>
        <p:txBody>
          <a:bodyPr wrap="square" lIns="0" tIns="0" rIns="0" bIns="0" rtlCol="0" anchor="ctr"/>
          <a:lstStyle/>
          <a:p>
            <a:pPr indent="0" marL="0">
              <a:buNone/>
            </a:pPr>
            <a:r>
              <a:rPr lang="en-US" sz="1100" dirty="0">
                <a:solidFill>
                  <a:srgbClr val="C9DAF0"/>
                </a:solidFill>
                <a:latin typeface="Calibri" pitchFamily="34" charset="0"/>
                <a:ea typeface="Calibri" pitchFamily="34" charset="-122"/>
                <a:cs typeface="Calibri" pitchFamily="34" charset="-120"/>
              </a:rPr>
              <a:t>reconciliation now reads both shapes</a:t>
            </a:r>
            <a:endParaRPr lang="en-US" sz="1100" dirty="0"/>
          </a:p>
        </p:txBody>
      </p:sp>
      <p:sp>
        <p:nvSpPr>
          <p:cNvPr id="13" name="Shape 11"/>
          <p:cNvSpPr/>
          <p:nvPr/>
        </p:nvSpPr>
        <p:spPr>
          <a:xfrm>
            <a:off x="6190488" y="3657600"/>
            <a:ext cx="2555748" cy="1143000"/>
          </a:xfrm>
          <a:prstGeom prst="roundRect">
            <a:avLst>
              <a:gd name="adj" fmla="val 6400"/>
            </a:avLst>
          </a:prstGeom>
          <a:solidFill>
            <a:srgbClr val="16283D"/>
          </a:solidFill>
          <a:ln w="12700">
            <a:solidFill>
              <a:srgbClr val="1E3550"/>
            </a:solidFill>
            <a:prstDash val="solid"/>
          </a:ln>
        </p:spPr>
      </p:sp>
      <p:sp>
        <p:nvSpPr>
          <p:cNvPr id="14" name="Text 12"/>
          <p:cNvSpPr txBox="1"/>
          <p:nvPr/>
        </p:nvSpPr>
        <p:spPr>
          <a:xfrm>
            <a:off x="6391656" y="3794760"/>
            <a:ext cx="2153412" cy="320040"/>
          </a:xfrm>
          <a:prstGeom prst="rect">
            <a:avLst/>
          </a:prstGeom>
          <a:noFill/>
          <a:ln/>
        </p:spPr>
        <p:txBody>
          <a:bodyPr wrap="square" lIns="0" tIns="0" rIns="0" bIns="0" rtlCol="0" anchor="ctr"/>
          <a:lstStyle/>
          <a:p>
            <a:pPr indent="0" marL="0">
              <a:buNone/>
            </a:pPr>
            <a:r>
              <a:rPr lang="en-US" sz="1800" b="1" dirty="0">
                <a:solidFill>
                  <a:srgbClr val="E8B54A"/>
                </a:solidFill>
                <a:latin typeface="Cambria" pitchFamily="34" charset="0"/>
                <a:ea typeface="Cambria" pitchFamily="34" charset="-122"/>
                <a:cs typeface="Cambria" pitchFamily="34" charset="-120"/>
              </a:rPr>
              <a:t>Tested</a:t>
            </a:r>
            <a:endParaRPr lang="en-US" sz="1800" dirty="0"/>
          </a:p>
        </p:txBody>
      </p:sp>
      <p:sp>
        <p:nvSpPr>
          <p:cNvPr id="15" name="Text 13"/>
          <p:cNvSpPr txBox="1"/>
          <p:nvPr/>
        </p:nvSpPr>
        <p:spPr>
          <a:xfrm>
            <a:off x="6391656" y="4133088"/>
            <a:ext cx="2153412" cy="566928"/>
          </a:xfrm>
          <a:prstGeom prst="rect">
            <a:avLst/>
          </a:prstGeom>
          <a:noFill/>
          <a:ln/>
        </p:spPr>
        <p:txBody>
          <a:bodyPr wrap="square" lIns="0" tIns="0" rIns="0" bIns="0" rtlCol="0" anchor="ctr"/>
          <a:lstStyle/>
          <a:p>
            <a:pPr indent="0" marL="0">
              <a:buNone/>
            </a:pPr>
            <a:r>
              <a:rPr lang="en-US" sz="1100" dirty="0">
                <a:solidFill>
                  <a:srgbClr val="C9DAF0"/>
                </a:solidFill>
                <a:latin typeface="Calibri" pitchFamily="34" charset="0"/>
                <a:ea typeface="Calibri" pitchFamily="34" charset="-122"/>
                <a:cs typeface="Calibri" pitchFamily="34" charset="-120"/>
              </a:rPr>
              <a:t>a regression test for that exact payload</a:t>
            </a:r>
            <a:endParaRPr lang="en-US" sz="1100" dirty="0"/>
          </a:p>
        </p:txBody>
      </p:sp>
      <p:sp>
        <p:nvSpPr>
          <p:cNvPr id="16" name="Shape 14"/>
          <p:cNvSpPr/>
          <p:nvPr/>
        </p:nvSpPr>
        <p:spPr>
          <a:xfrm>
            <a:off x="8965692" y="3657600"/>
            <a:ext cx="2555748" cy="1143000"/>
          </a:xfrm>
          <a:prstGeom prst="roundRect">
            <a:avLst>
              <a:gd name="adj" fmla="val 6400"/>
            </a:avLst>
          </a:prstGeom>
          <a:solidFill>
            <a:srgbClr val="16283D"/>
          </a:solidFill>
          <a:ln w="12700">
            <a:solidFill>
              <a:srgbClr val="1E3550"/>
            </a:solidFill>
            <a:prstDash val="solid"/>
          </a:ln>
        </p:spPr>
      </p:sp>
      <p:sp>
        <p:nvSpPr>
          <p:cNvPr id="17" name="Text 15"/>
          <p:cNvSpPr txBox="1"/>
          <p:nvPr/>
        </p:nvSpPr>
        <p:spPr>
          <a:xfrm>
            <a:off x="9166860" y="3794760"/>
            <a:ext cx="2153412" cy="320040"/>
          </a:xfrm>
          <a:prstGeom prst="rect">
            <a:avLst/>
          </a:prstGeom>
          <a:noFill/>
          <a:ln/>
        </p:spPr>
        <p:txBody>
          <a:bodyPr wrap="square" lIns="0" tIns="0" rIns="0" bIns="0" rtlCol="0" anchor="ctr"/>
          <a:lstStyle/>
          <a:p>
            <a:pPr indent="0" marL="0">
              <a:buNone/>
            </a:pPr>
            <a:r>
              <a:rPr lang="en-US" sz="1800" b="1" dirty="0">
                <a:solidFill>
                  <a:srgbClr val="E8B54A"/>
                </a:solidFill>
                <a:latin typeface="Cambria" pitchFamily="34" charset="0"/>
                <a:ea typeface="Cambria" pitchFamily="34" charset="-122"/>
                <a:cs typeface="Cambria" pitchFamily="34" charset="-120"/>
              </a:rPr>
              <a:t>Kept</a:t>
            </a:r>
            <a:endParaRPr lang="en-US" sz="1800" dirty="0"/>
          </a:p>
        </p:txBody>
      </p:sp>
      <p:sp>
        <p:nvSpPr>
          <p:cNvPr id="18" name="Text 16"/>
          <p:cNvSpPr txBox="1"/>
          <p:nvPr/>
        </p:nvSpPr>
        <p:spPr>
          <a:xfrm>
            <a:off x="9166860" y="4133088"/>
            <a:ext cx="2153412" cy="566928"/>
          </a:xfrm>
          <a:prstGeom prst="rect">
            <a:avLst/>
          </a:prstGeom>
          <a:noFill/>
          <a:ln/>
        </p:spPr>
        <p:txBody>
          <a:bodyPr wrap="square" lIns="0" tIns="0" rIns="0" bIns="0" rtlCol="0" anchor="ctr"/>
          <a:lstStyle/>
          <a:p>
            <a:pPr indent="0" marL="0">
              <a:buNone/>
            </a:pPr>
            <a:r>
              <a:rPr lang="en-US" sz="1100" dirty="0">
                <a:solidFill>
                  <a:srgbClr val="C9DAF0"/>
                </a:solidFill>
                <a:latin typeface="Calibri" pitchFamily="34" charset="0"/>
                <a:ea typeface="Calibri" pitchFamily="34" charset="-122"/>
                <a:cs typeface="Calibri" pitchFamily="34" charset="-120"/>
              </a:rPr>
              <a:t>positions adopted, incident written up</a:t>
            </a:r>
            <a:endParaRPr lang="en-US" sz="1100" dirty="0"/>
          </a:p>
        </p:txBody>
      </p:sp>
      <p:sp>
        <p:nvSpPr>
          <p:cNvPr id="19" name="Text 17"/>
          <p:cNvSpPr txBox="1"/>
          <p:nvPr/>
        </p:nvSpPr>
        <p:spPr>
          <a:xfrm>
            <a:off x="640080" y="4983480"/>
            <a:ext cx="10881360" cy="365760"/>
          </a:xfrm>
          <a:prstGeom prst="rect">
            <a:avLst/>
          </a:prstGeom>
          <a:noFill/>
          <a:ln/>
        </p:spPr>
        <p:txBody>
          <a:bodyPr wrap="square" lIns="0" tIns="0" rIns="0" bIns="0" rtlCol="0" anchor="ctr"/>
          <a:lstStyle/>
          <a:p>
            <a:pPr indent="0" marL="0">
              <a:buNone/>
            </a:pPr>
            <a:r>
              <a:rPr lang="en-US" sz="1200" dirty="0">
                <a:solidFill>
                  <a:srgbClr val="7C93AE"/>
                </a:solidFill>
                <a:latin typeface="Calibri" pitchFamily="34" charset="0"/>
                <a:ea typeface="Calibri" pitchFamily="34" charset="-122"/>
                <a:cs typeface="Calibri" pitchFamily="34" charset="-120"/>
              </a:rPr>
              <a:t>RISK_REGISTER.md sections 4.7 and 4.8 name the exact artifact. Nothing was quietly deleted, because the seal would have shown it.</a:t>
            </a:r>
            <a:endParaRPr lang="en-US" sz="1200" dirty="0"/>
          </a:p>
        </p:txBody>
      </p:sp>
      <p:sp>
        <p:nvSpPr>
          <p:cNvPr id="20" name="Text 18"/>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1" name="Text 19"/>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model explains. The numbers decide.</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This is an AI agents hackathon, so the honest question is where the model sits. Ours sits after the decision.</a:t>
            </a:r>
            <a:endParaRPr lang="en-US" sz="1500" dirty="0"/>
          </a:p>
        </p:txBody>
      </p:sp>
      <p:sp>
        <p:nvSpPr>
          <p:cNvPr id="4" name="Shape 2"/>
          <p:cNvSpPr/>
          <p:nvPr/>
        </p:nvSpPr>
        <p:spPr>
          <a:xfrm>
            <a:off x="640080" y="2057400"/>
            <a:ext cx="5303520" cy="1920240"/>
          </a:xfrm>
          <a:prstGeom prst="roundRect">
            <a:avLst>
              <a:gd name="adj" fmla="val 3810"/>
            </a:avLst>
          </a:prstGeom>
          <a:solidFill>
            <a:srgbClr val="16283D"/>
          </a:solidFill>
          <a:ln w="12700">
            <a:solidFill>
              <a:srgbClr val="1E3550"/>
            </a:solidFill>
            <a:prstDash val="solid"/>
          </a:ln>
        </p:spPr>
      </p:sp>
      <p:sp>
        <p:nvSpPr>
          <p:cNvPr id="5" name="Text 3"/>
          <p:cNvSpPr txBox="1"/>
          <p:nvPr/>
        </p:nvSpPr>
        <p:spPr>
          <a:xfrm>
            <a:off x="859536" y="2221992"/>
            <a:ext cx="4864608"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What it does</a:t>
            </a:r>
            <a:endParaRPr lang="en-US" sz="1400" dirty="0"/>
          </a:p>
        </p:txBody>
      </p:sp>
      <p:sp>
        <p:nvSpPr>
          <p:cNvPr id="6" name="Text 4"/>
          <p:cNvSpPr txBox="1"/>
          <p:nvPr/>
        </p:nvSpPr>
        <p:spPr>
          <a:xfrm>
            <a:off x="859536" y="2569464"/>
            <a:ext cx="4864608" cy="12252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After a decision is sealed, Qwen 2.5 72B on Featherless reads that artifact and writes three plain sentences a judge can understand.</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It runs outside the trading loop, on a schedule. Nothing it produces flows back into the agent. The decision existed, and was sealed, before the text did.</a:t>
            </a:r>
            <a:endParaRPr lang="en-US" sz="1200" dirty="0"/>
          </a:p>
        </p:txBody>
      </p:sp>
      <p:sp>
        <p:nvSpPr>
          <p:cNvPr id="7" name="Shape 5"/>
          <p:cNvSpPr/>
          <p:nvPr/>
        </p:nvSpPr>
        <p:spPr>
          <a:xfrm>
            <a:off x="6217920" y="2057400"/>
            <a:ext cx="5303520" cy="1920240"/>
          </a:xfrm>
          <a:prstGeom prst="roundRect">
            <a:avLst>
              <a:gd name="adj" fmla="val 3810"/>
            </a:avLst>
          </a:prstGeom>
          <a:solidFill>
            <a:srgbClr val="16283D"/>
          </a:solidFill>
          <a:ln w="12700">
            <a:solidFill>
              <a:srgbClr val="1E3550"/>
            </a:solidFill>
            <a:prstDash val="solid"/>
          </a:ln>
        </p:spPr>
      </p:sp>
      <p:sp>
        <p:nvSpPr>
          <p:cNvPr id="8" name="Text 6"/>
          <p:cNvSpPr txBox="1"/>
          <p:nvPr/>
        </p:nvSpPr>
        <p:spPr>
          <a:xfrm>
            <a:off x="6437376" y="2221992"/>
            <a:ext cx="4864608"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Why you can believe it</a:t>
            </a:r>
            <a:endParaRPr lang="en-US" sz="1400" dirty="0"/>
          </a:p>
        </p:txBody>
      </p:sp>
      <p:sp>
        <p:nvSpPr>
          <p:cNvPr id="9" name="Text 7"/>
          <p:cNvSpPr txBox="1"/>
          <p:nvPr/>
        </p:nvSpPr>
        <p:spPr>
          <a:xfrm>
            <a:off x="6437376" y="2569464"/>
            <a:ext cx="4864608" cy="122529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Every number in the generated text is checked against the artifact it came from, digit for digit. An explanation that invents or alters a number is rejected and counted, not quietly shown.</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 hallucinated sentence under a sealed decision would be worse than no sentence at all.</a:t>
            </a:r>
            <a:endParaRPr lang="en-US" sz="1200" dirty="0"/>
          </a:p>
        </p:txBody>
      </p:sp>
      <p:sp>
        <p:nvSpPr>
          <p:cNvPr id="10" name="Shape 8"/>
          <p:cNvSpPr/>
          <p:nvPr/>
        </p:nvSpPr>
        <p:spPr>
          <a:xfrm>
            <a:off x="640080" y="4206240"/>
            <a:ext cx="3456432" cy="1234440"/>
          </a:xfrm>
          <a:prstGeom prst="roundRect">
            <a:avLst>
              <a:gd name="adj" fmla="val 5926"/>
            </a:avLst>
          </a:prstGeom>
          <a:solidFill>
            <a:srgbClr val="16283D"/>
          </a:solidFill>
          <a:ln w="12700">
            <a:solidFill>
              <a:srgbClr val="1E3550"/>
            </a:solidFill>
            <a:prstDash val="solid"/>
          </a:ln>
        </p:spPr>
      </p:sp>
      <p:sp>
        <p:nvSpPr>
          <p:cNvPr id="11" name="Text 9"/>
          <p:cNvSpPr txBox="1"/>
          <p:nvPr/>
        </p:nvSpPr>
        <p:spPr>
          <a:xfrm>
            <a:off x="841248" y="4370832"/>
            <a:ext cx="3054096" cy="641909"/>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238</a:t>
            </a:r>
            <a:endParaRPr lang="en-US" sz="3400" dirty="0"/>
          </a:p>
        </p:txBody>
      </p:sp>
      <p:sp>
        <p:nvSpPr>
          <p:cNvPr id="12" name="Text 10"/>
          <p:cNvSpPr txBox="1"/>
          <p:nvPr/>
        </p:nvSpPr>
        <p:spPr>
          <a:xfrm>
            <a:off x="841248" y="4971593"/>
            <a:ext cx="3054096"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decisions explained</a:t>
            </a:r>
            <a:endParaRPr lang="en-US" sz="1100" dirty="0"/>
          </a:p>
        </p:txBody>
      </p:sp>
      <p:sp>
        <p:nvSpPr>
          <p:cNvPr id="13" name="Shape 11"/>
          <p:cNvSpPr/>
          <p:nvPr/>
        </p:nvSpPr>
        <p:spPr>
          <a:xfrm>
            <a:off x="4352544" y="4206240"/>
            <a:ext cx="3456432" cy="1234440"/>
          </a:xfrm>
          <a:prstGeom prst="roundRect">
            <a:avLst>
              <a:gd name="adj" fmla="val 5926"/>
            </a:avLst>
          </a:prstGeom>
          <a:solidFill>
            <a:srgbClr val="16283D"/>
          </a:solidFill>
          <a:ln w="12700">
            <a:solidFill>
              <a:srgbClr val="1E3550"/>
            </a:solidFill>
            <a:prstDash val="solid"/>
          </a:ln>
        </p:spPr>
      </p:sp>
      <p:sp>
        <p:nvSpPr>
          <p:cNvPr id="14" name="Text 12"/>
          <p:cNvSpPr txBox="1"/>
          <p:nvPr/>
        </p:nvSpPr>
        <p:spPr>
          <a:xfrm>
            <a:off x="4553712" y="4370832"/>
            <a:ext cx="3054096" cy="641909"/>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4553712" y="4971593"/>
            <a:ext cx="3054096"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rejected by the grounding check</a:t>
            </a:r>
            <a:endParaRPr lang="en-US" sz="1100" dirty="0"/>
          </a:p>
        </p:txBody>
      </p:sp>
      <p:sp>
        <p:nvSpPr>
          <p:cNvPr id="16" name="Shape 14"/>
          <p:cNvSpPr/>
          <p:nvPr/>
        </p:nvSpPr>
        <p:spPr>
          <a:xfrm>
            <a:off x="8065008" y="4206240"/>
            <a:ext cx="3456432" cy="1234440"/>
          </a:xfrm>
          <a:prstGeom prst="roundRect">
            <a:avLst>
              <a:gd name="adj" fmla="val 5926"/>
            </a:avLst>
          </a:prstGeom>
          <a:solidFill>
            <a:srgbClr val="16283D"/>
          </a:solidFill>
          <a:ln w="12700">
            <a:solidFill>
              <a:srgbClr val="1E3550"/>
            </a:solidFill>
            <a:prstDash val="solid"/>
          </a:ln>
        </p:spPr>
      </p:sp>
      <p:sp>
        <p:nvSpPr>
          <p:cNvPr id="17" name="Text 15"/>
          <p:cNvSpPr txBox="1"/>
          <p:nvPr/>
        </p:nvSpPr>
        <p:spPr>
          <a:xfrm>
            <a:off x="8266176" y="4370832"/>
            <a:ext cx="3054096" cy="641909"/>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8" name="Text 16"/>
          <p:cNvSpPr txBox="1"/>
          <p:nvPr/>
        </p:nvSpPr>
        <p:spPr>
          <a:xfrm>
            <a:off x="8266176" y="4971593"/>
            <a:ext cx="3054096" cy="419710"/>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model decisions to trade</a:t>
            </a:r>
            <a:endParaRPr lang="en-US" sz="1100" dirty="0"/>
          </a:p>
        </p:txBody>
      </p:sp>
      <p:sp>
        <p:nvSpPr>
          <p:cNvPr id="19" name="Text 17"/>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0" name="Text 18"/>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Try to tamper with it</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The verification is not a claim on a slide. It is a button on the dashboard and a command in the repo.</a:t>
            </a:r>
            <a:endParaRPr lang="en-US" sz="1500" dirty="0"/>
          </a:p>
        </p:txBody>
      </p:sp>
      <p:sp>
        <p:nvSpPr>
          <p:cNvPr id="4" name="Shape 2"/>
          <p:cNvSpPr/>
          <p:nvPr/>
        </p:nvSpPr>
        <p:spPr>
          <a:xfrm>
            <a:off x="640080" y="2011680"/>
            <a:ext cx="10881360" cy="2331720"/>
          </a:xfrm>
          <a:prstGeom prst="roundRect">
            <a:avLst>
              <a:gd name="adj" fmla="val 3922"/>
            </a:avLst>
          </a:prstGeom>
          <a:solidFill>
            <a:srgbClr val="16283D"/>
          </a:solidFill>
          <a:ln w="12700">
            <a:solidFill>
              <a:srgbClr val="1E3550"/>
            </a:solidFill>
            <a:prstDash val="solid"/>
          </a:ln>
        </p:spPr>
      </p:sp>
      <p:sp>
        <p:nvSpPr>
          <p:cNvPr id="5" name="Text 3"/>
          <p:cNvSpPr txBox="1"/>
          <p:nvPr/>
        </p:nvSpPr>
        <p:spPr>
          <a:xfrm>
            <a:off x="960120" y="2212848"/>
            <a:ext cx="10241280" cy="1572768"/>
          </a:xfrm>
          <a:prstGeom prst="rect">
            <a:avLst/>
          </a:prstGeom>
          <a:noFill/>
          <a:ln/>
        </p:spPr>
        <p:txBody>
          <a:bodyPr wrap="square" lIns="0" tIns="0" rIns="0" bIns="0" rtlCol="0" anchor="ctr"/>
          <a:lstStyle/>
          <a:p>
            <a:pPr indent="0" marL="0">
              <a:lnSpc>
                <a:spcPct val="110000"/>
              </a:lnSpc>
              <a:buNone/>
            </a:pPr>
            <a:r>
              <a:rPr lang="en-US" sz="1300" dirty="0">
                <a:solidFill>
                  <a:srgbClr val="7C93AE"/>
                </a:solidFill>
                <a:latin typeface="Courier New" pitchFamily="34" charset="0"/>
                <a:ea typeface="Courier New" pitchFamily="34" charset="-122"/>
                <a:cs typeface="Courier New" pitchFamily="34" charset="-120"/>
              </a:rPr>
              <a:t>sealed root      </a:t>
            </a:r>
            <a:pPr indent="0" marL="0">
              <a:lnSpc>
                <a:spcPct val="110000"/>
              </a:lnSpc>
              <a:buNone/>
            </a:pPr>
            <a:r>
              <a:rPr lang="en-US" sz="1300" dirty="0">
                <a:solidFill>
                  <a:srgbClr val="E8B54A"/>
                </a:solidFill>
                <a:latin typeface="Courier New" pitchFamily="34" charset="0"/>
                <a:ea typeface="Courier New" pitchFamily="34" charset="-122"/>
                <a:cs typeface="Courier New" pitchFamily="34" charset="-120"/>
              </a:rPr>
              <a:t>e4ce452c697f8c90...
</a:t>
            </a:r>
            <a:endParaRPr lang="en-US" sz="1300" dirty="0"/>
          </a:p>
          <a:p>
            <a:pPr indent="0" marL="0">
              <a:lnSpc>
                <a:spcPct val="110000"/>
              </a:lnSpc>
              <a:buNone/>
            </a:pPr>
            <a:r>
              <a:rPr lang="en-US" sz="1300" dirty="0">
                <a:solidFill>
                  <a:srgbClr val="7C93AE"/>
                </a:solidFill>
                <a:latin typeface="Courier New" pitchFamily="34" charset="0"/>
                <a:ea typeface="Courier New" pitchFamily="34" charset="-122"/>
                <a:cs typeface="Courier New" pitchFamily="34" charset="-120"/>
              </a:rPr>
              <a:t>honest recompute </a:t>
            </a:r>
            <a:pPr indent="0" marL="0">
              <a:lnSpc>
                <a:spcPct val="110000"/>
              </a:lnSpc>
              <a:buNone/>
            </a:pPr>
            <a:r>
              <a:rPr lang="en-US" sz="1300" dirty="0">
                <a:solidFill>
                  <a:srgbClr val="6FD3A6"/>
                </a:solidFill>
                <a:latin typeface="Courier New" pitchFamily="34" charset="0"/>
                <a:ea typeface="Courier New" pitchFamily="34" charset="-122"/>
                <a:cs typeface="Courier New" pitchFamily="34" charset="-120"/>
              </a:rPr>
              <a:t>e4ce452c697f8c90...   MATCHES
</a:t>
            </a:r>
            <a:endParaRPr lang="en-US" sz="1300" dirty="0"/>
          </a:p>
          <a:p>
            <a:pPr indent="0" marL="0">
              <a:lnSpc>
                <a:spcPct val="110000"/>
              </a:lnSpc>
              <a:buNone/>
            </a:pPr>
            <a:r>
              <a:rPr lang="en-US" sz="1300" dirty="0">
                <a:solidFill>
                  <a:srgbClr val="7C93AE"/>
                </a:solidFill>
                <a:latin typeface="Courier New" pitchFamily="34" charset="0"/>
                <a:ea typeface="Courier New" pitchFamily="34" charset="-122"/>
                <a:cs typeface="Courier New" pitchFamily="34" charset="-120"/>
              </a:rPr>
              <a:t>after moving one decision's spot by one cent
</a:t>
            </a:r>
            <a:endParaRPr lang="en-US" sz="1300" dirty="0"/>
          </a:p>
          <a:p>
            <a:pPr indent="0" marL="0">
              <a:lnSpc>
                <a:spcPct val="110000"/>
              </a:lnSpc>
              <a:buNone/>
            </a:pPr>
            <a:r>
              <a:rPr lang="en-US" sz="1300" dirty="0">
                <a:solidFill>
                  <a:srgbClr val="E08A93"/>
                </a:solidFill>
                <a:latin typeface="Courier New" pitchFamily="34" charset="0"/>
                <a:ea typeface="Courier New" pitchFamily="34" charset="-122"/>
                <a:cs typeface="Courier New" pitchFamily="34" charset="-120"/>
              </a:rPr>
              <a:t>                 253b8da69a86901f...   DETECTED</a:t>
            </a:r>
            <a:endParaRPr lang="en-US" sz="1300" dirty="0"/>
          </a:p>
        </p:txBody>
      </p:sp>
      <p:sp>
        <p:nvSpPr>
          <p:cNvPr id="6" name="Text 4"/>
          <p:cNvSpPr txBox="1"/>
          <p:nvPr/>
        </p:nvSpPr>
        <p:spPr>
          <a:xfrm>
            <a:off x="960120" y="3840480"/>
            <a:ext cx="10241280" cy="411480"/>
          </a:xfrm>
          <a:prstGeom prst="rect">
            <a:avLst/>
          </a:prstGeom>
          <a:noFill/>
          <a:ln/>
        </p:spPr>
        <p:txBody>
          <a:bodyPr wrap="square" lIns="0" tIns="0" rIns="0" bIns="0" rtlCol="0" anchor="ctr"/>
          <a:lstStyle/>
          <a:p>
            <a:pPr indent="0" marL="0">
              <a:buNone/>
            </a:pPr>
            <a:r>
              <a:rPr lang="en-US" sz="1200" dirty="0">
                <a:solidFill>
                  <a:srgbClr val="C9DAF0"/>
                </a:solidFill>
                <a:latin typeface="Calibri" pitchFamily="34" charset="0"/>
                <a:ea typeface="Calibri" pitchFamily="34" charset="-122"/>
                <a:cs typeface="Calibri" pitchFamily="34" charset="-120"/>
              </a:rPr>
              <a:t>SHA-256 Merkle tree with domain-separated leaves and nodes, so a forger who recomputes the leaf hashes consistently still fails. The root is sealed before outcomes are known.</a:t>
            </a:r>
            <a:endParaRPr lang="en-US" sz="1200" dirty="0"/>
          </a:p>
        </p:txBody>
      </p:sp>
      <p:sp>
        <p:nvSpPr>
          <p:cNvPr id="7" name="Shape 5"/>
          <p:cNvSpPr/>
          <p:nvPr/>
        </p:nvSpPr>
        <p:spPr>
          <a:xfrm>
            <a:off x="640080" y="4553712"/>
            <a:ext cx="5312664" cy="1188720"/>
          </a:xfrm>
          <a:prstGeom prst="roundRect">
            <a:avLst>
              <a:gd name="adj" fmla="val 6154"/>
            </a:avLst>
          </a:prstGeom>
          <a:solidFill>
            <a:srgbClr val="16283D"/>
          </a:solidFill>
          <a:ln w="12700">
            <a:solidFill>
              <a:srgbClr val="1E3550"/>
            </a:solidFill>
            <a:prstDash val="solid"/>
          </a:ln>
        </p:spPr>
      </p:sp>
      <p:sp>
        <p:nvSpPr>
          <p:cNvPr id="8" name="Text 6"/>
          <p:cNvSpPr txBox="1"/>
          <p:nvPr/>
        </p:nvSpPr>
        <p:spPr>
          <a:xfrm>
            <a:off x="859536" y="4718304"/>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One command, no credentials</a:t>
            </a:r>
            <a:endParaRPr lang="en-US" sz="1400" dirty="0"/>
          </a:p>
        </p:txBody>
      </p:sp>
      <p:sp>
        <p:nvSpPr>
          <p:cNvPr id="9" name="Text 7"/>
          <p:cNvSpPr txBox="1"/>
          <p:nvPr/>
        </p:nvSpPr>
        <p:spPr>
          <a:xfrm>
            <a:off x="859536" y="5065776"/>
            <a:ext cx="4873752" cy="4937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make judge runs the tests, recomputes the root, prints the decision summary, and regenerates the results page from the log it just verified.</a:t>
            </a:r>
            <a:endParaRPr lang="en-US" sz="1200" dirty="0"/>
          </a:p>
        </p:txBody>
      </p:sp>
      <p:sp>
        <p:nvSpPr>
          <p:cNvPr id="10" name="Shape 8"/>
          <p:cNvSpPr/>
          <p:nvPr/>
        </p:nvSpPr>
        <p:spPr>
          <a:xfrm>
            <a:off x="6208776" y="4553712"/>
            <a:ext cx="5312664" cy="1188720"/>
          </a:xfrm>
          <a:prstGeom prst="roundRect">
            <a:avLst>
              <a:gd name="adj" fmla="val 6154"/>
            </a:avLst>
          </a:prstGeom>
          <a:solidFill>
            <a:srgbClr val="16283D"/>
          </a:solidFill>
          <a:ln w="12700">
            <a:solidFill>
              <a:srgbClr val="1E3550"/>
            </a:solidFill>
            <a:prstDash val="solid"/>
          </a:ln>
        </p:spPr>
      </p:sp>
      <p:sp>
        <p:nvSpPr>
          <p:cNvPr id="11" name="Text 9"/>
          <p:cNvSpPr txBox="1"/>
          <p:nvPr/>
        </p:nvSpPr>
        <p:spPr>
          <a:xfrm>
            <a:off x="6428232" y="4718304"/>
            <a:ext cx="487375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Or press the button</a:t>
            </a:r>
            <a:endParaRPr lang="en-US" sz="1400" dirty="0"/>
          </a:p>
        </p:txBody>
      </p:sp>
      <p:sp>
        <p:nvSpPr>
          <p:cNvPr id="12" name="Text 10"/>
          <p:cNvSpPr txBox="1"/>
          <p:nvPr/>
        </p:nvSpPr>
        <p:spPr>
          <a:xfrm>
            <a:off x="6428232" y="5065776"/>
            <a:ext cx="4873752" cy="49377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The dashboard edits one sealed decision in memory and recomputes the root in front of you. Nothing on disk is touched, and the root breaks.</a:t>
            </a:r>
            <a:endParaRPr lang="en-US" sz="1200" dirty="0"/>
          </a:p>
        </p:txBody>
      </p:sp>
      <p:sp>
        <p:nvSpPr>
          <p:cNvPr id="13" name="Text 11"/>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14" name="Text 12"/>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Live week, as it happened</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Read from the sealed log when this deck was built: 2026-09-04 07:44 UTC. Rebuild the deck, the numbers move.</a:t>
            </a:r>
            <a:endParaRPr lang="en-US" sz="1500" dirty="0"/>
          </a:p>
        </p:txBody>
      </p:sp>
      <p:sp>
        <p:nvSpPr>
          <p:cNvPr id="4" name="Shape 2"/>
          <p:cNvSpPr/>
          <p:nvPr/>
        </p:nvSpPr>
        <p:spPr>
          <a:xfrm>
            <a:off x="640080" y="2103120"/>
            <a:ext cx="2555748" cy="1280160"/>
          </a:xfrm>
          <a:prstGeom prst="roundRect">
            <a:avLst>
              <a:gd name="adj" fmla="val 5714"/>
            </a:avLst>
          </a:prstGeom>
          <a:solidFill>
            <a:srgbClr val="16283D"/>
          </a:solidFill>
          <a:ln w="12700">
            <a:solidFill>
              <a:srgbClr val="1E3550"/>
            </a:solidFill>
            <a:prstDash val="solid"/>
          </a:ln>
        </p:spPr>
      </p:sp>
      <p:sp>
        <p:nvSpPr>
          <p:cNvPr id="5" name="Text 3"/>
          <p:cNvSpPr txBox="1"/>
          <p:nvPr/>
        </p:nvSpPr>
        <p:spPr>
          <a:xfrm>
            <a:off x="841248" y="2267712"/>
            <a:ext cx="2153412" cy="665683"/>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$99,435</a:t>
            </a:r>
            <a:endParaRPr lang="en-US" sz="3400" dirty="0"/>
          </a:p>
        </p:txBody>
      </p:sp>
      <p:sp>
        <p:nvSpPr>
          <p:cNvPr id="6" name="Text 4"/>
          <p:cNvSpPr txBox="1"/>
          <p:nvPr/>
        </p:nvSpPr>
        <p:spPr>
          <a:xfrm>
            <a:off x="841248" y="2896819"/>
            <a:ext cx="2153412" cy="43525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equity, from $100,000</a:t>
            </a:r>
            <a:endParaRPr lang="en-US" sz="1100" dirty="0"/>
          </a:p>
        </p:txBody>
      </p:sp>
      <p:sp>
        <p:nvSpPr>
          <p:cNvPr id="7" name="Shape 5"/>
          <p:cNvSpPr/>
          <p:nvPr/>
        </p:nvSpPr>
        <p:spPr>
          <a:xfrm>
            <a:off x="3415284" y="2103120"/>
            <a:ext cx="2555748" cy="1280160"/>
          </a:xfrm>
          <a:prstGeom prst="roundRect">
            <a:avLst>
              <a:gd name="adj" fmla="val 5714"/>
            </a:avLst>
          </a:prstGeom>
          <a:solidFill>
            <a:srgbClr val="16283D"/>
          </a:solidFill>
          <a:ln w="12700">
            <a:solidFill>
              <a:srgbClr val="1E3550"/>
            </a:solidFill>
            <a:prstDash val="solid"/>
          </a:ln>
        </p:spPr>
      </p:sp>
      <p:sp>
        <p:nvSpPr>
          <p:cNvPr id="8" name="Text 6"/>
          <p:cNvSpPr txBox="1"/>
          <p:nvPr/>
        </p:nvSpPr>
        <p:spPr>
          <a:xfrm>
            <a:off x="3616452" y="2267712"/>
            <a:ext cx="2153412" cy="665683"/>
          </a:xfrm>
          <a:prstGeom prst="rect">
            <a:avLst/>
          </a:prstGeom>
          <a:noFill/>
          <a:ln/>
        </p:spPr>
        <p:txBody>
          <a:bodyPr wrap="square" lIns="0" tIns="0" rIns="0" bIns="0" rtlCol="0" anchor="ctr"/>
          <a:lstStyle/>
          <a:p>
            <a:pPr algn="l" indent="0" marL="0">
              <a:buNone/>
            </a:pPr>
            <a:r>
              <a:rPr lang="en-US" sz="3400" b="1" dirty="0">
                <a:solidFill>
                  <a:srgbClr val="E08A93"/>
                </a:solidFill>
                <a:latin typeface="Cambria" pitchFamily="34" charset="0"/>
                <a:ea typeface="Cambria" pitchFamily="34" charset="-122"/>
                <a:cs typeface="Cambria" pitchFamily="34" charset="-120"/>
              </a:rPr>
              <a:t>-$565</a:t>
            </a:r>
            <a:endParaRPr lang="en-US" sz="3400" dirty="0"/>
          </a:p>
        </p:txBody>
      </p:sp>
      <p:sp>
        <p:nvSpPr>
          <p:cNvPr id="9" name="Text 7"/>
          <p:cNvSpPr txBox="1"/>
          <p:nvPr/>
        </p:nvSpPr>
        <p:spPr>
          <a:xfrm>
            <a:off x="3616452" y="2896819"/>
            <a:ext cx="2153412" cy="43525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profit and loss</a:t>
            </a:r>
            <a:endParaRPr lang="en-US" sz="1100" dirty="0"/>
          </a:p>
        </p:txBody>
      </p:sp>
      <p:sp>
        <p:nvSpPr>
          <p:cNvPr id="10" name="Shape 8"/>
          <p:cNvSpPr/>
          <p:nvPr/>
        </p:nvSpPr>
        <p:spPr>
          <a:xfrm>
            <a:off x="6190488" y="2103120"/>
            <a:ext cx="2555748" cy="1280160"/>
          </a:xfrm>
          <a:prstGeom prst="roundRect">
            <a:avLst>
              <a:gd name="adj" fmla="val 5714"/>
            </a:avLst>
          </a:prstGeom>
          <a:solidFill>
            <a:srgbClr val="16283D"/>
          </a:solidFill>
          <a:ln w="12700">
            <a:solidFill>
              <a:srgbClr val="1E3550"/>
            </a:solidFill>
            <a:prstDash val="solid"/>
          </a:ln>
        </p:spPr>
      </p:sp>
      <p:sp>
        <p:nvSpPr>
          <p:cNvPr id="11" name="Text 9"/>
          <p:cNvSpPr txBox="1"/>
          <p:nvPr/>
        </p:nvSpPr>
        <p:spPr>
          <a:xfrm>
            <a:off x="6391656" y="2267712"/>
            <a:ext cx="2153412" cy="665683"/>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4</a:t>
            </a:r>
            <a:endParaRPr lang="en-US" sz="3400" dirty="0"/>
          </a:p>
        </p:txBody>
      </p:sp>
      <p:sp>
        <p:nvSpPr>
          <p:cNvPr id="12" name="Text 10"/>
          <p:cNvSpPr txBox="1"/>
          <p:nvPr/>
        </p:nvSpPr>
        <p:spPr>
          <a:xfrm>
            <a:off x="6391656" y="2896819"/>
            <a:ext cx="2153412" cy="43525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condors open</a:t>
            </a:r>
            <a:endParaRPr lang="en-US" sz="1100" dirty="0"/>
          </a:p>
        </p:txBody>
      </p:sp>
      <p:sp>
        <p:nvSpPr>
          <p:cNvPr id="13" name="Shape 11"/>
          <p:cNvSpPr/>
          <p:nvPr/>
        </p:nvSpPr>
        <p:spPr>
          <a:xfrm>
            <a:off x="8965692" y="2103120"/>
            <a:ext cx="2555748" cy="1280160"/>
          </a:xfrm>
          <a:prstGeom prst="roundRect">
            <a:avLst>
              <a:gd name="adj" fmla="val 5714"/>
            </a:avLst>
          </a:prstGeom>
          <a:solidFill>
            <a:srgbClr val="16283D"/>
          </a:solidFill>
          <a:ln w="12700">
            <a:solidFill>
              <a:srgbClr val="1E3550"/>
            </a:solidFill>
            <a:prstDash val="solid"/>
          </a:ln>
        </p:spPr>
      </p:sp>
      <p:sp>
        <p:nvSpPr>
          <p:cNvPr id="14" name="Text 12"/>
          <p:cNvSpPr txBox="1"/>
          <p:nvPr/>
        </p:nvSpPr>
        <p:spPr>
          <a:xfrm>
            <a:off x="9166860" y="2267712"/>
            <a:ext cx="2153412" cy="665683"/>
          </a:xfrm>
          <a:prstGeom prst="rect">
            <a:avLst/>
          </a:prstGeom>
          <a:noFill/>
          <a:ln/>
        </p:spPr>
        <p:txBody>
          <a:bodyPr wrap="square" lIns="0" tIns="0" rIns="0" bIns="0" rtlCol="0" anchor="ctr"/>
          <a:lstStyle/>
          <a:p>
            <a:pPr algn="l" indent="0" marL="0">
              <a:buNone/>
            </a:pPr>
            <a:r>
              <a:rPr lang="en-US" sz="3400" b="1" dirty="0">
                <a:solidFill>
                  <a:srgbClr val="E8B54A"/>
                </a:solidFill>
                <a:latin typeface="Cambria" pitchFamily="34" charset="0"/>
                <a:ea typeface="Cambria" pitchFamily="34" charset="-122"/>
                <a:cs typeface="Cambria" pitchFamily="34" charset="-120"/>
              </a:rPr>
              <a:t>28</a:t>
            </a:r>
            <a:endParaRPr lang="en-US" sz="3400" dirty="0"/>
          </a:p>
        </p:txBody>
      </p:sp>
      <p:sp>
        <p:nvSpPr>
          <p:cNvPr id="15" name="Text 13"/>
          <p:cNvSpPr txBox="1"/>
          <p:nvPr/>
        </p:nvSpPr>
        <p:spPr>
          <a:xfrm>
            <a:off x="9166860" y="2896819"/>
            <a:ext cx="2153412" cy="435254"/>
          </a:xfrm>
          <a:prstGeom prst="rect">
            <a:avLst/>
          </a:prstGeom>
          <a:noFill/>
          <a:ln/>
        </p:spPr>
        <p:txBody>
          <a:bodyPr wrap="square" lIns="0" tIns="0" rIns="0" bIns="0" rtlCol="0" anchor="ctr"/>
          <a:lstStyle/>
          <a:p>
            <a:pPr algn="l" indent="0" marL="0">
              <a:buNone/>
            </a:pPr>
            <a:r>
              <a:rPr lang="en-US" sz="1100" dirty="0">
                <a:solidFill>
                  <a:srgbClr val="C9DAF0"/>
                </a:solidFill>
                <a:latin typeface="Calibri" pitchFamily="34" charset="0"/>
                <a:ea typeface="Calibri" pitchFamily="34" charset="-122"/>
                <a:cs typeface="Calibri" pitchFamily="34" charset="-120"/>
              </a:rPr>
              <a:t>contracts</a:t>
            </a:r>
            <a:endParaRPr lang="en-US" sz="1100" dirty="0"/>
          </a:p>
        </p:txBody>
      </p:sp>
      <p:sp>
        <p:nvSpPr>
          <p:cNvPr id="16" name="Shape 14"/>
          <p:cNvSpPr/>
          <p:nvPr/>
        </p:nvSpPr>
        <p:spPr>
          <a:xfrm>
            <a:off x="640080" y="3611880"/>
            <a:ext cx="3468624" cy="1572768"/>
          </a:xfrm>
          <a:prstGeom prst="roundRect">
            <a:avLst>
              <a:gd name="adj" fmla="val 4651"/>
            </a:avLst>
          </a:prstGeom>
          <a:solidFill>
            <a:srgbClr val="16283D"/>
          </a:solidFill>
          <a:ln w="12700">
            <a:solidFill>
              <a:srgbClr val="1E3550"/>
            </a:solidFill>
            <a:prstDash val="solid"/>
          </a:ln>
        </p:spPr>
      </p:sp>
      <p:sp>
        <p:nvSpPr>
          <p:cNvPr id="17" name="Text 15"/>
          <p:cNvSpPr txBox="1"/>
          <p:nvPr/>
        </p:nvSpPr>
        <p:spPr>
          <a:xfrm>
            <a:off x="859536" y="3776472"/>
            <a:ext cx="302971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Bounded by construction</a:t>
            </a:r>
            <a:endParaRPr lang="en-US" sz="1400" dirty="0"/>
          </a:p>
        </p:txBody>
      </p:sp>
      <p:sp>
        <p:nvSpPr>
          <p:cNvPr id="18" name="Text 16"/>
          <p:cNvSpPr txBox="1"/>
          <p:nvPr/>
        </p:nvSpPr>
        <p:spPr>
          <a:xfrm>
            <a:off x="859536" y="4123944"/>
            <a:ext cx="3029712" cy="877824"/>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$3,108 of credit collected against a worst case of $10,840, which is 10.8% of the account. Defined risk means the loss is known before the order is sent.</a:t>
            </a:r>
            <a:endParaRPr lang="en-US" sz="1200" dirty="0"/>
          </a:p>
        </p:txBody>
      </p:sp>
      <p:sp>
        <p:nvSpPr>
          <p:cNvPr id="19" name="Shape 17"/>
          <p:cNvSpPr/>
          <p:nvPr/>
        </p:nvSpPr>
        <p:spPr>
          <a:xfrm>
            <a:off x="4346448" y="3611880"/>
            <a:ext cx="3468624" cy="1572768"/>
          </a:xfrm>
          <a:prstGeom prst="roundRect">
            <a:avLst>
              <a:gd name="adj" fmla="val 4651"/>
            </a:avLst>
          </a:prstGeom>
          <a:solidFill>
            <a:srgbClr val="16283D"/>
          </a:solidFill>
          <a:ln w="12700">
            <a:solidFill>
              <a:srgbClr val="1E3550"/>
            </a:solidFill>
            <a:prstDash val="solid"/>
          </a:ln>
        </p:spPr>
      </p:sp>
      <p:sp>
        <p:nvSpPr>
          <p:cNvPr id="20" name="Text 18"/>
          <p:cNvSpPr txBox="1"/>
          <p:nvPr/>
        </p:nvSpPr>
        <p:spPr>
          <a:xfrm>
            <a:off x="4565904" y="3776472"/>
            <a:ext cx="302971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Unattended and supervised</a:t>
            </a:r>
            <a:endParaRPr lang="en-US" sz="1400" dirty="0"/>
          </a:p>
        </p:txBody>
      </p:sp>
      <p:sp>
        <p:nvSpPr>
          <p:cNvPr id="21" name="Text 19"/>
          <p:cNvSpPr txBox="1"/>
          <p:nvPr/>
        </p:nvSpPr>
        <p:spPr>
          <a:xfrm>
            <a:off x="4565904" y="4123944"/>
            <a:ext cx="3029712" cy="877824"/>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Every cycle runs in its own process with an OS-enforced timeout, because an in-process timer cannot rescue a thread stuck in a syscall. The watchdog restarts what it kills.</a:t>
            </a:r>
            <a:endParaRPr lang="en-US" sz="1200" dirty="0"/>
          </a:p>
        </p:txBody>
      </p:sp>
      <p:sp>
        <p:nvSpPr>
          <p:cNvPr id="22" name="Shape 20"/>
          <p:cNvSpPr/>
          <p:nvPr/>
        </p:nvSpPr>
        <p:spPr>
          <a:xfrm>
            <a:off x="8052816" y="3611880"/>
            <a:ext cx="3468624" cy="1572768"/>
          </a:xfrm>
          <a:prstGeom prst="roundRect">
            <a:avLst>
              <a:gd name="adj" fmla="val 4651"/>
            </a:avLst>
          </a:prstGeom>
          <a:solidFill>
            <a:srgbClr val="16283D"/>
          </a:solidFill>
          <a:ln w="12700">
            <a:solidFill>
              <a:srgbClr val="1E3550"/>
            </a:solidFill>
            <a:prstDash val="solid"/>
          </a:ln>
        </p:spPr>
      </p:sp>
      <p:sp>
        <p:nvSpPr>
          <p:cNvPr id="23" name="Text 21"/>
          <p:cNvSpPr txBox="1"/>
          <p:nvPr/>
        </p:nvSpPr>
        <p:spPr>
          <a:xfrm>
            <a:off x="8272272" y="3776472"/>
            <a:ext cx="3029712"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One week is mostly noise</a:t>
            </a:r>
            <a:endParaRPr lang="en-US" sz="1400" dirty="0"/>
          </a:p>
        </p:txBody>
      </p:sp>
      <p:sp>
        <p:nvSpPr>
          <p:cNvPr id="24" name="Text 22"/>
          <p:cNvSpPr txBox="1"/>
          <p:nvPr/>
        </p:nvSpPr>
        <p:spPr>
          <a:xfrm>
            <a:off x="8272272" y="4123944"/>
            <a:ext cx="3029712" cy="877824"/>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The backtest does not predict this week. It establishes positive expectancy, so these days are a draw from a favourable distribution, not a coin flip. We report the draw.</a:t>
            </a:r>
            <a:endParaRPr lang="en-US" sz="1200" dirty="0"/>
          </a:p>
        </p:txBody>
      </p:sp>
      <p:sp>
        <p:nvSpPr>
          <p:cNvPr id="25" name="Text 23"/>
          <p:cNvSpPr txBox="1"/>
          <p:nvPr/>
        </p:nvSpPr>
        <p:spPr>
          <a:xfrm>
            <a:off x="640080" y="5321808"/>
            <a:ext cx="10881360" cy="411480"/>
          </a:xfrm>
          <a:prstGeom prst="rect">
            <a:avLst/>
          </a:prstGeom>
          <a:noFill/>
          <a:ln/>
        </p:spPr>
        <p:txBody>
          <a:bodyPr wrap="square" lIns="0" tIns="0" rIns="0" bIns="0" rtlCol="0" anchor="ctr"/>
          <a:lstStyle/>
          <a:p>
            <a:pPr indent="0" marL="0">
              <a:buNone/>
            </a:pPr>
            <a:r>
              <a:rPr lang="en-US" sz="1200" dirty="0">
                <a:solidFill>
                  <a:srgbClr val="7C93AE"/>
                </a:solidFill>
                <a:latin typeface="Calibri" pitchFamily="34" charset="0"/>
                <a:ea typeface="Calibri" pitchFamily="34" charset="-122"/>
                <a:cs typeface="Calibri" pitchFamily="34" charset="-120"/>
              </a:rPr>
              <a:t>The tail hedge is designed, coded and never engaged: no VIX expiry inside its 21 to 45 day window was quoted all week. That refusal is logged every cycle rather than hidden.</a:t>
            </a:r>
            <a:endParaRPr lang="en-US" sz="1200" dirty="0"/>
          </a:p>
        </p:txBody>
      </p:sp>
      <p:sp>
        <p:nvSpPr>
          <p:cNvPr id="26" name="Text 24"/>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27" name="Text 25"/>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Sixty seconds, and you can check all of it</a:t>
            </a:r>
            <a:endParaRPr lang="en-US" sz="3800" dirty="0"/>
          </a:p>
        </p:txBody>
      </p:sp>
      <p:sp>
        <p:nvSpPr>
          <p:cNvPr id="3" name="Text 1"/>
          <p:cNvSpPr txBox="1"/>
          <p:nvPr/>
        </p:nvSpPr>
        <p:spPr>
          <a:xfrm>
            <a:off x="640080" y="1298448"/>
            <a:ext cx="10881360" cy="457200"/>
          </a:xfrm>
          <a:prstGeom prst="rect">
            <a:avLst/>
          </a:prstGeom>
          <a:noFill/>
          <a:ln/>
        </p:spPr>
        <p:txBody>
          <a:bodyPr wrap="square" lIns="0" tIns="0" rIns="0" bIns="0" rtlCol="0" anchor="ctr"/>
          <a:lstStyle/>
          <a:p>
            <a:pPr indent="0" marL="0">
              <a:buNone/>
            </a:pPr>
            <a:r>
              <a:rPr lang="en-US" sz="1500" dirty="0">
                <a:solidFill>
                  <a:srgbClr val="C9DAF0"/>
                </a:solidFill>
                <a:latin typeface="Calibri" pitchFamily="34" charset="0"/>
                <a:ea typeface="Calibri" pitchFamily="34" charset="-122"/>
                <a:cs typeface="Calibri" pitchFamily="34" charset="-120"/>
              </a:rPr>
              <a:t>Nothing here needs our credentials, our machine, or our word.</a:t>
            </a:r>
            <a:endParaRPr lang="en-US" sz="1500" dirty="0"/>
          </a:p>
        </p:txBody>
      </p:sp>
      <p:sp>
        <p:nvSpPr>
          <p:cNvPr id="4" name="Shape 2"/>
          <p:cNvSpPr/>
          <p:nvPr/>
        </p:nvSpPr>
        <p:spPr>
          <a:xfrm>
            <a:off x="640080" y="2103120"/>
            <a:ext cx="10881360" cy="603504"/>
          </a:xfrm>
          <a:prstGeom prst="roundRect">
            <a:avLst>
              <a:gd name="adj" fmla="val 10606"/>
            </a:avLst>
          </a:prstGeom>
          <a:solidFill>
            <a:srgbClr val="16283D"/>
          </a:solidFill>
          <a:ln w="12700">
            <a:solidFill>
              <a:srgbClr val="1E3550"/>
            </a:solidFill>
            <a:prstDash val="solid"/>
          </a:ln>
        </p:spPr>
      </p:sp>
      <p:sp>
        <p:nvSpPr>
          <p:cNvPr id="5" name="Text 3"/>
          <p:cNvSpPr txBox="1"/>
          <p:nvPr/>
        </p:nvSpPr>
        <p:spPr>
          <a:xfrm>
            <a:off x="896112" y="2258568"/>
            <a:ext cx="2194560" cy="310896"/>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make test</a:t>
            </a:r>
            <a:endParaRPr lang="en-US" sz="1500" dirty="0"/>
          </a:p>
        </p:txBody>
      </p:sp>
      <p:sp>
        <p:nvSpPr>
          <p:cNvPr id="6" name="Text 4"/>
          <p:cNvSpPr txBox="1"/>
          <p:nvPr/>
        </p:nvSpPr>
        <p:spPr>
          <a:xfrm>
            <a:off x="3291840" y="2267712"/>
            <a:ext cx="7955280" cy="310896"/>
          </a:xfrm>
          <a:prstGeom prst="rect">
            <a:avLst/>
          </a:prstGeom>
          <a:noFill/>
          <a:ln/>
        </p:spPr>
        <p:txBody>
          <a:bodyPr wrap="square" lIns="0" tIns="0" rIns="0" bIns="0" rtlCol="0" anchor="ctr"/>
          <a:lstStyle/>
          <a:p>
            <a:pPr indent="0" marL="0">
              <a:buNone/>
            </a:pPr>
            <a:r>
              <a:rPr lang="en-US" sz="1300" dirty="0">
                <a:solidFill>
                  <a:srgbClr val="C9DAF0"/>
                </a:solidFill>
                <a:latin typeface="Calibri" pitchFamily="34" charset="0"/>
                <a:ea typeface="Calibri" pitchFamily="34" charset="-122"/>
                <a:cs typeface="Calibri" pitchFamily="34" charset="-120"/>
              </a:rPr>
              <a:t>233 tests over the gates, the ladder, the flatten and the deadline</a:t>
            </a:r>
            <a:endParaRPr lang="en-US" sz="1300" dirty="0"/>
          </a:p>
        </p:txBody>
      </p:sp>
      <p:sp>
        <p:nvSpPr>
          <p:cNvPr id="7" name="Shape 5"/>
          <p:cNvSpPr/>
          <p:nvPr/>
        </p:nvSpPr>
        <p:spPr>
          <a:xfrm>
            <a:off x="640080" y="2816352"/>
            <a:ext cx="10881360" cy="603504"/>
          </a:xfrm>
          <a:prstGeom prst="roundRect">
            <a:avLst>
              <a:gd name="adj" fmla="val 10606"/>
            </a:avLst>
          </a:prstGeom>
          <a:solidFill>
            <a:srgbClr val="16283D"/>
          </a:solidFill>
          <a:ln w="12700">
            <a:solidFill>
              <a:srgbClr val="1E3550"/>
            </a:solidFill>
            <a:prstDash val="solid"/>
          </a:ln>
        </p:spPr>
      </p:sp>
      <p:sp>
        <p:nvSpPr>
          <p:cNvPr id="8" name="Text 6"/>
          <p:cNvSpPr txBox="1"/>
          <p:nvPr/>
        </p:nvSpPr>
        <p:spPr>
          <a:xfrm>
            <a:off x="896112" y="2971800"/>
            <a:ext cx="2194560" cy="310896"/>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make verify</a:t>
            </a:r>
            <a:endParaRPr lang="en-US" sz="1500" dirty="0"/>
          </a:p>
        </p:txBody>
      </p:sp>
      <p:sp>
        <p:nvSpPr>
          <p:cNvPr id="9" name="Text 7"/>
          <p:cNvSpPr txBox="1"/>
          <p:nvPr/>
        </p:nvSpPr>
        <p:spPr>
          <a:xfrm>
            <a:off x="3291840" y="2980944"/>
            <a:ext cx="7955280" cy="310896"/>
          </a:xfrm>
          <a:prstGeom prst="rect">
            <a:avLst/>
          </a:prstGeom>
          <a:noFill/>
          <a:ln/>
        </p:spPr>
        <p:txBody>
          <a:bodyPr wrap="square" lIns="0" tIns="0" rIns="0" bIns="0" rtlCol="0" anchor="ctr"/>
          <a:lstStyle/>
          <a:p>
            <a:pPr indent="0" marL="0">
              <a:buNone/>
            </a:pPr>
            <a:r>
              <a:rPr lang="en-US" sz="1300" dirty="0">
                <a:solidFill>
                  <a:srgbClr val="C9DAF0"/>
                </a:solidFill>
                <a:latin typeface="Calibri" pitchFamily="34" charset="0"/>
                <a:ea typeface="Calibri" pitchFamily="34" charset="-122"/>
                <a:cs typeface="Calibri" pitchFamily="34" charset="-120"/>
              </a:rPr>
              <a:t>recompute the Merkle root over every logged decision</a:t>
            </a:r>
            <a:endParaRPr lang="en-US" sz="1300" dirty="0"/>
          </a:p>
        </p:txBody>
      </p:sp>
      <p:sp>
        <p:nvSpPr>
          <p:cNvPr id="10" name="Shape 8"/>
          <p:cNvSpPr/>
          <p:nvPr/>
        </p:nvSpPr>
        <p:spPr>
          <a:xfrm>
            <a:off x="640080" y="3529584"/>
            <a:ext cx="10881360" cy="603504"/>
          </a:xfrm>
          <a:prstGeom prst="roundRect">
            <a:avLst>
              <a:gd name="adj" fmla="val 10606"/>
            </a:avLst>
          </a:prstGeom>
          <a:solidFill>
            <a:srgbClr val="16283D"/>
          </a:solidFill>
          <a:ln w="12700">
            <a:solidFill>
              <a:srgbClr val="1E3550"/>
            </a:solidFill>
            <a:prstDash val="solid"/>
          </a:ln>
        </p:spPr>
      </p:sp>
      <p:sp>
        <p:nvSpPr>
          <p:cNvPr id="11" name="Text 9"/>
          <p:cNvSpPr txBox="1"/>
          <p:nvPr/>
        </p:nvSpPr>
        <p:spPr>
          <a:xfrm>
            <a:off x="896112" y="3685032"/>
            <a:ext cx="2194560" cy="310896"/>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make summary</a:t>
            </a:r>
            <a:endParaRPr lang="en-US" sz="1500" dirty="0"/>
          </a:p>
        </p:txBody>
      </p:sp>
      <p:sp>
        <p:nvSpPr>
          <p:cNvPr id="12" name="Text 10"/>
          <p:cNvSpPr txBox="1"/>
          <p:nvPr/>
        </p:nvSpPr>
        <p:spPr>
          <a:xfrm>
            <a:off x="3291840" y="3694176"/>
            <a:ext cx="7955280" cy="310896"/>
          </a:xfrm>
          <a:prstGeom prst="rect">
            <a:avLst/>
          </a:prstGeom>
          <a:noFill/>
          <a:ln/>
        </p:spPr>
        <p:txBody>
          <a:bodyPr wrap="square" lIns="0" tIns="0" rIns="0" bIns="0" rtlCol="0" anchor="ctr"/>
          <a:lstStyle/>
          <a:p>
            <a:pPr indent="0" marL="0">
              <a:buNone/>
            </a:pPr>
            <a:r>
              <a:rPr lang="en-US" sz="1300" dirty="0">
                <a:solidFill>
                  <a:srgbClr val="C9DAF0"/>
                </a:solidFill>
                <a:latin typeface="Calibri" pitchFamily="34" charset="0"/>
                <a:ea typeface="Calibri" pitchFamily="34" charset="-122"/>
                <a:cs typeface="Calibri" pitchFamily="34" charset="-120"/>
              </a:rPr>
              <a:t>opportunities, entries, and every refusal by blocking gate</a:t>
            </a:r>
            <a:endParaRPr lang="en-US" sz="1300" dirty="0"/>
          </a:p>
        </p:txBody>
      </p:sp>
      <p:sp>
        <p:nvSpPr>
          <p:cNvPr id="13" name="Shape 11"/>
          <p:cNvSpPr/>
          <p:nvPr/>
        </p:nvSpPr>
        <p:spPr>
          <a:xfrm>
            <a:off x="640080" y="4242816"/>
            <a:ext cx="10881360" cy="603504"/>
          </a:xfrm>
          <a:prstGeom prst="roundRect">
            <a:avLst>
              <a:gd name="adj" fmla="val 10606"/>
            </a:avLst>
          </a:prstGeom>
          <a:solidFill>
            <a:srgbClr val="1E3550"/>
          </a:solidFill>
          <a:ln w="19050">
            <a:solidFill>
              <a:srgbClr val="E8B54A"/>
            </a:solidFill>
            <a:prstDash val="solid"/>
          </a:ln>
        </p:spPr>
      </p:sp>
      <p:sp>
        <p:nvSpPr>
          <p:cNvPr id="14" name="Text 12"/>
          <p:cNvSpPr txBox="1"/>
          <p:nvPr/>
        </p:nvSpPr>
        <p:spPr>
          <a:xfrm>
            <a:off x="896112" y="4398264"/>
            <a:ext cx="2194560" cy="310896"/>
          </a:xfrm>
          <a:prstGeom prst="rect">
            <a:avLst/>
          </a:prstGeom>
          <a:noFill/>
          <a:ln/>
        </p:spPr>
        <p:txBody>
          <a:bodyPr wrap="square" lIns="0" tIns="0" rIns="0" bIns="0" rtlCol="0" anchor="ctr"/>
          <a:lstStyle/>
          <a:p>
            <a:pPr indent="0" marL="0">
              <a:buNone/>
            </a:pPr>
            <a:r>
              <a:rPr lang="en-US" sz="1500" b="1" dirty="0">
                <a:solidFill>
                  <a:srgbClr val="E8B54A"/>
                </a:solidFill>
                <a:latin typeface="Courier New" pitchFamily="34" charset="0"/>
                <a:ea typeface="Courier New" pitchFamily="34" charset="-122"/>
                <a:cs typeface="Courier New" pitchFamily="34" charset="-120"/>
              </a:rPr>
              <a:t>make judge</a:t>
            </a:r>
            <a:endParaRPr lang="en-US" sz="1500" dirty="0"/>
          </a:p>
        </p:txBody>
      </p:sp>
      <p:sp>
        <p:nvSpPr>
          <p:cNvPr id="15" name="Text 13"/>
          <p:cNvSpPr txBox="1"/>
          <p:nvPr/>
        </p:nvSpPr>
        <p:spPr>
          <a:xfrm>
            <a:off x="3291840" y="4407408"/>
            <a:ext cx="7955280" cy="310896"/>
          </a:xfrm>
          <a:prstGeom prst="rect">
            <a:avLst/>
          </a:prstGeom>
          <a:noFill/>
          <a:ln/>
        </p:spPr>
        <p:txBody>
          <a:bodyPr wrap="square" lIns="0" tIns="0" rIns="0" bIns="0" rtlCol="0" anchor="ctr"/>
          <a:lstStyle/>
          <a:p>
            <a:pPr indent="0" marL="0">
              <a:buNone/>
            </a:pPr>
            <a:r>
              <a:rPr lang="en-US" sz="1300" dirty="0">
                <a:solidFill>
                  <a:srgbClr val="C9DAF0"/>
                </a:solidFill>
                <a:latin typeface="Calibri" pitchFamily="34" charset="0"/>
                <a:ea typeface="Calibri" pitchFamily="34" charset="-122"/>
                <a:cs typeface="Calibri" pitchFamily="34" charset="-120"/>
              </a:rPr>
              <a:t>all of the above, then rebuild the results page from the log</a:t>
            </a:r>
            <a:endParaRPr lang="en-US" sz="1300" dirty="0"/>
          </a:p>
        </p:txBody>
      </p:sp>
      <p:sp>
        <p:nvSpPr>
          <p:cNvPr id="16" name="Text 14"/>
          <p:cNvSpPr txBox="1"/>
          <p:nvPr/>
        </p:nvSpPr>
        <p:spPr>
          <a:xfrm>
            <a:off x="640080" y="5074920"/>
            <a:ext cx="10881360" cy="548640"/>
          </a:xfrm>
          <a:prstGeom prst="rect">
            <a:avLst/>
          </a:prstGeom>
          <a:noFill/>
          <a:ln/>
        </p:spPr>
        <p:txBody>
          <a:bodyPr wrap="square" lIns="0" tIns="0" rIns="0" bIns="0" rtlCol="0" anchor="ctr"/>
          <a:lstStyle/>
          <a:p>
            <a:pPr indent="0" marL="0">
              <a:lnSpc>
                <a:spcPct val="115000"/>
              </a:lnSpc>
              <a:buNone/>
            </a:pPr>
            <a:r>
              <a:rPr lang="en-US" sz="1200" dirty="0">
                <a:solidFill>
                  <a:srgbClr val="7C93AE"/>
                </a:solidFill>
                <a:latin typeface="Calibri" pitchFamily="34" charset="0"/>
                <a:ea typeface="Calibri" pitchFamily="34" charset="-122"/>
                <a:cs typeface="Calibri" pitchFamily="34" charset="-120"/>
              </a:rPr>
              <a:t>The dashboard renders entirely from committed artifacts, so it works with the market closed, the API down and the MCP server stopped. A demo that needs a live API is a demo that dies during the demo.</a:t>
            </a:r>
            <a:endParaRPr lang="en-US" sz="1200" dirty="0"/>
          </a:p>
        </p:txBody>
      </p:sp>
      <p:sp>
        <p:nvSpPr>
          <p:cNvPr id="17" name="Text 15"/>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18" name="Text 16"/>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622"/>
        </a:solidFill>
      </p:bgPr>
    </p:bg>
    <p:spTree>
      <p:nvGrpSpPr>
        <p:cNvPr id="1" name=""/>
        <p:cNvGrpSpPr/>
        <p:nvPr/>
      </p:nvGrpSpPr>
      <p:grpSpPr>
        <a:xfrm>
          <a:off x="0" y="0"/>
          <a:ext cx="0" cy="0"/>
          <a:chOff x="0" y="0"/>
          <a:chExt cx="0" cy="0"/>
        </a:xfrm>
      </p:grpSpPr>
      <p:sp>
        <p:nvSpPr>
          <p:cNvPr id="2" name="Text 0"/>
          <p:cNvSpPr txBox="1"/>
          <p:nvPr/>
        </p:nvSpPr>
        <p:spPr>
          <a:xfrm>
            <a:off x="640080" y="2286000"/>
            <a:ext cx="108813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You do not have to trust me</a:t>
            </a:r>
            <a:endParaRPr lang="en-US" sz="4400" dirty="0"/>
          </a:p>
        </p:txBody>
      </p:sp>
      <p:sp>
        <p:nvSpPr>
          <p:cNvPr id="3" name="Text 1"/>
          <p:cNvSpPr txBox="1"/>
          <p:nvPr/>
        </p:nvSpPr>
        <p:spPr>
          <a:xfrm>
            <a:off x="640080" y="3127248"/>
            <a:ext cx="10881360" cy="457200"/>
          </a:xfrm>
          <a:prstGeom prst="rect">
            <a:avLst/>
          </a:prstGeom>
          <a:noFill/>
          <a:ln/>
        </p:spPr>
        <p:txBody>
          <a:bodyPr wrap="square" lIns="0" tIns="0" rIns="0" bIns="0" rtlCol="0" anchor="ctr"/>
          <a:lstStyle/>
          <a:p>
            <a:pPr indent="0" marL="0">
              <a:buNone/>
            </a:pPr>
            <a:r>
              <a:rPr lang="en-US" sz="1800" dirty="0">
                <a:solidFill>
                  <a:srgbClr val="E8B54A"/>
                </a:solidFill>
                <a:latin typeface="Calibri" pitchFamily="34" charset="0"/>
                <a:ea typeface="Calibri" pitchFamily="34" charset="-122"/>
                <a:cs typeface="Calibri" pitchFamily="34" charset="-120"/>
              </a:rPr>
              <a:t>That is the entire design. Clone it and check.</a:t>
            </a:r>
            <a:endParaRPr lang="en-US" sz="1800" dirty="0"/>
          </a:p>
        </p:txBody>
      </p:sp>
      <p:sp>
        <p:nvSpPr>
          <p:cNvPr id="4" name="Shape 2"/>
          <p:cNvSpPr/>
          <p:nvPr/>
        </p:nvSpPr>
        <p:spPr>
          <a:xfrm>
            <a:off x="640080" y="3931920"/>
            <a:ext cx="5303520" cy="1371600"/>
          </a:xfrm>
          <a:prstGeom prst="roundRect">
            <a:avLst>
              <a:gd name="adj" fmla="val 5333"/>
            </a:avLst>
          </a:prstGeom>
          <a:solidFill>
            <a:srgbClr val="16283D"/>
          </a:solidFill>
          <a:ln w="12700">
            <a:solidFill>
              <a:srgbClr val="1E3550"/>
            </a:solidFill>
            <a:prstDash val="solid"/>
          </a:ln>
        </p:spPr>
      </p:sp>
      <p:sp>
        <p:nvSpPr>
          <p:cNvPr id="5" name="Text 3"/>
          <p:cNvSpPr txBox="1"/>
          <p:nvPr/>
        </p:nvSpPr>
        <p:spPr>
          <a:xfrm>
            <a:off x="859536" y="4096512"/>
            <a:ext cx="4864608"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Repository</a:t>
            </a:r>
            <a:endParaRPr lang="en-US" sz="1400" dirty="0"/>
          </a:p>
        </p:txBody>
      </p:sp>
      <p:sp>
        <p:nvSpPr>
          <p:cNvPr id="6" name="Text 4"/>
          <p:cNvSpPr txBox="1"/>
          <p:nvPr/>
        </p:nvSpPr>
        <p:spPr>
          <a:xfrm>
            <a:off x="859536" y="4443984"/>
            <a:ext cx="4864608" cy="67665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github.com/nilaymastaadmi/alpaca-hackathon</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MIT licensed. Pre-registration, every result including the failures, and the full decision log.</a:t>
            </a:r>
            <a:endParaRPr lang="en-US" sz="1200" dirty="0"/>
          </a:p>
        </p:txBody>
      </p:sp>
      <p:sp>
        <p:nvSpPr>
          <p:cNvPr id="7" name="Shape 5"/>
          <p:cNvSpPr/>
          <p:nvPr/>
        </p:nvSpPr>
        <p:spPr>
          <a:xfrm>
            <a:off x="6217920" y="3931920"/>
            <a:ext cx="5303520" cy="1371600"/>
          </a:xfrm>
          <a:prstGeom prst="roundRect">
            <a:avLst>
              <a:gd name="adj" fmla="val 5333"/>
            </a:avLst>
          </a:prstGeom>
          <a:solidFill>
            <a:srgbClr val="16283D"/>
          </a:solidFill>
          <a:ln w="12700">
            <a:solidFill>
              <a:srgbClr val="1E3550"/>
            </a:solidFill>
            <a:prstDash val="solid"/>
          </a:ln>
        </p:spPr>
      </p:sp>
      <p:sp>
        <p:nvSpPr>
          <p:cNvPr id="8" name="Text 6"/>
          <p:cNvSpPr txBox="1"/>
          <p:nvPr/>
        </p:nvSpPr>
        <p:spPr>
          <a:xfrm>
            <a:off x="6437376" y="4096512"/>
            <a:ext cx="4864608" cy="310896"/>
          </a:xfrm>
          <a:prstGeom prst="rect">
            <a:avLst/>
          </a:prstGeom>
          <a:noFill/>
          <a:ln/>
        </p:spPr>
        <p:txBody>
          <a:bodyPr wrap="square" lIns="0" tIns="0" rIns="0" bIns="0" rtlCol="0" anchor="ctr"/>
          <a:lstStyle/>
          <a:p>
            <a:pPr indent="0" marL="0">
              <a:buNone/>
            </a:pPr>
            <a:r>
              <a:rPr lang="en-US" sz="1400" b="1" dirty="0">
                <a:solidFill>
                  <a:srgbClr val="E8B54A"/>
                </a:solidFill>
                <a:latin typeface="Calibri" pitchFamily="34" charset="0"/>
                <a:ea typeface="Calibri" pitchFamily="34" charset="-122"/>
                <a:cs typeface="Calibri" pitchFamily="34" charset="-120"/>
              </a:rPr>
              <a:t>Live dashboard</a:t>
            </a:r>
            <a:endParaRPr lang="en-US" sz="1400" dirty="0"/>
          </a:p>
        </p:txBody>
      </p:sp>
      <p:sp>
        <p:nvSpPr>
          <p:cNvPr id="9" name="Text 7"/>
          <p:cNvSpPr txBox="1"/>
          <p:nvPr/>
        </p:nvSpPr>
        <p:spPr>
          <a:xfrm>
            <a:off x="6437376" y="4443984"/>
            <a:ext cx="4864608" cy="676656"/>
          </a:xfrm>
          <a:prstGeom prst="rect">
            <a:avLst/>
          </a:prstGeom>
          <a:noFill/>
          <a:ln/>
        </p:spPr>
        <p:txBody>
          <a:bodyPr wrap="square" lIns="0" tIns="0" rIns="0" bIns="0" rtlCol="0" anchor="ctr"/>
          <a:lstStyle/>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alpaca-hackathon-wcjwdbkqifybupyd6ckzps.streamlit.app</a:t>
            </a:r>
            <a:endParaRPr lang="en-US" sz="1200" dirty="0"/>
          </a:p>
          <a:p>
            <a:pPr indent="0" marL="0">
              <a:lnSpc>
                <a:spcPct val="115000"/>
              </a:lnSpc>
              <a:buNone/>
            </a:pPr>
            <a:endParaRPr lang="en-US" sz="1200" dirty="0"/>
          </a:p>
          <a:p>
            <a:pPr indent="0" marL="0">
              <a:lnSpc>
                <a:spcPct val="115000"/>
              </a:lnSpc>
              <a:buNone/>
            </a:pPr>
            <a:r>
              <a:rPr lang="en-US" sz="1200" dirty="0">
                <a:solidFill>
                  <a:srgbClr val="C9DAF0"/>
                </a:solidFill>
                <a:latin typeface="Calibri" pitchFamily="34" charset="0"/>
                <a:ea typeface="Calibri" pitchFamily="34" charset="-122"/>
                <a:cs typeface="Calibri" pitchFamily="34" charset="-120"/>
              </a:rPr>
              <a:t>The agent's decisions, the shadow race, the MCP traffic, and the tamper button.</a:t>
            </a:r>
            <a:endParaRPr lang="en-US" sz="1200" dirty="0"/>
          </a:p>
        </p:txBody>
      </p:sp>
      <p:sp>
        <p:nvSpPr>
          <p:cNvPr id="10" name="Text 8"/>
          <p:cNvSpPr txBox="1"/>
          <p:nvPr/>
        </p:nvSpPr>
        <p:spPr>
          <a:xfrm>
            <a:off x="640080" y="6382512"/>
            <a:ext cx="4572000" cy="256032"/>
          </a:xfrm>
          <a:prstGeom prst="rect">
            <a:avLst/>
          </a:prstGeom>
          <a:noFill/>
          <a:ln/>
        </p:spPr>
        <p:txBody>
          <a:bodyPr wrap="square" lIns="0" tIns="0" rIns="0" bIns="0" rtlCol="0" anchor="ctr"/>
          <a:lstStyle/>
          <a:p>
            <a:pPr algn="l" indent="0" marL="0">
              <a:buNone/>
            </a:pPr>
            <a:r>
              <a:rPr lang="en-US" sz="900" dirty="0">
                <a:solidFill>
                  <a:srgbClr val="7C93AE"/>
                </a:solidFill>
                <a:latin typeface="Courier New" pitchFamily="34" charset="0"/>
                <a:ea typeface="Courier New" pitchFamily="34" charset="-122"/>
                <a:cs typeface="Courier New" pitchFamily="34" charset="-120"/>
              </a:rPr>
              <a:t>root e4ce452c697f8c90...</a:t>
            </a:r>
            <a:endParaRPr lang="en-US" sz="900" dirty="0"/>
          </a:p>
        </p:txBody>
      </p:sp>
      <p:sp>
        <p:nvSpPr>
          <p:cNvPr id="11" name="Text 9"/>
          <p:cNvSpPr txBox="1"/>
          <p:nvPr/>
        </p:nvSpPr>
        <p:spPr>
          <a:xfrm>
            <a:off x="10972800" y="6382512"/>
            <a:ext cx="548640" cy="256032"/>
          </a:xfrm>
          <a:prstGeom prst="rect">
            <a:avLst/>
          </a:prstGeom>
          <a:noFill/>
          <a:ln/>
        </p:spPr>
        <p:txBody>
          <a:bodyPr wrap="square" lIns="0" tIns="0" rIns="0" bIns="0" rtlCol="0" anchor="ctr"/>
          <a:lstStyle/>
          <a:p>
            <a:pPr algn="r" indent="0" marL="0">
              <a:buNone/>
            </a:pPr>
            <a:r>
              <a:rPr lang="en-US" sz="1000" dirty="0">
                <a:solidFill>
                  <a:srgbClr val="7C93A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Glass Box</dc:title>
  <dc:subject>PptxGenJS Presentation</dc:subject>
  <dc:creator>Nilay Toshniwal</dc:creator>
  <cp:lastModifiedBy>Nilay Toshniwal</cp:lastModifiedBy>
  <cp:revision>1</cp:revision>
  <dcterms:created xsi:type="dcterms:W3CDTF">2026-09-04T07:44:59Z</dcterms:created>
  <dcterms:modified xsi:type="dcterms:W3CDTF">2026-09-04T07:44:59Z</dcterms:modified>
</cp:coreProperties>
</file>